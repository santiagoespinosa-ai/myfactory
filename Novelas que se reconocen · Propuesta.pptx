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Presentación: Qaracter, cliente Marmota &amp; Tinta. Una frase: venimos a proponer un sistema que escribe novelas de regalo y, sobre todo, garantiza que estén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0:15–0:30. El producto: una novela de regalo, diez capítulos, para una ocasión concreta. Dos exigencias iguales: que el destinatario se reconozca y que funcione como novela.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0:30–1:15. El comprador: alguien que busca un regalo que no existe en una tienda. Un libro genérico cumple como novela pero no reconoce a nadie. Pedirle a una IA diez capítulos da lo contrario: nombres propios, pero contradicciones, repeticiones y personajes que no se parecen a nadie.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1:15–1:30. La frase que atraviesa todo el deck. No vendemos que una IA escriba: vendemos el harness que garantiza coherencia, personalización real y que no se diga lo que no se debe.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1:30–2:00. No hay formulario: un agente entrevistador conversa con el comprador. Recoge nombre, edad, rasgos, recuerdos, tono y, muy importante, lo que no debe aparecer. Detecta lo que falta y lo que se contradice, y el resultado es un brief validado.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2:00–2:30. El lector recibe una web: portada, índice, fichas de personajes y capítulos. Si algo no le encaja, selecciona el fragmento y pide el cambio. Lo que recibe de vuelta pasa por la misma validación que la primera 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2:30–3:00. El orquestador es código determinista, no un modelo: decide el orden y las puertas siempre igual. Siete agentes llevan modelo. Cuatro piezas no lo llevan a propósito —orquestador, ensamblador, consolidador y verificador de reglas— porque lo que resuelve una consulta SQL no necesita un modelo, y así es barato, rápido y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3:00–3:15. Cada capítulo recorre el mismo bucle. El Escritor escribe; las reglas, el Editor y el Juez validan; si no pasa, vuelve al Escritor. Si pasa, el Resumidor y el Consolidador actualizan la story bible, que es de donde sale el contexto del capítulo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3:15–3:40. La memoria de la novela vive en SQLite: hechos con sus usos por capítulo, cronología, fichas versionadas y deltas. El estado del mundo en cualquier capítulo es la suma de los deltas anteriores. No dependemos de que un modelo relea y recuerde el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3:40–4:00. El contexto se arma en siete bloques y, si no cabe, se recorta siempre en el mismo orden. Escritor y Editor solo tienen tres tools, todas de solo lectura: consultan la story bible, no la cambian. Dos hooks: uno valida cada capítulo y otro aplica la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4:00–4:30. Dos decisiones que marcan la calidad. Quien escribe no evalúa. Y el Editor y el Juez no comparten contexto con las reglas ni entre ellos: si el juez viera lo mismo que la regla, solo repetiría su veredicto.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4:30–4:50. Cuatro capas, cada una en su sitio. Reglas deterministas donde basta con código. Criterios semánticos donde hace falta juicio. Lean 4 para demostrar que la cronología de la historia es consistente. Y TLA+ para el propio harness: no la novela, sino que el sistema se comporte bien. Un ejemplo de cada una: 
• Programáticos: ¿el capítulo tiene entre 1.000 y 1.500 palabras? Sí o no, siempre igual. 
• Semánticos: ¿se reconoce al destinatario en sus rasgos y recuerdos? Eso solo lo juzga alguien que lee: el Editor. 
• Lean: si la boda es en 2015 y el texto dice que la hija nació «tres años después de casarse», pero la ficha la hace nacer en 2012, Lean demuestra que es imposible. 
• TLA+: «el lector nunca ve una versión que no se haya escrito y validado». TLC encontró un camino en que sí podía pasar, antes de construir esa parte. Frase de cierre: las reglas miden, el Editor juzga, Lean demuestra que la historia cuadra y TLA+ demuestra que el sistema no falla.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4:50–5:10. Cada brief está diseñado para provocar un fallo concreto, y cada fallo aparece donde debe. La injection ni siquiera llega a producir novela. El brief temporal cae en el esquema y en el Revisor del plan. Las tres contradicciones se detectan. El de vetadas se publica con un único fallo menor. Detalle completo en el anexo A3.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5:10–5:25. Así puntúa el Editor una novela publicada real: seis criterios de 1 a 5 en cada uno de los diez capítulos. Las medias: continuidad, tono, personajes y personalización en 5,0; arco en 4,7 y ritmo en 4,1, que es donde más margen de mejora hay. Los diez capítulos quedaron consolidados. Hicieron falta 16 intentos, es decir, seis reescrituras; el capítulo 1 fue el más difícil, con cinco. Quedaron un hallazgo mayor y seis menores. El coste de escribir los diez capítulos fue de unos 4,81 USD, de los 5,45 de la novela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5:25–5:35. Así califica el Editor, capítulo a capítulo. Cada capítulo recibe una nota de 1 a 5 en seis criterios. En naranja está lo que no llega a 5: el ritmo se queda en 4 en casi todos los capítulos, y el arco en tres de ellos. También se ve el esfuerzo: el capítulo 1 necesitó cinco intentos y los capítulos 3 y 7, dos. Los demás salieron a la primera. La última columna son los hallazgos que dejaron los validadores.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5:10–5:25. Lean no tiene caso real, y es buena noticia: el brief diseñado para provocarlo lo paró antes el Revisor del plan, cuando todavía no había texto que mirar. Lean sigue en la puerta de publicación como última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5:25–5:50. Antes de construir el harness lo modelamos en TLA+, y TLC recorrió 756.394 estados distintos comprobando 12 invariantes de seguridad y una de liveness. Un ejemplo de lo que garantiza: el lector solo ve versiones que se han escrito y validado. Esa garantía quedó asegurada en el diseño, antes de programar esa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5:50–6:10. Toda la ejecución es observable en Langfuse: plantillas, tokens, coste, modelos y resultados de cada validador. Lo que nunca sube es el texto ni ningún dato del destinatario, porque la ficha se borra al entregar y en Langfuse no podríamos borrarlo.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6:10–6:25. Una traza real de Langfuse. A la izquierda, el árbol: la novela, la planificación, los capítulos y, dentro de cada uno, el escritor y la consulta a la ficha. Arriba se ven el coste, los tokens y los resultados de los validadores subidos como scores: INV-01 e INV-02 pasan, y hay ocho más. A la derecha, el mismo flujo como grafo. Fijaos en lo que no aparece: el input y el output del escritor están vacíos, porque el texto generado no sube a Langfuse.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6:10–6:25. Palabras vetadas en tres niveles —global, franja de edad y novela— con normalización de mayúsculas, acentos, plurales y género; si aparece una, el capítulo vuelve al Escritor, con tope de dos reescrituras. Los datos personales se borran al entregar. La injection se detecta en la entrevista, pero lo que de verdad la contiene es que el texto libre nunca llega al Escritor. Y todo queda en el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6:25–6:40. El caso que contamos no es un ataque, es un falso positivo. La palabra vetada era una palabra malsonante con ñ. Al normalizar, la ñ pasaba a n y se quitaba la terminación de género, y acababa convertida en «con»: el Escritor no podía escribir una frase. Se cerró con una prueba que contrasta la lista entera contra las palabras más frecuentes del español.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6:40–6:55. Probamos dos repartos de modelos. La configuración de prueba, con modelos más caros, costó 20,56 USD por novela; la que usamos, 5,45. Lo relevante es por qué: la configuración barata hizo más delegaciones, 43 frente a 36, y aun así costó 3,8 veces menos. La diferencia es qué modelo hace cada rol, no cuánto trabajo se hace. Es una palanca que controlamos. Por eso el coste de producción queda en 5–7 USD por novela.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6:55–7:05. USD por novela en la configuración barata. El Escritor se lleva 3,91 de 5,45: es donde está la palanca de coste. Editor 0,78, Resumidor 0,43, Planificador 0,20 y Revisor 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7:05–7:15. Lo que cuesta de verdad escribir una novela completa: entre 5 y 7 USD en modelos. Las dos novelas publicadas costaron 5,45 y 6,18 USD, unos 5,80 de media. Es coste de modelo; no incluye pasarela de pago, hosting ni atención al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7:15–7:25. Proponemos tres niveles de precio: 29, 39 y 49 USD, con 39 como precio recomendado. El coste completo de una novela ronda los 10 USD: 5,80 de tokens, medidos en las novelas publicadas; alrededor de 1 USD de infraestructura; una reserva de 2 USD para revisiones, y la comisión de la pasarela de pago, un 3% más 30 céntimos. Con eso, el margen es del 66% a 29 USD, del 74% a 39 y del 78% a 49. Cada novela se genera en unos 30 minutos. Infraestructura, revisiones y pasarela son estimaciones; no incluye captación de clientes ni impuestos.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7:25–7:35. El proyecto se hizo en 40 horas: 6 de diseño, 20 de desarrollo, 10 de validación y 4 de despliegue. A 70 USD la hora son 2.800 USD. Con el precio propuesto de 39 USD y un coste completo de unos 10,30 USD, cada novela deja unos 29 USD, así que la inversión se recupera con unas 98 novelas.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7:35–7:45. Con el precio propuesto de 39 USD y un coste completo de unos 10,30 USD por novela, cada venta deja unos 29 USD. A 50 novelas al mes son unos 1.440 USD de margen; a 200, unos 5.750; a 1.000, unos 28.730. El margen crece en línea con el volumen, porque casi todo el coste es variable. No incluye captación de clientes ni impuestos.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7:45–7:55. Dos riesgos. Si el precio de los tokens sube un 50%, una novela pasa de unos 5,80 a unos 8,70 USD en tokens, y el margen a 39 USD baja del 74% al 66%. Si el cliente pide más de tres revisiones, cada una extra cuesta como máximo lo que regenerar la novela entera, unos 5,80 USD; con una revisión extra el margen sigue por encima del 59%, y en la práctica es más alto porque solo se regenera desde el capítulo afectado. A partir de la cuarta revisión conviene cobrarla aparte.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7:40–8:20. El lector pidió renombrar a un personaje secundario. El sistema localiza su primera aparición en la story bible —el capítulo 4—, conserva los tres primeros y regenera y valida del 4 al 10. Mientras tanto, el lector sigue viendo la versión anterior; la nueva solo aparece al publicarse. Es exactamente el invariante que TLC nos ayudó a cerrar.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8:20–9:00. Dos limitaciones que decimos nosotros antes de que salgan: una novela entregada no se puede regenerar, porque la privacidad borra la ficha; y el tuning no se completó. Propuesta: completar el tuning, un piloto acotado y cerrar precio y política de revisiones. Abrir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Contraportada. Gracias. Datos de contacto para seguir la conversación.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02525" y="581025"/>
            <a:ext cx="5695950" cy="5695950"/>
          </a:xfrm>
          <a:prstGeom prst="roundRect">
            <a:avLst>
              <a:gd name="adj" fmla="val 28372"/>
            </a:avLst>
          </a:prstGeom>
          <a:noFill/>
          <a:ln w="19050">
            <a:solidFill>
              <a:srgbClr val="FBAA80"/>
            </a:solidFill>
            <a:prstDash val="solid"/>
          </a:ln>
        </p:spPr>
      </p:sp>
      <p:sp>
        <p:nvSpPr>
          <p:cNvPr id="3" name="Shape 1"/>
          <p:cNvSpPr/>
          <p:nvPr/>
        </p:nvSpPr>
        <p:spPr>
          <a:xfrm>
            <a:off x="8264525" y="1343025"/>
            <a:ext cx="4171950" cy="4171950"/>
          </a:xfrm>
          <a:prstGeom prst="roundRect">
            <a:avLst>
              <a:gd name="adj" fmla="val 38737"/>
            </a:avLst>
          </a:prstGeom>
          <a:noFill/>
          <a:ln w="19050">
            <a:solidFill>
              <a:srgbClr val="FBAA80"/>
            </a:solidFill>
            <a:prstDash val="solid"/>
          </a:ln>
        </p:spPr>
      </p:sp>
      <p:sp>
        <p:nvSpPr>
          <p:cNvPr id="4" name="Shape 2"/>
          <p:cNvSpPr/>
          <p:nvPr/>
        </p:nvSpPr>
        <p:spPr>
          <a:xfrm>
            <a:off x="9026525" y="2105025"/>
            <a:ext cx="2647950" cy="2647950"/>
          </a:xfrm>
          <a:prstGeom prst="roundRect">
            <a:avLst>
              <a:gd name="adj" fmla="val 50000"/>
            </a:avLst>
          </a:prstGeom>
          <a:noFill/>
          <a:ln w="19050">
            <a:solidFill>
              <a:srgbClr val="FBAA80"/>
            </a:solidFill>
            <a:prstDash val="solid"/>
          </a:ln>
        </p:spPr>
      </p:sp>
      <p:sp>
        <p:nvSpPr>
          <p:cNvPr id="5" name="Text 3"/>
          <p:cNvSpPr/>
          <p:nvPr/>
        </p:nvSpPr>
        <p:spPr>
          <a:xfrm>
            <a:off x="812800" y="8128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spc="-25" kern="0" dirty="0">
                <a:solidFill>
                  <a:srgbClr val="233441"/>
                </a:solidFill>
                <a:latin typeface="DM Sans" pitchFamily="34" charset="0"/>
                <a:ea typeface="DM Sans" pitchFamily="34" charset="-122"/>
                <a:cs typeface="DM Sans" pitchFamily="34" charset="-120"/>
              </a:rPr>
              <a:t>Qaracter</a:t>
            </a:r>
            <a:endParaRPr lang="en-US" sz="2000" dirty="0"/>
          </a:p>
        </p:txBody>
      </p:sp>
      <p:sp>
        <p:nvSpPr>
          <p:cNvPr id="6" name="Text 4"/>
          <p:cNvSpPr/>
          <p:nvPr/>
        </p:nvSpPr>
        <p:spPr>
          <a:xfrm>
            <a:off x="812800" y="1930400"/>
            <a:ext cx="71945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PROPUESTA A CLIENTE</a:t>
            </a:r>
            <a:endParaRPr lang="en-US" sz="1200" dirty="0"/>
          </a:p>
        </p:txBody>
      </p:sp>
      <p:sp>
        <p:nvSpPr>
          <p:cNvPr id="7" name="Text 5"/>
          <p:cNvSpPr/>
          <p:nvPr/>
        </p:nvSpPr>
        <p:spPr>
          <a:xfrm>
            <a:off x="812800" y="2346960"/>
            <a:ext cx="7194550"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33441"/>
                </a:solidFill>
                <a:latin typeface="DM Sans" pitchFamily="34" charset="0"/>
                <a:ea typeface="DM Sans" pitchFamily="34" charset="-122"/>
                <a:cs typeface="DM Sans" pitchFamily="34" charset="-120"/>
              </a:rPr>
              <a:t>Novel-IAs</a:t>
            </a:r>
            <a:endParaRPr lang="en-US" sz="6000" dirty="0"/>
          </a:p>
        </p:txBody>
      </p:sp>
      <p:sp>
        <p:nvSpPr>
          <p:cNvPr id="8" name="Text 6"/>
          <p:cNvSpPr/>
          <p:nvPr/>
        </p:nvSpPr>
        <p:spPr>
          <a:xfrm>
            <a:off x="812800" y="5499100"/>
            <a:ext cx="1506141" cy="23764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7782"/>
                </a:solidFill>
                <a:latin typeface="DM Sans" pitchFamily="34" charset="0"/>
                <a:ea typeface="DM Sans" pitchFamily="34" charset="-122"/>
                <a:cs typeface="DM Sans" pitchFamily="34" charset="-120"/>
              </a:rPr>
              <a:t>Cliente</a:t>
            </a:r>
            <a:endParaRPr lang="en-US" sz="1196" dirty="0"/>
          </a:p>
        </p:txBody>
      </p:sp>
      <p:sp>
        <p:nvSpPr>
          <p:cNvPr id="9" name="Text 7"/>
          <p:cNvSpPr/>
          <p:nvPr/>
        </p:nvSpPr>
        <p:spPr>
          <a:xfrm>
            <a:off x="812800" y="5762149"/>
            <a:ext cx="1506141" cy="30845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Todo el mundo</a:t>
            </a:r>
            <a:endParaRPr lang="en-US" sz="1600" dirty="0"/>
          </a:p>
        </p:txBody>
      </p:sp>
      <p:sp>
        <p:nvSpPr>
          <p:cNvPr id="10" name="Text 8"/>
          <p:cNvSpPr/>
          <p:nvPr/>
        </p:nvSpPr>
        <p:spPr>
          <a:xfrm>
            <a:off x="2877741" y="5499100"/>
            <a:ext cx="2681932" cy="23764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7782"/>
                </a:solidFill>
                <a:latin typeface="DM Sans" pitchFamily="34" charset="0"/>
                <a:ea typeface="DM Sans" pitchFamily="34" charset="-122"/>
                <a:cs typeface="DM Sans" pitchFamily="34" charset="-120"/>
              </a:rPr>
              <a:t>Fecha</a:t>
            </a:r>
            <a:endParaRPr lang="en-US" sz="1196" dirty="0"/>
          </a:p>
        </p:txBody>
      </p:sp>
      <p:sp>
        <p:nvSpPr>
          <p:cNvPr id="11" name="Text 9"/>
          <p:cNvSpPr/>
          <p:nvPr/>
        </p:nvSpPr>
        <p:spPr>
          <a:xfrm>
            <a:off x="2877741" y="5762149"/>
            <a:ext cx="2681932" cy="30845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25 de septiembre de 2026</a:t>
            </a:r>
            <a:endParaRPr lang="en-US" sz="1600" dirty="0"/>
          </a:p>
        </p:txBody>
      </p:sp>
      <p:sp>
        <p:nvSpPr>
          <p:cNvPr id="12" name="Text 10"/>
          <p:cNvSpPr/>
          <p:nvPr/>
        </p:nvSpPr>
        <p:spPr>
          <a:xfrm>
            <a:off x="6091158" y="5499100"/>
            <a:ext cx="1864451" cy="23764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7782"/>
                </a:solidFill>
                <a:latin typeface="DM Sans" pitchFamily="34" charset="0"/>
                <a:ea typeface="DM Sans" pitchFamily="34" charset="-122"/>
                <a:cs typeface="DM Sans" pitchFamily="34" charset="-120"/>
              </a:rPr>
              <a:t>Presenta</a:t>
            </a:r>
            <a:endParaRPr lang="en-US" sz="1196" dirty="0"/>
          </a:p>
        </p:txBody>
      </p:sp>
      <p:sp>
        <p:nvSpPr>
          <p:cNvPr id="13" name="Text 11"/>
          <p:cNvSpPr/>
          <p:nvPr/>
        </p:nvSpPr>
        <p:spPr>
          <a:xfrm>
            <a:off x="6091158" y="5762149"/>
            <a:ext cx="1864451" cy="30845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Santiago Espinosa</a:t>
            </a:r>
            <a:endParaRPr lang="en-US" sz="1600" dirty="0"/>
          </a:p>
        </p:txBody>
      </p:sp>
      <p:sp>
        <p:nvSpPr>
          <p:cNvPr id="14" name="Text 12"/>
          <p:cNvSpPr/>
          <p:nvPr/>
        </p:nvSpPr>
        <p:spPr>
          <a:xfrm>
            <a:off x="812800" y="4076700"/>
            <a:ext cx="5749263"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3C4645"/>
                </a:solidFill>
                <a:latin typeface="DM Sans" pitchFamily="34" charset="0"/>
                <a:ea typeface="DM Sans" pitchFamily="34" charset="-122"/>
                <a:cs typeface="DM Sans" pitchFamily="34" charset="-120"/>
              </a:rPr>
              <a:t>Novelas personalizadas de regalo, escritas por agentes y verificadas por diseño.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01 · CONTEXTO</a:t>
            </a:r>
            <a:endParaRPr lang="en-US" sz="1200" dirty="0"/>
          </a:p>
        </p:txBody>
      </p:sp>
      <p:sp>
        <p:nvSpPr>
          <p:cNvPr id="3" name="Text 1"/>
          <p:cNvSpPr/>
          <p:nvPr/>
        </p:nvSpPr>
        <p:spPr>
          <a:xfrm>
            <a:off x="812800" y="112776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Una novela para una sola persona y un momento especial</a:t>
            </a:r>
            <a:endParaRPr lang="en-US" sz="3200" dirty="0"/>
          </a:p>
        </p:txBody>
      </p:sp>
      <p:sp>
        <p:nvSpPr>
          <p:cNvPr id="4" name="Shape 2"/>
          <p:cNvSpPr/>
          <p:nvPr/>
        </p:nvSpPr>
        <p:spPr>
          <a:xfrm>
            <a:off x="812800" y="2377440"/>
            <a:ext cx="1991360" cy="863600"/>
          </a:xfrm>
          <a:prstGeom prst="roundRect">
            <a:avLst>
              <a:gd name="adj" fmla="val 11765"/>
            </a:avLst>
          </a:prstGeom>
          <a:solidFill>
            <a:srgbClr val="F4F6F8"/>
          </a:solidFill>
          <a:ln/>
        </p:spPr>
      </p:sp>
      <p:sp>
        <p:nvSpPr>
          <p:cNvPr id="5" name="Text 3"/>
          <p:cNvSpPr/>
          <p:nvPr/>
        </p:nvSpPr>
        <p:spPr>
          <a:xfrm>
            <a:off x="887578" y="2631440"/>
            <a:ext cx="1841805"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233441"/>
                </a:solidFill>
                <a:latin typeface="DM Sans" pitchFamily="34" charset="0"/>
                <a:ea typeface="DM Sans" pitchFamily="34" charset="-122"/>
                <a:cs typeface="DM Sans" pitchFamily="34" charset="-120"/>
              </a:rPr>
              <a:t>Un hijo</a:t>
            </a:r>
            <a:endParaRPr lang="en-US" sz="2000" dirty="0"/>
          </a:p>
        </p:txBody>
      </p:sp>
      <p:sp>
        <p:nvSpPr>
          <p:cNvPr id="6" name="Shape 4"/>
          <p:cNvSpPr/>
          <p:nvPr/>
        </p:nvSpPr>
        <p:spPr>
          <a:xfrm>
            <a:off x="2956560" y="2377440"/>
            <a:ext cx="1991360" cy="863600"/>
          </a:xfrm>
          <a:prstGeom prst="roundRect">
            <a:avLst>
              <a:gd name="adj" fmla="val 11765"/>
            </a:avLst>
          </a:prstGeom>
          <a:solidFill>
            <a:srgbClr val="F4F6F8"/>
          </a:solidFill>
          <a:ln/>
        </p:spPr>
      </p:sp>
      <p:sp>
        <p:nvSpPr>
          <p:cNvPr id="7" name="Text 5"/>
          <p:cNvSpPr/>
          <p:nvPr/>
        </p:nvSpPr>
        <p:spPr>
          <a:xfrm>
            <a:off x="3031338" y="2631440"/>
            <a:ext cx="1841805"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233441"/>
                </a:solidFill>
                <a:latin typeface="DM Sans" pitchFamily="34" charset="0"/>
                <a:ea typeface="DM Sans" pitchFamily="34" charset="-122"/>
                <a:cs typeface="DM Sans" pitchFamily="34" charset="-120"/>
              </a:rPr>
              <a:t>Una pareja</a:t>
            </a:r>
            <a:endParaRPr lang="en-US" sz="2000" dirty="0"/>
          </a:p>
        </p:txBody>
      </p:sp>
      <p:sp>
        <p:nvSpPr>
          <p:cNvPr id="8" name="Shape 6"/>
          <p:cNvSpPr/>
          <p:nvPr/>
        </p:nvSpPr>
        <p:spPr>
          <a:xfrm>
            <a:off x="5100320" y="2377440"/>
            <a:ext cx="1991360" cy="863600"/>
          </a:xfrm>
          <a:prstGeom prst="roundRect">
            <a:avLst>
              <a:gd name="adj" fmla="val 11765"/>
            </a:avLst>
          </a:prstGeom>
          <a:solidFill>
            <a:srgbClr val="F4F6F8"/>
          </a:solidFill>
          <a:ln/>
        </p:spPr>
      </p:sp>
      <p:sp>
        <p:nvSpPr>
          <p:cNvPr id="9" name="Text 7"/>
          <p:cNvSpPr/>
          <p:nvPr/>
        </p:nvSpPr>
        <p:spPr>
          <a:xfrm>
            <a:off x="5175098" y="2631440"/>
            <a:ext cx="1841805"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233441"/>
                </a:solidFill>
                <a:latin typeface="DM Sans" pitchFamily="34" charset="0"/>
                <a:ea typeface="DM Sans" pitchFamily="34" charset="-122"/>
                <a:cs typeface="DM Sans" pitchFamily="34" charset="-120"/>
              </a:rPr>
              <a:t>Una boda</a:t>
            </a:r>
            <a:endParaRPr lang="en-US" sz="2000" dirty="0"/>
          </a:p>
        </p:txBody>
      </p:sp>
      <p:sp>
        <p:nvSpPr>
          <p:cNvPr id="10" name="Shape 8"/>
          <p:cNvSpPr/>
          <p:nvPr/>
        </p:nvSpPr>
        <p:spPr>
          <a:xfrm>
            <a:off x="7244080" y="2377440"/>
            <a:ext cx="1991360" cy="863600"/>
          </a:xfrm>
          <a:prstGeom prst="roundRect">
            <a:avLst>
              <a:gd name="adj" fmla="val 11765"/>
            </a:avLst>
          </a:prstGeom>
          <a:solidFill>
            <a:srgbClr val="F4F6F8"/>
          </a:solidFill>
          <a:ln/>
        </p:spPr>
      </p:sp>
      <p:sp>
        <p:nvSpPr>
          <p:cNvPr id="11" name="Text 9"/>
          <p:cNvSpPr/>
          <p:nvPr/>
        </p:nvSpPr>
        <p:spPr>
          <a:xfrm>
            <a:off x="7318858" y="2631440"/>
            <a:ext cx="1841805"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233441"/>
                </a:solidFill>
                <a:latin typeface="DM Sans" pitchFamily="34" charset="0"/>
                <a:ea typeface="DM Sans" pitchFamily="34" charset="-122"/>
                <a:cs typeface="DM Sans" pitchFamily="34" charset="-120"/>
              </a:rPr>
              <a:t>Un aniversario</a:t>
            </a:r>
            <a:endParaRPr lang="en-US" sz="2000" dirty="0"/>
          </a:p>
        </p:txBody>
      </p:sp>
      <p:sp>
        <p:nvSpPr>
          <p:cNvPr id="12" name="Shape 10"/>
          <p:cNvSpPr/>
          <p:nvPr/>
        </p:nvSpPr>
        <p:spPr>
          <a:xfrm>
            <a:off x="9387840" y="2377440"/>
            <a:ext cx="1991360" cy="863600"/>
          </a:xfrm>
          <a:prstGeom prst="roundRect">
            <a:avLst>
              <a:gd name="adj" fmla="val 11765"/>
            </a:avLst>
          </a:prstGeom>
          <a:solidFill>
            <a:srgbClr val="F4F6F8"/>
          </a:solidFill>
          <a:ln/>
        </p:spPr>
      </p:sp>
      <p:sp>
        <p:nvSpPr>
          <p:cNvPr id="13" name="Text 11"/>
          <p:cNvSpPr/>
          <p:nvPr/>
        </p:nvSpPr>
        <p:spPr>
          <a:xfrm>
            <a:off x="9462618" y="2631440"/>
            <a:ext cx="1841805"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233441"/>
                </a:solidFill>
                <a:latin typeface="DM Sans" pitchFamily="34" charset="0"/>
                <a:ea typeface="DM Sans" pitchFamily="34" charset="-122"/>
                <a:cs typeface="DM Sans" pitchFamily="34" charset="-120"/>
              </a:rPr>
              <a:t>Una jubilación</a:t>
            </a:r>
            <a:endParaRPr lang="en-US" sz="2000" dirty="0"/>
          </a:p>
        </p:txBody>
      </p:sp>
      <p:sp>
        <p:nvSpPr>
          <p:cNvPr id="14" name="Text 12"/>
          <p:cNvSpPr/>
          <p:nvPr/>
        </p:nvSpPr>
        <p:spPr>
          <a:xfrm>
            <a:off x="812800" y="4744720"/>
            <a:ext cx="914003"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FF7932"/>
                </a:solidFill>
                <a:latin typeface="DM Sans" pitchFamily="34" charset="0"/>
                <a:ea typeface="DM Sans" pitchFamily="34" charset="-122"/>
                <a:cs typeface="DM Sans" pitchFamily="34" charset="-120"/>
              </a:rPr>
              <a:t>10</a:t>
            </a:r>
            <a:endParaRPr lang="en-US" sz="6000" dirty="0"/>
          </a:p>
        </p:txBody>
      </p:sp>
      <p:sp>
        <p:nvSpPr>
          <p:cNvPr id="15" name="Text 13"/>
          <p:cNvSpPr/>
          <p:nvPr/>
        </p:nvSpPr>
        <p:spPr>
          <a:xfrm>
            <a:off x="812800" y="5557520"/>
            <a:ext cx="9140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45"/>
                </a:solidFill>
                <a:latin typeface="DM Sans" pitchFamily="34" charset="0"/>
                <a:ea typeface="DM Sans" pitchFamily="34" charset="-122"/>
                <a:cs typeface="DM Sans" pitchFamily="34" charset="-120"/>
              </a:rPr>
              <a:t>capítulos</a:t>
            </a:r>
            <a:endParaRPr lang="en-US" sz="1600" dirty="0"/>
          </a:p>
        </p:txBody>
      </p:sp>
      <p:sp>
        <p:nvSpPr>
          <p:cNvPr id="16" name="Text 14"/>
          <p:cNvSpPr/>
          <p:nvPr/>
        </p:nvSpPr>
        <p:spPr>
          <a:xfrm>
            <a:off x="2285603" y="4744720"/>
            <a:ext cx="4516133"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33441"/>
                </a:solidFill>
                <a:latin typeface="DM Sans" pitchFamily="34" charset="0"/>
                <a:ea typeface="DM Sans" pitchFamily="34" charset="-122"/>
                <a:cs typeface="DM Sans" pitchFamily="34" charset="-120"/>
              </a:rPr>
              <a:t>1.000–1.500</a:t>
            </a:r>
            <a:endParaRPr lang="en-US" sz="6000" dirty="0"/>
          </a:p>
        </p:txBody>
      </p:sp>
      <p:sp>
        <p:nvSpPr>
          <p:cNvPr id="17" name="Text 15"/>
          <p:cNvSpPr/>
          <p:nvPr/>
        </p:nvSpPr>
        <p:spPr>
          <a:xfrm>
            <a:off x="2285603" y="5557520"/>
            <a:ext cx="451613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45"/>
                </a:solidFill>
                <a:latin typeface="DM Sans" pitchFamily="34" charset="0"/>
                <a:ea typeface="DM Sans" pitchFamily="34" charset="-122"/>
                <a:cs typeface="DM Sans" pitchFamily="34" charset="-120"/>
              </a:rPr>
              <a:t>palabras por capítulo</a:t>
            </a:r>
            <a:endParaRPr lang="en-US" sz="1600" dirty="0"/>
          </a:p>
        </p:txBody>
      </p:sp>
      <p:sp>
        <p:nvSpPr>
          <p:cNvPr id="18" name="Text 16"/>
          <p:cNvSpPr/>
          <p:nvPr/>
        </p:nvSpPr>
        <p:spPr>
          <a:xfrm>
            <a:off x="654304" y="6238241"/>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02 · PROBLEMA Y CLIENTE</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Un regalo que no se compra hecho</a:t>
            </a:r>
            <a:endParaRPr lang="en-US" sz="3200" dirty="0"/>
          </a:p>
        </p:txBody>
      </p:sp>
      <p:sp>
        <p:nvSpPr>
          <p:cNvPr id="4" name="Text 2"/>
          <p:cNvSpPr/>
          <p:nvPr/>
        </p:nvSpPr>
        <p:spPr>
          <a:xfrm>
            <a:off x="812800" y="1930400"/>
            <a:ext cx="85026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3C4645"/>
                </a:solidFill>
                <a:latin typeface="DM Sans" pitchFamily="34" charset="0"/>
                <a:ea typeface="DM Sans" pitchFamily="34" charset="-122"/>
                <a:cs typeface="DM Sans" pitchFamily="34" charset="-120"/>
              </a:rPr>
              <a:t>Quien compra quiere algo que sea </a:t>
            </a:r>
            <a:r>
              <a:rPr lang="en-US" sz="2000" b="1" dirty="0">
                <a:solidFill>
                  <a:srgbClr val="3C4645"/>
                </a:solidFill>
                <a:latin typeface="DM Sans" pitchFamily="34" charset="0"/>
                <a:ea typeface="DM Sans" pitchFamily="34" charset="-122"/>
                <a:cs typeface="DM Sans" pitchFamily="34" charset="-120"/>
              </a:rPr>
              <a:t>solo para esa persona</a:t>
            </a:r>
            <a:r>
              <a:rPr lang="en-US" sz="2000" dirty="0">
                <a:solidFill>
                  <a:srgbClr val="3C4645"/>
                </a:solidFill>
                <a:latin typeface="DM Sans" pitchFamily="34" charset="0"/>
                <a:ea typeface="DM Sans" pitchFamily="34" charset="-122"/>
                <a:cs typeface="DM Sans" pitchFamily="34" charset="-120"/>
              </a:rPr>
              <a:t>. Hoy tiene dos opciones, y las dos fallan.</a:t>
            </a:r>
            <a:endParaRPr lang="en-US" sz="2000" dirty="0"/>
          </a:p>
        </p:txBody>
      </p:sp>
      <p:sp>
        <p:nvSpPr>
          <p:cNvPr id="5" name="Shape 3"/>
          <p:cNvSpPr/>
          <p:nvPr/>
        </p:nvSpPr>
        <p:spPr>
          <a:xfrm>
            <a:off x="812800" y="4246880"/>
            <a:ext cx="5181600" cy="1595120"/>
          </a:xfrm>
          <a:prstGeom prst="roundRect">
            <a:avLst>
              <a:gd name="adj" fmla="val 6369"/>
            </a:avLst>
          </a:prstGeom>
          <a:solidFill>
            <a:srgbClr val="F4F6F8"/>
          </a:solidFill>
          <a:ln/>
        </p:spPr>
      </p:sp>
      <p:sp>
        <p:nvSpPr>
          <p:cNvPr id="6" name="Shape 4"/>
          <p:cNvSpPr/>
          <p:nvPr/>
        </p:nvSpPr>
        <p:spPr>
          <a:xfrm>
            <a:off x="812800" y="4246880"/>
            <a:ext cx="5181600" cy="1595120"/>
          </a:xfrm>
          <a:custGeom>
            <a:avLst/>
            <a:gdLst/>
            <a:ahLst/>
            <a:cxnLst/>
            <a:rect l="l" t="t" r="r" b="b"/>
            <a:pathLst>
              <a:path w="5181600" h="1595120">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93A0AB"/>
          </a:solidFill>
          <a:ln/>
        </p:spPr>
      </p:sp>
      <p:sp>
        <p:nvSpPr>
          <p:cNvPr id="7" name="Text 5"/>
          <p:cNvSpPr/>
          <p:nvPr/>
        </p:nvSpPr>
        <p:spPr>
          <a:xfrm>
            <a:off x="1117600" y="4587241"/>
            <a:ext cx="470916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UN LIBRO GENÉRICO</a:t>
            </a:r>
            <a:endParaRPr lang="en-US" sz="1200" dirty="0"/>
          </a:p>
        </p:txBody>
      </p:sp>
      <p:sp>
        <p:nvSpPr>
          <p:cNvPr id="8" name="Text 6"/>
          <p:cNvSpPr/>
          <p:nvPr/>
        </p:nvSpPr>
        <p:spPr>
          <a:xfrm>
            <a:off x="1117600" y="4927600"/>
            <a:ext cx="470916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Funciona como novela. No es para nadie.</a:t>
            </a:r>
            <a:endParaRPr lang="en-US" sz="2000" dirty="0"/>
          </a:p>
        </p:txBody>
      </p:sp>
      <p:sp>
        <p:nvSpPr>
          <p:cNvPr id="9" name="Shape 7"/>
          <p:cNvSpPr/>
          <p:nvPr/>
        </p:nvSpPr>
        <p:spPr>
          <a:xfrm>
            <a:off x="6197600" y="4246880"/>
            <a:ext cx="5181600" cy="1595120"/>
          </a:xfrm>
          <a:prstGeom prst="roundRect">
            <a:avLst>
              <a:gd name="adj" fmla="val 6369"/>
            </a:avLst>
          </a:prstGeom>
          <a:solidFill>
            <a:srgbClr val="F4F6F8"/>
          </a:solidFill>
          <a:ln/>
        </p:spPr>
      </p:sp>
      <p:sp>
        <p:nvSpPr>
          <p:cNvPr id="10" name="Shape 8"/>
          <p:cNvSpPr/>
          <p:nvPr/>
        </p:nvSpPr>
        <p:spPr>
          <a:xfrm>
            <a:off x="6197600" y="4246880"/>
            <a:ext cx="5181600" cy="1595120"/>
          </a:xfrm>
          <a:custGeom>
            <a:avLst/>
            <a:gdLst/>
            <a:ahLst/>
            <a:cxnLst/>
            <a:rect l="l" t="t" r="r" b="b"/>
            <a:pathLst>
              <a:path w="5181600" h="1595120">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93A0AB"/>
          </a:solidFill>
          <a:ln/>
        </p:spPr>
      </p:sp>
      <p:sp>
        <p:nvSpPr>
          <p:cNvPr id="11" name="Text 9"/>
          <p:cNvSpPr/>
          <p:nvPr/>
        </p:nvSpPr>
        <p:spPr>
          <a:xfrm>
            <a:off x="6502400" y="4587241"/>
            <a:ext cx="470916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UNA IA SIN HARNESS</a:t>
            </a:r>
            <a:endParaRPr lang="en-US" sz="1200" dirty="0"/>
          </a:p>
        </p:txBody>
      </p:sp>
      <p:sp>
        <p:nvSpPr>
          <p:cNvPr id="12" name="Text 10"/>
          <p:cNvSpPr/>
          <p:nvPr/>
        </p:nvSpPr>
        <p:spPr>
          <a:xfrm>
            <a:off x="6502400" y="4927600"/>
            <a:ext cx="470916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Se contradice, se repite y no reconoce a nadie.</a:t>
            </a:r>
            <a:endParaRPr lang="en-US" sz="2000" dirty="0"/>
          </a:p>
        </p:txBody>
      </p:sp>
      <p:sp>
        <p:nvSpPr>
          <p:cNvPr id="13" name="Text 11"/>
          <p:cNvSpPr/>
          <p:nvPr/>
        </p:nvSpPr>
        <p:spPr>
          <a:xfrm>
            <a:off x="654304" y="6238241"/>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7932"/>
        </a:solidFill>
      </p:bgPr>
    </p:bg>
    <p:spTree>
      <p:nvGrpSpPr>
        <p:cNvPr id="1" name=""/>
        <p:cNvGrpSpPr/>
        <p:nvPr/>
      </p:nvGrpSpPr>
      <p:grpSpPr>
        <a:xfrm>
          <a:off x="0" y="0"/>
          <a:ext cx="0" cy="0"/>
          <a:chOff x="0" y="0"/>
          <a:chExt cx="0" cy="0"/>
        </a:xfrm>
      </p:grpSpPr>
      <p:sp>
        <p:nvSpPr>
          <p:cNvPr id="2" name="Shape 0"/>
          <p:cNvSpPr/>
          <p:nvPr/>
        </p:nvSpPr>
        <p:spPr>
          <a:xfrm>
            <a:off x="7883525" y="898525"/>
            <a:ext cx="5060950" cy="5060950"/>
          </a:xfrm>
          <a:prstGeom prst="roundRect">
            <a:avLst>
              <a:gd name="adj" fmla="val 31932"/>
            </a:avLst>
          </a:prstGeom>
          <a:noFill/>
          <a:ln w="19050">
            <a:solidFill>
              <a:srgbClr val="FFB48A"/>
            </a:solidFill>
            <a:prstDash val="solid"/>
          </a:ln>
        </p:spPr>
      </p:sp>
      <p:sp>
        <p:nvSpPr>
          <p:cNvPr id="3" name="Shape 1"/>
          <p:cNvSpPr/>
          <p:nvPr/>
        </p:nvSpPr>
        <p:spPr>
          <a:xfrm>
            <a:off x="8645525" y="1660525"/>
            <a:ext cx="3536950" cy="3536950"/>
          </a:xfrm>
          <a:prstGeom prst="roundRect">
            <a:avLst>
              <a:gd name="adj" fmla="val 45691"/>
            </a:avLst>
          </a:prstGeom>
          <a:noFill/>
          <a:ln w="19050">
            <a:solidFill>
              <a:srgbClr val="FFB48A"/>
            </a:solidFill>
            <a:prstDash val="solid"/>
          </a:ln>
        </p:spPr>
      </p:sp>
      <p:sp>
        <p:nvSpPr>
          <p:cNvPr id="4" name="Text 2"/>
          <p:cNvSpPr/>
          <p:nvPr/>
        </p:nvSpPr>
        <p:spPr>
          <a:xfrm>
            <a:off x="812800" y="1447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33441"/>
                </a:solidFill>
                <a:latin typeface="DM Sans" pitchFamily="34" charset="0"/>
                <a:ea typeface="DM Sans" pitchFamily="34" charset="-122"/>
                <a:cs typeface="DM Sans" pitchFamily="34" charset="-120"/>
              </a:rPr>
              <a:t>LA TESIS</a:t>
            </a:r>
            <a:endParaRPr lang="en-US" sz="1200" dirty="0"/>
          </a:p>
        </p:txBody>
      </p:sp>
      <p:sp>
        <p:nvSpPr>
          <p:cNvPr id="5" name="Text 3"/>
          <p:cNvSpPr/>
          <p:nvPr/>
        </p:nvSpPr>
        <p:spPr>
          <a:xfrm>
            <a:off x="812800" y="1915161"/>
            <a:ext cx="8502650" cy="919480"/>
          </a:xfrm>
          <a:prstGeom prst="rect">
            <a:avLst/>
          </a:prstGeom>
          <a:noFill/>
          <a:ln/>
        </p:spPr>
        <p:txBody>
          <a:bodyPr wrap="square" lIns="0" tIns="0" rIns="0" bIns="0" rtlCol="0" anchor="t">
            <a:normAutofit/>
          </a:bodyPr>
          <a:lstStyle/>
          <a:p>
            <a:pPr algn="l" indent="0" marL="0">
              <a:lnSpc>
                <a:spcPts val="3520"/>
              </a:lnSpc>
              <a:buNone/>
            </a:pPr>
            <a:r>
              <a:rPr lang="en-US" sz="3200" spc="-75" kern="0" dirty="0">
                <a:solidFill>
                  <a:srgbClr val="233441"/>
                </a:solidFill>
                <a:latin typeface="DM Sans" pitchFamily="34" charset="0"/>
                <a:ea typeface="DM Sans" pitchFamily="34" charset="-122"/>
                <a:cs typeface="DM Sans" pitchFamily="34" charset="-120"/>
              </a:rPr>
              <a:t>Que una IA escriba una novela lo hace cualquiera.</a:t>
            </a:r>
            <a:endParaRPr lang="en-US" sz="3200" dirty="0"/>
          </a:p>
        </p:txBody>
      </p:sp>
      <p:sp>
        <p:nvSpPr>
          <p:cNvPr id="6" name="Text 4"/>
          <p:cNvSpPr/>
          <p:nvPr/>
        </p:nvSpPr>
        <p:spPr>
          <a:xfrm>
            <a:off x="812800" y="3063241"/>
            <a:ext cx="9156700" cy="1549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33441"/>
                </a:solidFill>
                <a:latin typeface="DM Sans" pitchFamily="34" charset="0"/>
                <a:ea typeface="DM Sans" pitchFamily="34" charset="-122"/>
                <a:cs typeface="DM Sans" pitchFamily="34" charset="-120"/>
              </a:rPr>
              <a:t>La verificación es el producto.</a:t>
            </a:r>
            <a:endParaRPr lang="en-US" sz="6000" dirty="0"/>
          </a:p>
        </p:txBody>
      </p:sp>
      <p:sp>
        <p:nvSpPr>
          <p:cNvPr id="7" name="Text 5"/>
          <p:cNvSpPr/>
          <p:nvPr/>
        </p:nvSpPr>
        <p:spPr>
          <a:xfrm>
            <a:off x="812800" y="4841241"/>
            <a:ext cx="78486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Coherente, personalizada de verdad y sin decir lo que no debe. Eso es lo que garantiza el harness.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03 · CONFIGURACIÓN</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Se encarga conversando</a:t>
            </a:r>
            <a:endParaRPr lang="en-US" sz="3200" dirty="0"/>
          </a:p>
        </p:txBody>
      </p:sp>
      <p:sp>
        <p:nvSpPr>
          <p:cNvPr id="4" name="Shape 2"/>
          <p:cNvSpPr/>
          <p:nvPr/>
        </p:nvSpPr>
        <p:spPr>
          <a:xfrm>
            <a:off x="812800" y="1930400"/>
            <a:ext cx="3048000" cy="1173480"/>
          </a:xfrm>
          <a:prstGeom prst="roundRect">
            <a:avLst>
              <a:gd name="adj" fmla="val 8658"/>
            </a:avLst>
          </a:prstGeom>
          <a:solidFill>
            <a:srgbClr val="F4F6F8"/>
          </a:solidFill>
          <a:ln/>
        </p:spPr>
      </p:sp>
      <p:sp>
        <p:nvSpPr>
          <p:cNvPr id="5" name="Text 3"/>
          <p:cNvSpPr/>
          <p:nvPr/>
        </p:nvSpPr>
        <p:spPr>
          <a:xfrm>
            <a:off x="1066800" y="2184400"/>
            <a:ext cx="26162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Entrevistador</a:t>
            </a:r>
            <a:endParaRPr lang="en-US" sz="2000" dirty="0"/>
          </a:p>
        </p:txBody>
      </p:sp>
      <p:sp>
        <p:nvSpPr>
          <p:cNvPr id="6" name="Text 4"/>
          <p:cNvSpPr/>
          <p:nvPr/>
        </p:nvSpPr>
        <p:spPr>
          <a:xfrm>
            <a:off x="1066800" y="2565400"/>
            <a:ext cx="26162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45"/>
                </a:solidFill>
                <a:latin typeface="DM Sans" pitchFamily="34" charset="0"/>
                <a:ea typeface="DM Sans" pitchFamily="34" charset="-122"/>
                <a:cs typeface="DM Sans" pitchFamily="34" charset="-120"/>
              </a:rPr>
              <a:t>Un agente que pregunta</a:t>
            </a:r>
            <a:endParaRPr lang="en-US" sz="1600" dirty="0"/>
          </a:p>
        </p:txBody>
      </p:sp>
      <p:pic>
        <p:nvPicPr>
          <p:cNvPr id="7" name="Image 0" descr="arrow-right">    </p:cNvPr>
          <p:cNvPicPr>
            <a:picLocks noChangeAspect="1"/>
          </p:cNvPicPr>
          <p:nvPr/>
        </p:nvPicPr>
        <p:blipFill>
          <a:blip r:embed="rId1"/>
          <a:srcRect l="0" r="0" t="0" b="0"/>
          <a:stretch/>
        </p:blipFill>
        <p:spPr>
          <a:xfrm>
            <a:off x="4013200" y="2415539"/>
            <a:ext cx="406400" cy="203200"/>
          </a:xfrm>
          <a:prstGeom prst="rect">
            <a:avLst/>
          </a:prstGeom>
        </p:spPr>
      </p:pic>
      <p:sp>
        <p:nvSpPr>
          <p:cNvPr id="8" name="Shape 5"/>
          <p:cNvSpPr/>
          <p:nvPr/>
        </p:nvSpPr>
        <p:spPr>
          <a:xfrm>
            <a:off x="4572000" y="1930400"/>
            <a:ext cx="3048000" cy="1173480"/>
          </a:xfrm>
          <a:prstGeom prst="roundRect">
            <a:avLst>
              <a:gd name="adj" fmla="val 8658"/>
            </a:avLst>
          </a:prstGeom>
          <a:solidFill>
            <a:srgbClr val="F4F6F8"/>
          </a:solidFill>
          <a:ln/>
        </p:spPr>
      </p:sp>
      <p:sp>
        <p:nvSpPr>
          <p:cNvPr id="9" name="Text 6"/>
          <p:cNvSpPr/>
          <p:nvPr/>
        </p:nvSpPr>
        <p:spPr>
          <a:xfrm>
            <a:off x="4826000" y="2184400"/>
            <a:ext cx="26162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Detecta</a:t>
            </a:r>
            <a:endParaRPr lang="en-US" sz="2000" dirty="0"/>
          </a:p>
        </p:txBody>
      </p:sp>
      <p:sp>
        <p:nvSpPr>
          <p:cNvPr id="10" name="Text 7"/>
          <p:cNvSpPr/>
          <p:nvPr/>
        </p:nvSpPr>
        <p:spPr>
          <a:xfrm>
            <a:off x="4826000" y="2565400"/>
            <a:ext cx="26162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45"/>
                </a:solidFill>
                <a:latin typeface="DM Sans" pitchFamily="34" charset="0"/>
                <a:ea typeface="DM Sans" pitchFamily="34" charset="-122"/>
                <a:cs typeface="DM Sans" pitchFamily="34" charset="-120"/>
              </a:rPr>
              <a:t>Huecos y contradicciones</a:t>
            </a:r>
            <a:endParaRPr lang="en-US" sz="1600" dirty="0"/>
          </a:p>
        </p:txBody>
      </p:sp>
      <p:pic>
        <p:nvPicPr>
          <p:cNvPr id="11" name="Image 1" descr="arrow-right">    </p:cNvPr>
          <p:cNvPicPr>
            <a:picLocks noChangeAspect="1"/>
          </p:cNvPicPr>
          <p:nvPr/>
        </p:nvPicPr>
        <p:blipFill>
          <a:blip r:embed="rId2"/>
          <a:srcRect l="0" r="0" t="0" b="0"/>
          <a:stretch/>
        </p:blipFill>
        <p:spPr>
          <a:xfrm>
            <a:off x="7772400" y="2415539"/>
            <a:ext cx="406400" cy="203200"/>
          </a:xfrm>
          <a:prstGeom prst="rect">
            <a:avLst/>
          </a:prstGeom>
        </p:spPr>
      </p:pic>
      <p:sp>
        <p:nvSpPr>
          <p:cNvPr id="12" name="Shape 8"/>
          <p:cNvSpPr/>
          <p:nvPr/>
        </p:nvSpPr>
        <p:spPr>
          <a:xfrm>
            <a:off x="8331200" y="1930400"/>
            <a:ext cx="3048000" cy="1173480"/>
          </a:xfrm>
          <a:prstGeom prst="roundRect">
            <a:avLst>
              <a:gd name="adj" fmla="val 8658"/>
            </a:avLst>
          </a:prstGeom>
          <a:solidFill>
            <a:srgbClr val="233441"/>
          </a:solidFill>
          <a:ln/>
        </p:spPr>
      </p:sp>
      <p:sp>
        <p:nvSpPr>
          <p:cNvPr id="13" name="Text 9"/>
          <p:cNvSpPr/>
          <p:nvPr/>
        </p:nvSpPr>
        <p:spPr>
          <a:xfrm>
            <a:off x="8585200" y="2184400"/>
            <a:ext cx="26162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DM Sans" pitchFamily="34" charset="0"/>
                <a:ea typeface="DM Sans" pitchFamily="34" charset="-122"/>
                <a:cs typeface="DM Sans" pitchFamily="34" charset="-120"/>
              </a:rPr>
              <a:t>Brief validado</a:t>
            </a:r>
            <a:endParaRPr lang="en-US" sz="2000" dirty="0"/>
          </a:p>
        </p:txBody>
      </p:sp>
      <p:sp>
        <p:nvSpPr>
          <p:cNvPr id="14" name="Text 10"/>
          <p:cNvSpPr/>
          <p:nvPr/>
        </p:nvSpPr>
        <p:spPr>
          <a:xfrm>
            <a:off x="8585200" y="2565400"/>
            <a:ext cx="26162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CE2"/>
                </a:solidFill>
                <a:latin typeface="DM Sans" pitchFamily="34" charset="0"/>
                <a:ea typeface="DM Sans" pitchFamily="34" charset="-122"/>
                <a:cs typeface="DM Sans" pitchFamily="34" charset="-120"/>
              </a:rPr>
              <a:t>Listo para planificar</a:t>
            </a:r>
            <a:endParaRPr lang="en-US" sz="1600" dirty="0"/>
          </a:p>
        </p:txBody>
      </p:sp>
      <p:sp>
        <p:nvSpPr>
          <p:cNvPr id="15" name="Text 11"/>
          <p:cNvSpPr/>
          <p:nvPr/>
        </p:nvSpPr>
        <p:spPr>
          <a:xfrm>
            <a:off x="812800" y="496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QUÉ RECOGE</a:t>
            </a:r>
            <a:endParaRPr lang="en-US" sz="1200" dirty="0"/>
          </a:p>
        </p:txBody>
      </p:sp>
      <p:sp>
        <p:nvSpPr>
          <p:cNvPr id="16" name="Shape 12"/>
          <p:cNvSpPr/>
          <p:nvPr/>
        </p:nvSpPr>
        <p:spPr>
          <a:xfrm>
            <a:off x="819150" y="5340350"/>
            <a:ext cx="1169988" cy="495300"/>
          </a:xfrm>
          <a:prstGeom prst="roundRect">
            <a:avLst>
              <a:gd name="adj" fmla="val 50000"/>
            </a:avLst>
          </a:prstGeom>
          <a:noFill/>
          <a:ln w="12700">
            <a:solidFill>
              <a:srgbClr val="E6EAEE"/>
            </a:solidFill>
            <a:prstDash val="solid"/>
          </a:ln>
        </p:spPr>
      </p:sp>
      <p:sp>
        <p:nvSpPr>
          <p:cNvPr id="17" name="Text 13"/>
          <p:cNvSpPr/>
          <p:nvPr/>
        </p:nvSpPr>
        <p:spPr>
          <a:xfrm>
            <a:off x="1026160" y="5445760"/>
            <a:ext cx="80676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Nombre</a:t>
            </a:r>
            <a:endParaRPr lang="en-US" sz="1600" dirty="0"/>
          </a:p>
        </p:txBody>
      </p:sp>
      <p:sp>
        <p:nvSpPr>
          <p:cNvPr id="18" name="Shape 14"/>
          <p:cNvSpPr/>
          <p:nvPr/>
        </p:nvSpPr>
        <p:spPr>
          <a:xfrm>
            <a:off x="2103438" y="5340350"/>
            <a:ext cx="894239" cy="495300"/>
          </a:xfrm>
          <a:prstGeom prst="roundRect">
            <a:avLst>
              <a:gd name="adj" fmla="val 50000"/>
            </a:avLst>
          </a:prstGeom>
          <a:noFill/>
          <a:ln w="12700">
            <a:solidFill>
              <a:srgbClr val="E6EAEE"/>
            </a:solidFill>
            <a:prstDash val="solid"/>
          </a:ln>
        </p:spPr>
      </p:sp>
      <p:sp>
        <p:nvSpPr>
          <p:cNvPr id="19" name="Text 15"/>
          <p:cNvSpPr/>
          <p:nvPr/>
        </p:nvSpPr>
        <p:spPr>
          <a:xfrm>
            <a:off x="2310448" y="5445760"/>
            <a:ext cx="53101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Edad</a:t>
            </a:r>
            <a:endParaRPr lang="en-US" sz="1600" dirty="0"/>
          </a:p>
        </p:txBody>
      </p:sp>
      <p:sp>
        <p:nvSpPr>
          <p:cNvPr id="20" name="Shape 16"/>
          <p:cNvSpPr/>
          <p:nvPr/>
        </p:nvSpPr>
        <p:spPr>
          <a:xfrm>
            <a:off x="3111976" y="5340350"/>
            <a:ext cx="1076325" cy="495300"/>
          </a:xfrm>
          <a:prstGeom prst="roundRect">
            <a:avLst>
              <a:gd name="adj" fmla="val 50000"/>
            </a:avLst>
          </a:prstGeom>
          <a:noFill/>
          <a:ln w="12700">
            <a:solidFill>
              <a:srgbClr val="E6EAEE"/>
            </a:solidFill>
            <a:prstDash val="solid"/>
          </a:ln>
        </p:spPr>
      </p:sp>
      <p:sp>
        <p:nvSpPr>
          <p:cNvPr id="21" name="Text 17"/>
          <p:cNvSpPr/>
          <p:nvPr/>
        </p:nvSpPr>
        <p:spPr>
          <a:xfrm>
            <a:off x="3318986" y="5445760"/>
            <a:ext cx="71310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Rasgos</a:t>
            </a:r>
            <a:endParaRPr lang="en-US" sz="1600" dirty="0"/>
          </a:p>
        </p:txBody>
      </p:sp>
      <p:sp>
        <p:nvSpPr>
          <p:cNvPr id="22" name="Shape 18"/>
          <p:cNvSpPr/>
          <p:nvPr/>
        </p:nvSpPr>
        <p:spPr>
          <a:xfrm>
            <a:off x="4302601" y="5340350"/>
            <a:ext cx="1413431" cy="495300"/>
          </a:xfrm>
          <a:prstGeom prst="roundRect">
            <a:avLst>
              <a:gd name="adj" fmla="val 50000"/>
            </a:avLst>
          </a:prstGeom>
          <a:noFill/>
          <a:ln w="12700">
            <a:solidFill>
              <a:srgbClr val="E6EAEE"/>
            </a:solidFill>
            <a:prstDash val="solid"/>
          </a:ln>
        </p:spPr>
      </p:sp>
      <p:sp>
        <p:nvSpPr>
          <p:cNvPr id="23" name="Text 19"/>
          <p:cNvSpPr/>
          <p:nvPr/>
        </p:nvSpPr>
        <p:spPr>
          <a:xfrm>
            <a:off x="4509611" y="5445760"/>
            <a:ext cx="105021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Recuerdos</a:t>
            </a:r>
            <a:endParaRPr lang="en-US" sz="1600" dirty="0"/>
          </a:p>
        </p:txBody>
      </p:sp>
      <p:sp>
        <p:nvSpPr>
          <p:cNvPr id="24" name="Shape 20"/>
          <p:cNvSpPr/>
          <p:nvPr/>
        </p:nvSpPr>
        <p:spPr>
          <a:xfrm>
            <a:off x="5830332" y="5340350"/>
            <a:ext cx="867410" cy="495300"/>
          </a:xfrm>
          <a:prstGeom prst="roundRect">
            <a:avLst>
              <a:gd name="adj" fmla="val 50000"/>
            </a:avLst>
          </a:prstGeom>
          <a:noFill/>
          <a:ln w="12700">
            <a:solidFill>
              <a:srgbClr val="E6EAEE"/>
            </a:solidFill>
            <a:prstDash val="solid"/>
          </a:ln>
        </p:spPr>
      </p:sp>
      <p:sp>
        <p:nvSpPr>
          <p:cNvPr id="25" name="Text 21"/>
          <p:cNvSpPr/>
          <p:nvPr/>
        </p:nvSpPr>
        <p:spPr>
          <a:xfrm>
            <a:off x="6037342" y="5445760"/>
            <a:ext cx="50419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Tono</a:t>
            </a:r>
            <a:endParaRPr lang="en-US" sz="1600" dirty="0"/>
          </a:p>
        </p:txBody>
      </p:sp>
      <p:sp>
        <p:nvSpPr>
          <p:cNvPr id="26" name="Shape 22"/>
          <p:cNvSpPr/>
          <p:nvPr/>
        </p:nvSpPr>
        <p:spPr>
          <a:xfrm>
            <a:off x="6812042" y="5340350"/>
            <a:ext cx="2882979" cy="495300"/>
          </a:xfrm>
          <a:prstGeom prst="roundRect">
            <a:avLst>
              <a:gd name="adj" fmla="val 50000"/>
            </a:avLst>
          </a:prstGeom>
          <a:noFill/>
          <a:ln w="12700">
            <a:solidFill>
              <a:srgbClr val="FF7932"/>
            </a:solidFill>
            <a:prstDash val="solid"/>
          </a:ln>
        </p:spPr>
      </p:sp>
      <p:sp>
        <p:nvSpPr>
          <p:cNvPr id="27" name="Text 23"/>
          <p:cNvSpPr/>
          <p:nvPr/>
        </p:nvSpPr>
        <p:spPr>
          <a:xfrm>
            <a:off x="7019052" y="5445760"/>
            <a:ext cx="254302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Lo que no debe aparecer</a:t>
            </a:r>
            <a:endParaRPr lang="en-US" sz="1600" dirty="0"/>
          </a:p>
        </p:txBody>
      </p:sp>
      <p:sp>
        <p:nvSpPr>
          <p:cNvPr id="28" name="Text 24"/>
          <p:cNvSpPr/>
          <p:nvPr/>
        </p:nvSpPr>
        <p:spPr>
          <a:xfrm>
            <a:off x="654304" y="6238239"/>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03 · LECTURA</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Se lee en una web y se corrige señalando</a:t>
            </a:r>
            <a:endParaRPr lang="en-US" sz="3200" dirty="0"/>
          </a:p>
        </p:txBody>
      </p:sp>
      <p:sp>
        <p:nvSpPr>
          <p:cNvPr id="4" name="Shape 2"/>
          <p:cNvSpPr/>
          <p:nvPr/>
        </p:nvSpPr>
        <p:spPr>
          <a:xfrm>
            <a:off x="819150" y="2658111"/>
            <a:ext cx="5575300" cy="2456180"/>
          </a:xfrm>
          <a:prstGeom prst="roundRect">
            <a:avLst>
              <a:gd name="adj" fmla="val 3878"/>
            </a:avLst>
          </a:prstGeom>
          <a:solidFill>
            <a:srgbClr val="F4F6F8"/>
          </a:solidFill>
          <a:ln w="12700">
            <a:solidFill>
              <a:srgbClr val="E6EAEE"/>
            </a:solidFill>
            <a:prstDash val="solid"/>
          </a:ln>
        </p:spPr>
      </p:sp>
      <p:sp>
        <p:nvSpPr>
          <p:cNvPr id="5" name="Shape 3"/>
          <p:cNvSpPr/>
          <p:nvPr/>
        </p:nvSpPr>
        <p:spPr>
          <a:xfrm>
            <a:off x="975360" y="2814321"/>
            <a:ext cx="101600" cy="101600"/>
          </a:xfrm>
          <a:prstGeom prst="roundRect">
            <a:avLst>
              <a:gd name="adj" fmla="val 50000"/>
            </a:avLst>
          </a:prstGeom>
          <a:solidFill>
            <a:srgbClr val="CBD3DA"/>
          </a:solidFill>
          <a:ln/>
        </p:spPr>
      </p:sp>
      <p:sp>
        <p:nvSpPr>
          <p:cNvPr id="6" name="Shape 4"/>
          <p:cNvSpPr/>
          <p:nvPr/>
        </p:nvSpPr>
        <p:spPr>
          <a:xfrm>
            <a:off x="1153160" y="2814321"/>
            <a:ext cx="101600" cy="101600"/>
          </a:xfrm>
          <a:prstGeom prst="roundRect">
            <a:avLst>
              <a:gd name="adj" fmla="val 50000"/>
            </a:avLst>
          </a:prstGeom>
          <a:solidFill>
            <a:srgbClr val="CBD3DA"/>
          </a:solidFill>
          <a:ln/>
        </p:spPr>
      </p:sp>
      <p:sp>
        <p:nvSpPr>
          <p:cNvPr id="7" name="Shape 5"/>
          <p:cNvSpPr/>
          <p:nvPr/>
        </p:nvSpPr>
        <p:spPr>
          <a:xfrm>
            <a:off x="1330960" y="2814321"/>
            <a:ext cx="101600" cy="101600"/>
          </a:xfrm>
          <a:prstGeom prst="roundRect">
            <a:avLst>
              <a:gd name="adj" fmla="val 50000"/>
            </a:avLst>
          </a:prstGeom>
          <a:solidFill>
            <a:srgbClr val="CBD3DA"/>
          </a:solidFill>
          <a:ln/>
        </p:spPr>
      </p:sp>
      <p:sp>
        <p:nvSpPr>
          <p:cNvPr id="8" name="Shape 6"/>
          <p:cNvSpPr/>
          <p:nvPr/>
        </p:nvSpPr>
        <p:spPr>
          <a:xfrm>
            <a:off x="975360" y="3042921"/>
            <a:ext cx="2567940" cy="894080"/>
          </a:xfrm>
          <a:prstGeom prst="roundRect">
            <a:avLst>
              <a:gd name="adj" fmla="val 8523"/>
            </a:avLst>
          </a:prstGeom>
          <a:solidFill>
            <a:srgbClr val="FFFFFF"/>
          </a:solidFill>
          <a:ln/>
        </p:spPr>
      </p:sp>
      <p:sp>
        <p:nvSpPr>
          <p:cNvPr id="9" name="Text 7"/>
          <p:cNvSpPr/>
          <p:nvPr/>
        </p:nvSpPr>
        <p:spPr>
          <a:xfrm>
            <a:off x="1178560" y="3347721"/>
            <a:ext cx="222638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Portada</a:t>
            </a:r>
            <a:endParaRPr lang="en-US" sz="1600" dirty="0"/>
          </a:p>
        </p:txBody>
      </p:sp>
      <p:sp>
        <p:nvSpPr>
          <p:cNvPr id="10" name="Shape 8"/>
          <p:cNvSpPr/>
          <p:nvPr/>
        </p:nvSpPr>
        <p:spPr>
          <a:xfrm>
            <a:off x="3670300" y="3042921"/>
            <a:ext cx="2567940" cy="894080"/>
          </a:xfrm>
          <a:prstGeom prst="roundRect">
            <a:avLst>
              <a:gd name="adj" fmla="val 8523"/>
            </a:avLst>
          </a:prstGeom>
          <a:solidFill>
            <a:srgbClr val="FFFFFF"/>
          </a:solidFill>
          <a:ln/>
        </p:spPr>
      </p:sp>
      <p:sp>
        <p:nvSpPr>
          <p:cNvPr id="11" name="Text 9"/>
          <p:cNvSpPr/>
          <p:nvPr/>
        </p:nvSpPr>
        <p:spPr>
          <a:xfrm>
            <a:off x="3873500" y="3347721"/>
            <a:ext cx="222638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Índice</a:t>
            </a:r>
            <a:endParaRPr lang="en-US" sz="1600" dirty="0"/>
          </a:p>
        </p:txBody>
      </p:sp>
      <p:sp>
        <p:nvSpPr>
          <p:cNvPr id="12" name="Shape 10"/>
          <p:cNvSpPr/>
          <p:nvPr/>
        </p:nvSpPr>
        <p:spPr>
          <a:xfrm>
            <a:off x="975360" y="4064000"/>
            <a:ext cx="2567940" cy="894080"/>
          </a:xfrm>
          <a:prstGeom prst="roundRect">
            <a:avLst>
              <a:gd name="adj" fmla="val 8523"/>
            </a:avLst>
          </a:prstGeom>
          <a:solidFill>
            <a:srgbClr val="FFFFFF"/>
          </a:solidFill>
          <a:ln/>
        </p:spPr>
      </p:sp>
      <p:sp>
        <p:nvSpPr>
          <p:cNvPr id="13" name="Text 11"/>
          <p:cNvSpPr/>
          <p:nvPr/>
        </p:nvSpPr>
        <p:spPr>
          <a:xfrm>
            <a:off x="1178560" y="4368800"/>
            <a:ext cx="222638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Personajes</a:t>
            </a:r>
            <a:endParaRPr lang="en-US" sz="1600" dirty="0"/>
          </a:p>
        </p:txBody>
      </p:sp>
      <p:sp>
        <p:nvSpPr>
          <p:cNvPr id="14" name="Shape 12"/>
          <p:cNvSpPr/>
          <p:nvPr/>
        </p:nvSpPr>
        <p:spPr>
          <a:xfrm>
            <a:off x="3679825" y="4073525"/>
            <a:ext cx="2548890" cy="875030"/>
          </a:xfrm>
          <a:prstGeom prst="roundRect">
            <a:avLst>
              <a:gd name="adj" fmla="val 7620"/>
            </a:avLst>
          </a:prstGeom>
          <a:solidFill>
            <a:srgbClr val="FFFFFF"/>
          </a:solidFill>
          <a:ln w="19050">
            <a:solidFill>
              <a:srgbClr val="FF7932"/>
            </a:solidFill>
            <a:prstDash val="solid"/>
          </a:ln>
        </p:spPr>
      </p:sp>
      <p:sp>
        <p:nvSpPr>
          <p:cNvPr id="15" name="Text 13"/>
          <p:cNvSpPr/>
          <p:nvPr/>
        </p:nvSpPr>
        <p:spPr>
          <a:xfrm>
            <a:off x="3869690" y="4364990"/>
            <a:ext cx="2234235" cy="3175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Capítulos</a:t>
            </a:r>
            <a:endParaRPr lang="en-US" sz="1600" dirty="0"/>
          </a:p>
        </p:txBody>
      </p:sp>
      <p:sp>
        <p:nvSpPr>
          <p:cNvPr id="16" name="Text 14"/>
          <p:cNvSpPr/>
          <p:nvPr/>
        </p:nvSpPr>
        <p:spPr>
          <a:xfrm>
            <a:off x="6908800" y="3098800"/>
            <a:ext cx="14327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1</a:t>
            </a:r>
            <a:endParaRPr lang="en-US" sz="2000" dirty="0"/>
          </a:p>
        </p:txBody>
      </p:sp>
      <p:sp>
        <p:nvSpPr>
          <p:cNvPr id="17" name="Text 15"/>
          <p:cNvSpPr/>
          <p:nvPr/>
        </p:nvSpPr>
        <p:spPr>
          <a:xfrm>
            <a:off x="7153672" y="3159761"/>
            <a:ext cx="2413036"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233441"/>
                </a:solidFill>
                <a:latin typeface="DM Sans" pitchFamily="34" charset="0"/>
                <a:ea typeface="DM Sans" pitchFamily="34" charset="-122"/>
                <a:cs typeface="DM Sans" pitchFamily="34" charset="-120"/>
              </a:rPr>
              <a:t>Selecciona un fragmento</a:t>
            </a:r>
            <a:endParaRPr lang="en-US" sz="1600" dirty="0"/>
          </a:p>
        </p:txBody>
      </p:sp>
      <p:sp>
        <p:nvSpPr>
          <p:cNvPr id="18" name="Text 16"/>
          <p:cNvSpPr/>
          <p:nvPr/>
        </p:nvSpPr>
        <p:spPr>
          <a:xfrm>
            <a:off x="6908800" y="3708400"/>
            <a:ext cx="19740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2</a:t>
            </a:r>
            <a:endParaRPr lang="en-US" sz="2000" dirty="0"/>
          </a:p>
        </p:txBody>
      </p:sp>
      <p:sp>
        <p:nvSpPr>
          <p:cNvPr id="19" name="Text 17"/>
          <p:cNvSpPr/>
          <p:nvPr/>
        </p:nvSpPr>
        <p:spPr>
          <a:xfrm>
            <a:off x="7207806" y="3769361"/>
            <a:ext cx="1433433"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233441"/>
                </a:solidFill>
                <a:latin typeface="DM Sans" pitchFamily="34" charset="0"/>
                <a:ea typeface="DM Sans" pitchFamily="34" charset="-122"/>
                <a:cs typeface="DM Sans" pitchFamily="34" charset="-120"/>
              </a:rPr>
              <a:t>Pide el cambio</a:t>
            </a:r>
            <a:endParaRPr lang="en-US" sz="1600" dirty="0"/>
          </a:p>
        </p:txBody>
      </p:sp>
      <p:sp>
        <p:nvSpPr>
          <p:cNvPr id="20" name="Text 18"/>
          <p:cNvSpPr/>
          <p:nvPr/>
        </p:nvSpPr>
        <p:spPr>
          <a:xfrm>
            <a:off x="6908800" y="4318000"/>
            <a:ext cx="20399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3</a:t>
            </a:r>
            <a:endParaRPr lang="en-US" sz="2000" dirty="0"/>
          </a:p>
        </p:txBody>
      </p:sp>
      <p:sp>
        <p:nvSpPr>
          <p:cNvPr id="21" name="Text 19"/>
          <p:cNvSpPr/>
          <p:nvPr/>
        </p:nvSpPr>
        <p:spPr>
          <a:xfrm>
            <a:off x="7214394" y="4378961"/>
            <a:ext cx="3438177"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233441"/>
                </a:solidFill>
                <a:latin typeface="DM Sans" pitchFamily="34" charset="0"/>
                <a:ea typeface="DM Sans" pitchFamily="34" charset="-122"/>
                <a:cs typeface="DM Sans" pitchFamily="34" charset="-120"/>
              </a:rPr>
              <a:t>Recibe la versión nueva, ya validada</a:t>
            </a:r>
            <a:endParaRPr lang="en-US" sz="1600" dirty="0"/>
          </a:p>
        </p:txBody>
      </p:sp>
      <p:sp>
        <p:nvSpPr>
          <p:cNvPr id="22" name="Text 20"/>
          <p:cNvSpPr/>
          <p:nvPr/>
        </p:nvSpPr>
        <p:spPr>
          <a:xfrm>
            <a:off x="654304" y="6238239"/>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04 · ARQUITECTURA</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Once piezas; solo siete llevan modelo</a:t>
            </a:r>
            <a:endParaRPr lang="en-US" sz="3200" dirty="0"/>
          </a:p>
        </p:txBody>
      </p:sp>
      <p:sp>
        <p:nvSpPr>
          <p:cNvPr id="4" name="Shape 2"/>
          <p:cNvSpPr/>
          <p:nvPr/>
        </p:nvSpPr>
        <p:spPr>
          <a:xfrm>
            <a:off x="812800" y="1879600"/>
            <a:ext cx="10566400" cy="589280"/>
          </a:xfrm>
          <a:prstGeom prst="roundRect">
            <a:avLst>
              <a:gd name="adj" fmla="val 12931"/>
            </a:avLst>
          </a:prstGeom>
          <a:solidFill>
            <a:srgbClr val="233441"/>
          </a:solidFill>
          <a:ln/>
        </p:spPr>
      </p:sp>
      <p:sp>
        <p:nvSpPr>
          <p:cNvPr id="5" name="Text 3"/>
          <p:cNvSpPr/>
          <p:nvPr/>
        </p:nvSpPr>
        <p:spPr>
          <a:xfrm>
            <a:off x="1016000" y="2032000"/>
            <a:ext cx="10464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Orquestador </a:t>
            </a:r>
            <a:r>
              <a:rPr lang="en-US" sz="1600" b="1" dirty="0">
                <a:solidFill>
                  <a:srgbClr val="FBAA80"/>
                </a:solidFill>
                <a:latin typeface="DM Sans" pitchFamily="34" charset="0"/>
                <a:ea typeface="DM Sans" pitchFamily="34" charset="-122"/>
                <a:cs typeface="DM Sans" pitchFamily="34" charset="-120"/>
              </a:rPr>
              <a:t>· código determinista, sin modelo</a:t>
            </a:r>
            <a:endParaRPr lang="en-US" sz="1600" dirty="0"/>
          </a:p>
        </p:txBody>
      </p:sp>
      <p:sp>
        <p:nvSpPr>
          <p:cNvPr id="6" name="Text 4"/>
          <p:cNvSpPr/>
          <p:nvPr/>
        </p:nvSpPr>
        <p:spPr>
          <a:xfrm>
            <a:off x="812800" y="267208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CON MODELO · 7</a:t>
            </a:r>
            <a:endParaRPr lang="en-US" sz="1200" dirty="0"/>
          </a:p>
        </p:txBody>
      </p:sp>
      <p:sp>
        <p:nvSpPr>
          <p:cNvPr id="7" name="Shape 5"/>
          <p:cNvSpPr/>
          <p:nvPr/>
        </p:nvSpPr>
        <p:spPr>
          <a:xfrm>
            <a:off x="819150" y="2967989"/>
            <a:ext cx="1431449" cy="495300"/>
          </a:xfrm>
          <a:prstGeom prst="roundRect">
            <a:avLst>
              <a:gd name="adj" fmla="val 14103"/>
            </a:avLst>
          </a:prstGeom>
          <a:solidFill>
            <a:srgbClr val="FFF1E9"/>
          </a:solidFill>
          <a:ln w="12700">
            <a:solidFill>
              <a:srgbClr val="FF7932"/>
            </a:solidFill>
            <a:prstDash val="solid"/>
          </a:ln>
        </p:spPr>
      </p:sp>
      <p:sp>
        <p:nvSpPr>
          <p:cNvPr id="8" name="Text 6"/>
          <p:cNvSpPr/>
          <p:nvPr/>
        </p:nvSpPr>
        <p:spPr>
          <a:xfrm>
            <a:off x="848360" y="3124199"/>
            <a:ext cx="1373029"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33441"/>
                </a:solidFill>
                <a:latin typeface="DM Sans" pitchFamily="34" charset="0"/>
                <a:ea typeface="DM Sans" pitchFamily="34" charset="-122"/>
                <a:cs typeface="DM Sans" pitchFamily="34" charset="-120"/>
              </a:rPr>
              <a:t>Entrevistador</a:t>
            </a:r>
            <a:endParaRPr lang="en-US" sz="1200" dirty="0"/>
          </a:p>
        </p:txBody>
      </p:sp>
      <p:sp>
        <p:nvSpPr>
          <p:cNvPr id="9" name="Shape 7"/>
          <p:cNvSpPr/>
          <p:nvPr/>
        </p:nvSpPr>
        <p:spPr>
          <a:xfrm>
            <a:off x="2339499" y="2967989"/>
            <a:ext cx="1431528" cy="495300"/>
          </a:xfrm>
          <a:prstGeom prst="roundRect">
            <a:avLst>
              <a:gd name="adj" fmla="val 14103"/>
            </a:avLst>
          </a:prstGeom>
          <a:solidFill>
            <a:srgbClr val="FFF1E9"/>
          </a:solidFill>
          <a:ln w="12700">
            <a:solidFill>
              <a:srgbClr val="FF7932"/>
            </a:solidFill>
            <a:prstDash val="solid"/>
          </a:ln>
        </p:spPr>
      </p:sp>
      <p:sp>
        <p:nvSpPr>
          <p:cNvPr id="10" name="Text 8"/>
          <p:cNvSpPr/>
          <p:nvPr/>
        </p:nvSpPr>
        <p:spPr>
          <a:xfrm>
            <a:off x="2368709" y="3124199"/>
            <a:ext cx="1373108"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33441"/>
                </a:solidFill>
                <a:latin typeface="DM Sans" pitchFamily="34" charset="0"/>
                <a:ea typeface="DM Sans" pitchFamily="34" charset="-122"/>
                <a:cs typeface="DM Sans" pitchFamily="34" charset="-120"/>
              </a:rPr>
              <a:t>Planificador</a:t>
            </a:r>
            <a:endParaRPr lang="en-US" sz="1200" dirty="0"/>
          </a:p>
        </p:txBody>
      </p:sp>
      <p:sp>
        <p:nvSpPr>
          <p:cNvPr id="11" name="Shape 9"/>
          <p:cNvSpPr/>
          <p:nvPr/>
        </p:nvSpPr>
        <p:spPr>
          <a:xfrm>
            <a:off x="3859927" y="2967989"/>
            <a:ext cx="1431449" cy="495300"/>
          </a:xfrm>
          <a:prstGeom prst="roundRect">
            <a:avLst>
              <a:gd name="adj" fmla="val 14103"/>
            </a:avLst>
          </a:prstGeom>
          <a:solidFill>
            <a:srgbClr val="FFF1E9"/>
          </a:solidFill>
          <a:ln w="12700">
            <a:solidFill>
              <a:srgbClr val="FF7932"/>
            </a:solidFill>
            <a:prstDash val="solid"/>
          </a:ln>
        </p:spPr>
      </p:sp>
      <p:sp>
        <p:nvSpPr>
          <p:cNvPr id="12" name="Text 10"/>
          <p:cNvSpPr/>
          <p:nvPr/>
        </p:nvSpPr>
        <p:spPr>
          <a:xfrm>
            <a:off x="3889137" y="3124199"/>
            <a:ext cx="1373029"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33441"/>
                </a:solidFill>
                <a:latin typeface="DM Sans" pitchFamily="34" charset="0"/>
                <a:ea typeface="DM Sans" pitchFamily="34" charset="-122"/>
                <a:cs typeface="DM Sans" pitchFamily="34" charset="-120"/>
              </a:rPr>
              <a:t>Revisor del plan</a:t>
            </a:r>
            <a:endParaRPr lang="en-US" sz="1200" dirty="0"/>
          </a:p>
        </p:txBody>
      </p:sp>
      <p:sp>
        <p:nvSpPr>
          <p:cNvPr id="13" name="Shape 11"/>
          <p:cNvSpPr/>
          <p:nvPr/>
        </p:nvSpPr>
        <p:spPr>
          <a:xfrm>
            <a:off x="5380276" y="2967989"/>
            <a:ext cx="1431528" cy="495300"/>
          </a:xfrm>
          <a:prstGeom prst="roundRect">
            <a:avLst>
              <a:gd name="adj" fmla="val 14103"/>
            </a:avLst>
          </a:prstGeom>
          <a:solidFill>
            <a:srgbClr val="FFF1E9"/>
          </a:solidFill>
          <a:ln w="12700">
            <a:solidFill>
              <a:srgbClr val="FF7932"/>
            </a:solidFill>
            <a:prstDash val="solid"/>
          </a:ln>
        </p:spPr>
      </p:sp>
      <p:sp>
        <p:nvSpPr>
          <p:cNvPr id="14" name="Text 12"/>
          <p:cNvSpPr/>
          <p:nvPr/>
        </p:nvSpPr>
        <p:spPr>
          <a:xfrm>
            <a:off x="5409486" y="3124199"/>
            <a:ext cx="1373108"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33441"/>
                </a:solidFill>
                <a:latin typeface="DM Sans" pitchFamily="34" charset="0"/>
                <a:ea typeface="DM Sans" pitchFamily="34" charset="-122"/>
                <a:cs typeface="DM Sans" pitchFamily="34" charset="-120"/>
              </a:rPr>
              <a:t>Escritor</a:t>
            </a:r>
            <a:endParaRPr lang="en-US" sz="1200" dirty="0"/>
          </a:p>
        </p:txBody>
      </p:sp>
      <p:sp>
        <p:nvSpPr>
          <p:cNvPr id="15" name="Shape 13"/>
          <p:cNvSpPr/>
          <p:nvPr/>
        </p:nvSpPr>
        <p:spPr>
          <a:xfrm>
            <a:off x="6900704" y="2967989"/>
            <a:ext cx="1431449" cy="495300"/>
          </a:xfrm>
          <a:prstGeom prst="roundRect">
            <a:avLst>
              <a:gd name="adj" fmla="val 14103"/>
            </a:avLst>
          </a:prstGeom>
          <a:solidFill>
            <a:srgbClr val="FFF1E9"/>
          </a:solidFill>
          <a:ln w="12700">
            <a:solidFill>
              <a:srgbClr val="FF7932"/>
            </a:solidFill>
            <a:prstDash val="solid"/>
          </a:ln>
        </p:spPr>
      </p:sp>
      <p:sp>
        <p:nvSpPr>
          <p:cNvPr id="16" name="Text 14"/>
          <p:cNvSpPr/>
          <p:nvPr/>
        </p:nvSpPr>
        <p:spPr>
          <a:xfrm>
            <a:off x="6929914" y="3124199"/>
            <a:ext cx="1373029"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33441"/>
                </a:solidFill>
                <a:latin typeface="DM Sans" pitchFamily="34" charset="0"/>
                <a:ea typeface="DM Sans" pitchFamily="34" charset="-122"/>
                <a:cs typeface="DM Sans" pitchFamily="34" charset="-120"/>
              </a:rPr>
              <a:t>Editor</a:t>
            </a:r>
            <a:endParaRPr lang="en-US" sz="1200" dirty="0"/>
          </a:p>
        </p:txBody>
      </p:sp>
      <p:sp>
        <p:nvSpPr>
          <p:cNvPr id="17" name="Shape 15"/>
          <p:cNvSpPr/>
          <p:nvPr/>
        </p:nvSpPr>
        <p:spPr>
          <a:xfrm>
            <a:off x="8421053" y="2967989"/>
            <a:ext cx="1431449" cy="495300"/>
          </a:xfrm>
          <a:prstGeom prst="roundRect">
            <a:avLst>
              <a:gd name="adj" fmla="val 14103"/>
            </a:avLst>
          </a:prstGeom>
          <a:solidFill>
            <a:srgbClr val="FFF1E9"/>
          </a:solidFill>
          <a:ln w="12700">
            <a:solidFill>
              <a:srgbClr val="FF7932"/>
            </a:solidFill>
            <a:prstDash val="solid"/>
          </a:ln>
        </p:spPr>
      </p:sp>
      <p:sp>
        <p:nvSpPr>
          <p:cNvPr id="18" name="Text 16"/>
          <p:cNvSpPr/>
          <p:nvPr/>
        </p:nvSpPr>
        <p:spPr>
          <a:xfrm>
            <a:off x="8450263" y="3124199"/>
            <a:ext cx="1373029"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33441"/>
                </a:solidFill>
                <a:latin typeface="DM Sans" pitchFamily="34" charset="0"/>
                <a:ea typeface="DM Sans" pitchFamily="34" charset="-122"/>
                <a:cs typeface="DM Sans" pitchFamily="34" charset="-120"/>
              </a:rPr>
              <a:t>Juez</a:t>
            </a:r>
            <a:endParaRPr lang="en-US" sz="1200" dirty="0"/>
          </a:p>
        </p:txBody>
      </p:sp>
      <p:sp>
        <p:nvSpPr>
          <p:cNvPr id="19" name="Shape 17"/>
          <p:cNvSpPr/>
          <p:nvPr/>
        </p:nvSpPr>
        <p:spPr>
          <a:xfrm>
            <a:off x="9941402" y="2967989"/>
            <a:ext cx="1431449" cy="495300"/>
          </a:xfrm>
          <a:prstGeom prst="roundRect">
            <a:avLst>
              <a:gd name="adj" fmla="val 14103"/>
            </a:avLst>
          </a:prstGeom>
          <a:solidFill>
            <a:srgbClr val="FFF1E9"/>
          </a:solidFill>
          <a:ln w="12700">
            <a:solidFill>
              <a:srgbClr val="FF7932"/>
            </a:solidFill>
            <a:prstDash val="solid"/>
          </a:ln>
        </p:spPr>
      </p:sp>
      <p:sp>
        <p:nvSpPr>
          <p:cNvPr id="20" name="Text 18"/>
          <p:cNvSpPr/>
          <p:nvPr/>
        </p:nvSpPr>
        <p:spPr>
          <a:xfrm>
            <a:off x="9970612" y="3124199"/>
            <a:ext cx="1373029"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233441"/>
                </a:solidFill>
                <a:latin typeface="DM Sans" pitchFamily="34" charset="0"/>
                <a:ea typeface="DM Sans" pitchFamily="34" charset="-122"/>
                <a:cs typeface="DM Sans" pitchFamily="34" charset="-120"/>
              </a:rPr>
              <a:t>Resumidor</a:t>
            </a:r>
            <a:endParaRPr lang="en-US" sz="1200" dirty="0"/>
          </a:p>
        </p:txBody>
      </p:sp>
      <p:sp>
        <p:nvSpPr>
          <p:cNvPr id="21" name="Text 19"/>
          <p:cNvSpPr/>
          <p:nvPr/>
        </p:nvSpPr>
        <p:spPr>
          <a:xfrm>
            <a:off x="812800" y="36728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SIN MODELO, POR DISEÑO · 4 CON EL ORQUESTADOR</a:t>
            </a:r>
            <a:endParaRPr lang="en-US" sz="1200" dirty="0"/>
          </a:p>
        </p:txBody>
      </p:sp>
      <p:sp>
        <p:nvSpPr>
          <p:cNvPr id="22" name="Shape 20"/>
          <p:cNvSpPr/>
          <p:nvPr/>
        </p:nvSpPr>
        <p:spPr>
          <a:xfrm>
            <a:off x="819150" y="3968750"/>
            <a:ext cx="3458607" cy="525780"/>
          </a:xfrm>
          <a:prstGeom prst="roundRect">
            <a:avLst>
              <a:gd name="adj" fmla="val 13285"/>
            </a:avLst>
          </a:prstGeom>
          <a:solidFill>
            <a:srgbClr val="F4F6F8"/>
          </a:solidFill>
          <a:ln w="12700">
            <a:solidFill>
              <a:srgbClr val="CBD3DA"/>
            </a:solidFill>
            <a:prstDash val="solid"/>
          </a:ln>
        </p:spPr>
      </p:sp>
      <p:sp>
        <p:nvSpPr>
          <p:cNvPr id="23" name="Text 21"/>
          <p:cNvSpPr/>
          <p:nvPr/>
        </p:nvSpPr>
        <p:spPr>
          <a:xfrm>
            <a:off x="823519" y="4124960"/>
            <a:ext cx="3449869"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33441"/>
                </a:solidFill>
                <a:latin typeface="DM Sans" pitchFamily="34" charset="0"/>
                <a:ea typeface="DM Sans" pitchFamily="34" charset="-122"/>
                <a:cs typeface="DM Sans" pitchFamily="34" charset="-120"/>
              </a:rPr>
              <a:t>Ensamblador</a:t>
            </a:r>
            <a:endParaRPr lang="en-US" sz="1200" dirty="0"/>
          </a:p>
        </p:txBody>
      </p:sp>
      <p:sp>
        <p:nvSpPr>
          <p:cNvPr id="24" name="Shape 22"/>
          <p:cNvSpPr/>
          <p:nvPr/>
        </p:nvSpPr>
        <p:spPr>
          <a:xfrm>
            <a:off x="4366657" y="3968750"/>
            <a:ext cx="3458686" cy="525780"/>
          </a:xfrm>
          <a:prstGeom prst="roundRect">
            <a:avLst>
              <a:gd name="adj" fmla="val 13285"/>
            </a:avLst>
          </a:prstGeom>
          <a:solidFill>
            <a:srgbClr val="F4F6F8"/>
          </a:solidFill>
          <a:ln w="12700">
            <a:solidFill>
              <a:srgbClr val="CBD3DA"/>
            </a:solidFill>
            <a:prstDash val="solid"/>
          </a:ln>
        </p:spPr>
      </p:sp>
      <p:sp>
        <p:nvSpPr>
          <p:cNvPr id="25" name="Text 23"/>
          <p:cNvSpPr/>
          <p:nvPr/>
        </p:nvSpPr>
        <p:spPr>
          <a:xfrm>
            <a:off x="4371025" y="4124960"/>
            <a:ext cx="344995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33441"/>
                </a:solidFill>
                <a:latin typeface="DM Sans" pitchFamily="34" charset="0"/>
                <a:ea typeface="DM Sans" pitchFamily="34" charset="-122"/>
                <a:cs typeface="DM Sans" pitchFamily="34" charset="-120"/>
              </a:rPr>
              <a:t>Consolidador</a:t>
            </a:r>
            <a:endParaRPr lang="en-US" sz="1200" dirty="0"/>
          </a:p>
        </p:txBody>
      </p:sp>
      <p:sp>
        <p:nvSpPr>
          <p:cNvPr id="26" name="Shape 24"/>
          <p:cNvSpPr/>
          <p:nvPr/>
        </p:nvSpPr>
        <p:spPr>
          <a:xfrm>
            <a:off x="7914243" y="3968750"/>
            <a:ext cx="3458607" cy="525780"/>
          </a:xfrm>
          <a:prstGeom prst="roundRect">
            <a:avLst>
              <a:gd name="adj" fmla="val 13285"/>
            </a:avLst>
          </a:prstGeom>
          <a:solidFill>
            <a:srgbClr val="F4F6F8"/>
          </a:solidFill>
          <a:ln w="12700">
            <a:solidFill>
              <a:srgbClr val="CBD3DA"/>
            </a:solidFill>
            <a:prstDash val="solid"/>
          </a:ln>
        </p:spPr>
      </p:sp>
      <p:sp>
        <p:nvSpPr>
          <p:cNvPr id="27" name="Text 25"/>
          <p:cNvSpPr/>
          <p:nvPr/>
        </p:nvSpPr>
        <p:spPr>
          <a:xfrm>
            <a:off x="7918612" y="4124960"/>
            <a:ext cx="3449869"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33441"/>
                </a:solidFill>
                <a:latin typeface="DM Sans" pitchFamily="34" charset="0"/>
                <a:ea typeface="DM Sans" pitchFamily="34" charset="-122"/>
                <a:cs typeface="DM Sans" pitchFamily="34" charset="-120"/>
              </a:rPr>
              <a:t>Verificador de reglas</a:t>
            </a:r>
            <a:endParaRPr lang="en-US" sz="1200" dirty="0"/>
          </a:p>
        </p:txBody>
      </p:sp>
      <p:sp>
        <p:nvSpPr>
          <p:cNvPr id="28" name="Text 26"/>
          <p:cNvSpPr/>
          <p:nvPr/>
        </p:nvSpPr>
        <p:spPr>
          <a:xfrm>
            <a:off x="812800" y="470408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Lo que resuelve una consulta SQL </a:t>
            </a:r>
            <a:r>
              <a:rPr lang="en-US" sz="1600" b="1" dirty="0">
                <a:solidFill>
                  <a:srgbClr val="233441"/>
                </a:solidFill>
                <a:latin typeface="DM Sans" pitchFamily="34" charset="0"/>
                <a:ea typeface="DM Sans" pitchFamily="34" charset="-122"/>
                <a:cs typeface="DM Sans" pitchFamily="34" charset="-120"/>
              </a:rPr>
              <a:t>no lleva modelo</a:t>
            </a:r>
            <a:r>
              <a:rPr lang="en-US" sz="1600" dirty="0">
                <a:solidFill>
                  <a:srgbClr val="233441"/>
                </a:solidFill>
                <a:latin typeface="DM Sans" pitchFamily="34" charset="0"/>
                <a:ea typeface="DM Sans" pitchFamily="34" charset="-122"/>
                <a:cs typeface="DM Sans" pitchFamily="34" charset="-120"/>
              </a:rPr>
              <a:t>.</a:t>
            </a:r>
            <a:endParaRPr lang="en-US" sz="1600" dirty="0"/>
          </a:p>
        </p:txBody>
      </p:sp>
      <p:sp>
        <p:nvSpPr>
          <p:cNvPr id="29" name="Text 27"/>
          <p:cNvSpPr/>
          <p:nvPr/>
        </p:nvSpPr>
        <p:spPr>
          <a:xfrm>
            <a:off x="654304" y="6238239"/>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04 · ARQUITECTURA</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Un bucle por capítulo</a:t>
            </a:r>
            <a:endParaRPr lang="en-US" sz="3200" dirty="0"/>
          </a:p>
        </p:txBody>
      </p:sp>
      <p:sp>
        <p:nvSpPr>
          <p:cNvPr id="4" name="Shape 2"/>
          <p:cNvSpPr/>
          <p:nvPr/>
        </p:nvSpPr>
        <p:spPr>
          <a:xfrm>
            <a:off x="819150" y="2901950"/>
            <a:ext cx="2019300" cy="1003300"/>
          </a:xfrm>
          <a:prstGeom prst="roundRect">
            <a:avLst>
              <a:gd name="adj" fmla="val 9494"/>
            </a:avLst>
          </a:prstGeom>
          <a:solidFill>
            <a:srgbClr val="FFF1E9"/>
          </a:solidFill>
          <a:ln w="12700">
            <a:solidFill>
              <a:srgbClr val="FF7932"/>
            </a:solidFill>
            <a:prstDash val="solid"/>
          </a:ln>
        </p:spPr>
      </p:sp>
      <p:sp>
        <p:nvSpPr>
          <p:cNvPr id="5" name="Text 3"/>
          <p:cNvSpPr/>
          <p:nvPr/>
        </p:nvSpPr>
        <p:spPr>
          <a:xfrm>
            <a:off x="975360" y="3149600"/>
            <a:ext cx="175808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Escritor</a:t>
            </a:r>
            <a:endParaRPr lang="en-US" sz="1600" dirty="0"/>
          </a:p>
        </p:txBody>
      </p:sp>
      <p:sp>
        <p:nvSpPr>
          <p:cNvPr id="6" name="Text 4"/>
          <p:cNvSpPr/>
          <p:nvPr/>
        </p:nvSpPr>
        <p:spPr>
          <a:xfrm>
            <a:off x="975360" y="3444239"/>
            <a:ext cx="17580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Escribe el capítulo</a:t>
            </a:r>
            <a:endParaRPr lang="en-US" sz="1200" dirty="0"/>
          </a:p>
        </p:txBody>
      </p:sp>
      <p:sp>
        <p:nvSpPr>
          <p:cNvPr id="7" name="Shape 5"/>
          <p:cNvSpPr/>
          <p:nvPr/>
        </p:nvSpPr>
        <p:spPr>
          <a:xfrm>
            <a:off x="3663950" y="2901950"/>
            <a:ext cx="2019300" cy="1003300"/>
          </a:xfrm>
          <a:prstGeom prst="roundRect">
            <a:avLst>
              <a:gd name="adj" fmla="val 9494"/>
            </a:avLst>
          </a:prstGeom>
          <a:solidFill>
            <a:srgbClr val="F4F6F8"/>
          </a:solidFill>
          <a:ln w="12700">
            <a:solidFill>
              <a:srgbClr val="CBD3DA"/>
            </a:solidFill>
            <a:prstDash val="solid"/>
          </a:ln>
        </p:spPr>
      </p:sp>
      <p:sp>
        <p:nvSpPr>
          <p:cNvPr id="8" name="Text 6"/>
          <p:cNvSpPr/>
          <p:nvPr/>
        </p:nvSpPr>
        <p:spPr>
          <a:xfrm>
            <a:off x="3820160" y="3149600"/>
            <a:ext cx="175808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Validación</a:t>
            </a:r>
            <a:endParaRPr lang="en-US" sz="1600" dirty="0"/>
          </a:p>
        </p:txBody>
      </p:sp>
      <p:sp>
        <p:nvSpPr>
          <p:cNvPr id="9" name="Text 7"/>
          <p:cNvSpPr/>
          <p:nvPr/>
        </p:nvSpPr>
        <p:spPr>
          <a:xfrm>
            <a:off x="3820160" y="3444239"/>
            <a:ext cx="17580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Reglas · Editor · Juez</a:t>
            </a:r>
            <a:endParaRPr lang="en-US" sz="1200" dirty="0"/>
          </a:p>
        </p:txBody>
      </p:sp>
      <p:sp>
        <p:nvSpPr>
          <p:cNvPr id="10" name="Shape 8"/>
          <p:cNvSpPr/>
          <p:nvPr/>
        </p:nvSpPr>
        <p:spPr>
          <a:xfrm>
            <a:off x="6508750" y="2901950"/>
            <a:ext cx="2019300" cy="1003300"/>
          </a:xfrm>
          <a:prstGeom prst="roundRect">
            <a:avLst>
              <a:gd name="adj" fmla="val 9494"/>
            </a:avLst>
          </a:prstGeom>
          <a:solidFill>
            <a:srgbClr val="F4F6F8"/>
          </a:solidFill>
          <a:ln w="12700">
            <a:solidFill>
              <a:srgbClr val="CBD3DA"/>
            </a:solidFill>
            <a:prstDash val="solid"/>
          </a:ln>
        </p:spPr>
      </p:sp>
      <p:sp>
        <p:nvSpPr>
          <p:cNvPr id="11" name="Text 9"/>
          <p:cNvSpPr/>
          <p:nvPr/>
        </p:nvSpPr>
        <p:spPr>
          <a:xfrm>
            <a:off x="6664960" y="3058161"/>
            <a:ext cx="1758087" cy="258128"/>
          </a:xfrm>
          <a:prstGeom prst="rect">
            <a:avLst/>
          </a:prstGeom>
          <a:noFill/>
          <a:ln/>
        </p:spPr>
        <p:txBody>
          <a:bodyPr wrap="square" lIns="0" tIns="0" rIns="0" bIns="0" rtlCol="0" anchor="t">
            <a:normAutofit/>
          </a:bodyPr>
          <a:lstStyle/>
          <a:p>
            <a:pPr algn="l" indent="0" marL="0">
              <a:lnSpc>
                <a:spcPts val="1872"/>
              </a:lnSpc>
              <a:buNone/>
            </a:pPr>
            <a:r>
              <a:rPr lang="en-US" sz="1560" b="1" dirty="0">
                <a:solidFill>
                  <a:srgbClr val="233441"/>
                </a:solidFill>
                <a:latin typeface="DM Sans" pitchFamily="34" charset="0"/>
                <a:ea typeface="DM Sans" pitchFamily="34" charset="-122"/>
                <a:cs typeface="DM Sans" pitchFamily="34" charset="-120"/>
              </a:rPr>
              <a:t>Consolidación</a:t>
            </a:r>
            <a:endParaRPr lang="en-US" sz="1560" dirty="0"/>
          </a:p>
        </p:txBody>
      </p:sp>
      <p:sp>
        <p:nvSpPr>
          <p:cNvPr id="12" name="Text 10"/>
          <p:cNvSpPr/>
          <p:nvPr/>
        </p:nvSpPr>
        <p:spPr>
          <a:xfrm>
            <a:off x="6664960" y="3341688"/>
            <a:ext cx="1758087" cy="432753"/>
          </a:xfrm>
          <a:prstGeom prst="rect">
            <a:avLst/>
          </a:prstGeom>
          <a:noFill/>
          <a:ln/>
        </p:spPr>
        <p:txBody>
          <a:bodyPr wrap="square" lIns="0" tIns="0" rIns="0" bIns="0" rtlCol="0" anchor="t">
            <a:normAutofit/>
          </a:bodyPr>
          <a:lstStyle/>
          <a:p>
            <a:pPr algn="l" indent="0" marL="0">
              <a:lnSpc>
                <a:spcPts val="1612"/>
              </a:lnSpc>
              <a:buNone/>
            </a:pPr>
            <a:r>
              <a:rPr lang="en-US" sz="1151" dirty="0">
                <a:solidFill>
                  <a:srgbClr val="3C4645"/>
                </a:solidFill>
                <a:latin typeface="DM Sans" pitchFamily="34" charset="0"/>
                <a:ea typeface="DM Sans" pitchFamily="34" charset="-122"/>
                <a:cs typeface="DM Sans" pitchFamily="34" charset="-120"/>
              </a:rPr>
              <a:t>Resumidor · Consolidador</a:t>
            </a:r>
            <a:endParaRPr lang="en-US" sz="1151" dirty="0"/>
          </a:p>
        </p:txBody>
      </p:sp>
      <p:sp>
        <p:nvSpPr>
          <p:cNvPr id="13" name="Shape 11"/>
          <p:cNvSpPr/>
          <p:nvPr/>
        </p:nvSpPr>
        <p:spPr>
          <a:xfrm>
            <a:off x="9347200" y="2895600"/>
            <a:ext cx="2032000" cy="1016000"/>
          </a:xfrm>
          <a:prstGeom prst="roundRect">
            <a:avLst>
              <a:gd name="adj" fmla="val 10000"/>
            </a:avLst>
          </a:prstGeom>
          <a:solidFill>
            <a:srgbClr val="233441"/>
          </a:solidFill>
          <a:ln/>
        </p:spPr>
      </p:sp>
      <p:sp>
        <p:nvSpPr>
          <p:cNvPr id="14" name="Text 12"/>
          <p:cNvSpPr/>
          <p:nvPr/>
        </p:nvSpPr>
        <p:spPr>
          <a:xfrm>
            <a:off x="9499600" y="3149600"/>
            <a:ext cx="177901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DM Sans" pitchFamily="34" charset="0"/>
                <a:ea typeface="DM Sans" pitchFamily="34" charset="-122"/>
                <a:cs typeface="DM Sans" pitchFamily="34" charset="-120"/>
              </a:rPr>
              <a:t>Story bible</a:t>
            </a:r>
            <a:endParaRPr lang="en-US" sz="1600" dirty="0"/>
          </a:p>
        </p:txBody>
      </p:sp>
      <p:sp>
        <p:nvSpPr>
          <p:cNvPr id="15" name="Text 13"/>
          <p:cNvSpPr/>
          <p:nvPr/>
        </p:nvSpPr>
        <p:spPr>
          <a:xfrm>
            <a:off x="9499600" y="3444239"/>
            <a:ext cx="17790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CE2"/>
                </a:solidFill>
                <a:latin typeface="DM Sans" pitchFamily="34" charset="0"/>
                <a:ea typeface="DM Sans" pitchFamily="34" charset="-122"/>
                <a:cs typeface="DM Sans" pitchFamily="34" charset="-120"/>
              </a:rPr>
              <a:t>SQLite · deltas</a:t>
            </a:r>
            <a:endParaRPr lang="en-US" sz="1200" dirty="0"/>
          </a:p>
        </p:txBody>
      </p:sp>
      <p:pic>
        <p:nvPicPr>
          <p:cNvPr id="16" name="Image 0" descr="connector">    </p:cNvPr>
          <p:cNvPicPr>
            <a:picLocks noChangeAspect="1"/>
          </p:cNvPicPr>
          <p:nvPr/>
        </p:nvPicPr>
        <p:blipFill>
          <a:blip r:embed="rId1"/>
          <a:srcRect l="0" r="0" t="0" b="0"/>
          <a:stretch/>
        </p:blipFill>
        <p:spPr>
          <a:xfrm>
            <a:off x="2794000" y="3352800"/>
            <a:ext cx="914400" cy="101600"/>
          </a:xfrm>
          <a:prstGeom prst="rect">
            <a:avLst/>
          </a:prstGeom>
        </p:spPr>
      </p:pic>
      <p:pic>
        <p:nvPicPr>
          <p:cNvPr id="17" name="Image 1" descr="connector">    </p:cNvPr>
          <p:cNvPicPr>
            <a:picLocks noChangeAspect="1"/>
          </p:cNvPicPr>
          <p:nvPr/>
        </p:nvPicPr>
        <p:blipFill>
          <a:blip r:embed="rId2"/>
          <a:srcRect l="0" r="0" t="0" b="0"/>
          <a:stretch/>
        </p:blipFill>
        <p:spPr>
          <a:xfrm>
            <a:off x="5638800" y="3352800"/>
            <a:ext cx="914400" cy="101600"/>
          </a:xfrm>
          <a:prstGeom prst="rect">
            <a:avLst/>
          </a:prstGeom>
        </p:spPr>
      </p:pic>
      <p:pic>
        <p:nvPicPr>
          <p:cNvPr id="18" name="Image 2" descr="connector">    </p:cNvPr>
          <p:cNvPicPr>
            <a:picLocks noChangeAspect="1"/>
          </p:cNvPicPr>
          <p:nvPr/>
        </p:nvPicPr>
        <p:blipFill>
          <a:blip r:embed="rId3"/>
          <a:srcRect l="0" r="0" t="0" b="0"/>
          <a:stretch/>
        </p:blipFill>
        <p:spPr>
          <a:xfrm>
            <a:off x="8483600" y="3352800"/>
            <a:ext cx="914400" cy="101600"/>
          </a:xfrm>
          <a:prstGeom prst="rect">
            <a:avLst/>
          </a:prstGeom>
        </p:spPr>
      </p:pic>
      <p:pic>
        <p:nvPicPr>
          <p:cNvPr id="19" name="Image 3" descr="connector">    </p:cNvPr>
          <p:cNvPicPr>
            <a:picLocks noChangeAspect="1"/>
          </p:cNvPicPr>
          <p:nvPr/>
        </p:nvPicPr>
        <p:blipFill>
          <a:blip r:embed="rId4"/>
          <a:srcRect l="0" r="0" t="0" b="0"/>
          <a:stretch/>
        </p:blipFill>
        <p:spPr>
          <a:xfrm>
            <a:off x="10312400" y="2336800"/>
            <a:ext cx="101600" cy="609600"/>
          </a:xfrm>
          <a:prstGeom prst="rect">
            <a:avLst/>
          </a:prstGeom>
        </p:spPr>
      </p:pic>
      <p:pic>
        <p:nvPicPr>
          <p:cNvPr id="20" name="Image 4" descr="connector">    </p:cNvPr>
          <p:cNvPicPr>
            <a:picLocks noChangeAspect="1"/>
          </p:cNvPicPr>
          <p:nvPr/>
        </p:nvPicPr>
        <p:blipFill>
          <a:blip r:embed="rId5"/>
          <a:srcRect l="0" r="0" t="0" b="0"/>
          <a:stretch/>
        </p:blipFill>
        <p:spPr>
          <a:xfrm>
            <a:off x="1778000" y="2336800"/>
            <a:ext cx="8636000" cy="101600"/>
          </a:xfrm>
          <a:prstGeom prst="rect">
            <a:avLst/>
          </a:prstGeom>
        </p:spPr>
      </p:pic>
      <p:pic>
        <p:nvPicPr>
          <p:cNvPr id="21" name="Image 5" descr="connector">    </p:cNvPr>
          <p:cNvPicPr>
            <a:picLocks noChangeAspect="1"/>
          </p:cNvPicPr>
          <p:nvPr/>
        </p:nvPicPr>
        <p:blipFill>
          <a:blip r:embed="rId6"/>
          <a:srcRect l="0" r="0" t="0" b="0"/>
          <a:stretch/>
        </p:blipFill>
        <p:spPr>
          <a:xfrm>
            <a:off x="1778000" y="2336800"/>
            <a:ext cx="101600" cy="609600"/>
          </a:xfrm>
          <a:prstGeom prst="rect">
            <a:avLst/>
          </a:prstGeom>
        </p:spPr>
      </p:pic>
      <p:pic>
        <p:nvPicPr>
          <p:cNvPr id="22" name="Image 6" descr="connector">    </p:cNvPr>
          <p:cNvPicPr>
            <a:picLocks noChangeAspect="1"/>
          </p:cNvPicPr>
          <p:nvPr/>
        </p:nvPicPr>
        <p:blipFill>
          <a:blip r:embed="rId7"/>
          <a:srcRect l="0" r="0" t="0" b="0"/>
          <a:stretch/>
        </p:blipFill>
        <p:spPr>
          <a:xfrm>
            <a:off x="4622800" y="3860800"/>
            <a:ext cx="101600" cy="609600"/>
          </a:xfrm>
          <a:prstGeom prst="rect">
            <a:avLst/>
          </a:prstGeom>
        </p:spPr>
      </p:pic>
      <p:pic>
        <p:nvPicPr>
          <p:cNvPr id="23" name="Image 7" descr="connector">    </p:cNvPr>
          <p:cNvPicPr>
            <a:picLocks noChangeAspect="1"/>
          </p:cNvPicPr>
          <p:nvPr/>
        </p:nvPicPr>
        <p:blipFill>
          <a:blip r:embed="rId8"/>
          <a:srcRect l="0" r="0" t="0" b="0"/>
          <a:stretch/>
        </p:blipFill>
        <p:spPr>
          <a:xfrm>
            <a:off x="1778000" y="4368800"/>
            <a:ext cx="2946400" cy="101600"/>
          </a:xfrm>
          <a:prstGeom prst="rect">
            <a:avLst/>
          </a:prstGeom>
        </p:spPr>
      </p:pic>
      <p:pic>
        <p:nvPicPr>
          <p:cNvPr id="24" name="Image 8" descr="connector">    </p:cNvPr>
          <p:cNvPicPr>
            <a:picLocks noChangeAspect="1"/>
          </p:cNvPicPr>
          <p:nvPr/>
        </p:nvPicPr>
        <p:blipFill>
          <a:blip r:embed="rId9"/>
          <a:srcRect l="0" r="0" t="0" b="0"/>
          <a:stretch/>
        </p:blipFill>
        <p:spPr>
          <a:xfrm>
            <a:off x="1778000" y="3860800"/>
            <a:ext cx="101600" cy="609600"/>
          </a:xfrm>
          <a:prstGeom prst="rect">
            <a:avLst/>
          </a:prstGeom>
        </p:spPr>
      </p:pic>
      <p:sp>
        <p:nvSpPr>
          <p:cNvPr id="25" name="Text 14"/>
          <p:cNvSpPr/>
          <p:nvPr/>
        </p:nvSpPr>
        <p:spPr>
          <a:xfrm>
            <a:off x="4315460" y="1955800"/>
            <a:ext cx="366268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33441"/>
                </a:solidFill>
                <a:latin typeface="DM Sans" pitchFamily="34" charset="0"/>
                <a:ea typeface="DM Sans" pitchFamily="34" charset="-122"/>
                <a:cs typeface="DM Sans" pitchFamily="34" charset="-120"/>
              </a:rPr>
              <a:t>Contexto para el capítulo siguiente</a:t>
            </a:r>
            <a:endParaRPr lang="en-US" sz="1200" dirty="0"/>
          </a:p>
        </p:txBody>
      </p:sp>
      <p:sp>
        <p:nvSpPr>
          <p:cNvPr id="26" name="Text 15"/>
          <p:cNvSpPr/>
          <p:nvPr/>
        </p:nvSpPr>
        <p:spPr>
          <a:xfrm>
            <a:off x="1930400" y="45466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782"/>
                </a:solidFill>
                <a:latin typeface="DM Sans" pitchFamily="34" charset="0"/>
                <a:ea typeface="DM Sans" pitchFamily="34" charset="-122"/>
                <a:cs typeface="DM Sans" pitchFamily="34" charset="-120"/>
              </a:rPr>
              <a:t>No pasa: vuelve al Escritor</a:t>
            </a:r>
            <a:endParaRPr lang="en-US" sz="1200" dirty="0"/>
          </a:p>
        </p:txBody>
      </p:sp>
      <p:sp>
        <p:nvSpPr>
          <p:cNvPr id="27" name="Text 16"/>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04 · STORY BIBLE</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El mundo se reconstruye con deltas</a:t>
            </a:r>
            <a:endParaRPr lang="en-US" sz="3200" dirty="0"/>
          </a:p>
        </p:txBody>
      </p:sp>
      <p:sp>
        <p:nvSpPr>
          <p:cNvPr id="4" name="Shape 2"/>
          <p:cNvSpPr/>
          <p:nvPr/>
        </p:nvSpPr>
        <p:spPr>
          <a:xfrm>
            <a:off x="812800" y="1930400"/>
            <a:ext cx="2037477" cy="863600"/>
          </a:xfrm>
          <a:prstGeom prst="roundRect">
            <a:avLst>
              <a:gd name="adj" fmla="val 11765"/>
            </a:avLst>
          </a:prstGeom>
          <a:solidFill>
            <a:srgbClr val="F4F6F8"/>
          </a:solidFill>
          <a:ln/>
        </p:spPr>
      </p:sp>
      <p:sp>
        <p:nvSpPr>
          <p:cNvPr id="5" name="Text 3"/>
          <p:cNvSpPr/>
          <p:nvPr/>
        </p:nvSpPr>
        <p:spPr>
          <a:xfrm>
            <a:off x="886886" y="2184400"/>
            <a:ext cx="1889305"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233441"/>
                </a:solidFill>
                <a:latin typeface="DM Sans" pitchFamily="34" charset="0"/>
                <a:ea typeface="DM Sans" pitchFamily="34" charset="-122"/>
                <a:cs typeface="DM Sans" pitchFamily="34" charset="-120"/>
              </a:rPr>
              <a:t>Δ cap. 1</a:t>
            </a:r>
            <a:endParaRPr lang="en-US" sz="2000" dirty="0"/>
          </a:p>
        </p:txBody>
      </p:sp>
      <p:sp>
        <p:nvSpPr>
          <p:cNvPr id="6" name="Text 4"/>
          <p:cNvSpPr/>
          <p:nvPr/>
        </p:nvSpPr>
        <p:spPr>
          <a:xfrm>
            <a:off x="3002677" y="2184400"/>
            <a:ext cx="19788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a:t>
            </a:r>
            <a:endParaRPr lang="en-US" sz="2000" dirty="0"/>
          </a:p>
        </p:txBody>
      </p:sp>
      <p:sp>
        <p:nvSpPr>
          <p:cNvPr id="7" name="Shape 5"/>
          <p:cNvSpPr/>
          <p:nvPr/>
        </p:nvSpPr>
        <p:spPr>
          <a:xfrm>
            <a:off x="3302159" y="1930400"/>
            <a:ext cx="2037556" cy="863600"/>
          </a:xfrm>
          <a:prstGeom prst="roundRect">
            <a:avLst>
              <a:gd name="adj" fmla="val 11765"/>
            </a:avLst>
          </a:prstGeom>
          <a:solidFill>
            <a:srgbClr val="F4F6F8"/>
          </a:solidFill>
          <a:ln/>
        </p:spPr>
      </p:sp>
      <p:sp>
        <p:nvSpPr>
          <p:cNvPr id="8" name="Text 6"/>
          <p:cNvSpPr/>
          <p:nvPr/>
        </p:nvSpPr>
        <p:spPr>
          <a:xfrm>
            <a:off x="3376244" y="2184400"/>
            <a:ext cx="1889387"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233441"/>
                </a:solidFill>
                <a:latin typeface="DM Sans" pitchFamily="34" charset="0"/>
                <a:ea typeface="DM Sans" pitchFamily="34" charset="-122"/>
                <a:cs typeface="DM Sans" pitchFamily="34" charset="-120"/>
              </a:rPr>
              <a:t>Δ cap. 2</a:t>
            </a:r>
            <a:endParaRPr lang="en-US" sz="2000" dirty="0"/>
          </a:p>
        </p:txBody>
      </p:sp>
      <p:sp>
        <p:nvSpPr>
          <p:cNvPr id="9" name="Text 7"/>
          <p:cNvSpPr/>
          <p:nvPr/>
        </p:nvSpPr>
        <p:spPr>
          <a:xfrm>
            <a:off x="5492115" y="2184400"/>
            <a:ext cx="19788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a:t>
            </a:r>
            <a:endParaRPr lang="en-US" sz="2000" dirty="0"/>
          </a:p>
        </p:txBody>
      </p:sp>
      <p:sp>
        <p:nvSpPr>
          <p:cNvPr id="10" name="Shape 8"/>
          <p:cNvSpPr/>
          <p:nvPr/>
        </p:nvSpPr>
        <p:spPr>
          <a:xfrm>
            <a:off x="5791597" y="1930400"/>
            <a:ext cx="2037556" cy="863600"/>
          </a:xfrm>
          <a:prstGeom prst="roundRect">
            <a:avLst>
              <a:gd name="adj" fmla="val 11765"/>
            </a:avLst>
          </a:prstGeom>
          <a:solidFill>
            <a:srgbClr val="F4F6F8"/>
          </a:solidFill>
          <a:ln/>
        </p:spPr>
      </p:sp>
      <p:sp>
        <p:nvSpPr>
          <p:cNvPr id="11" name="Text 9"/>
          <p:cNvSpPr/>
          <p:nvPr/>
        </p:nvSpPr>
        <p:spPr>
          <a:xfrm>
            <a:off x="5865682" y="2184400"/>
            <a:ext cx="1889387"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233441"/>
                </a:solidFill>
                <a:latin typeface="DM Sans" pitchFamily="34" charset="0"/>
                <a:ea typeface="DM Sans" pitchFamily="34" charset="-122"/>
                <a:cs typeface="DM Sans" pitchFamily="34" charset="-120"/>
              </a:rPr>
              <a:t>Δ cap. 3</a:t>
            </a:r>
            <a:endParaRPr lang="en-US" sz="2000" dirty="0"/>
          </a:p>
        </p:txBody>
      </p:sp>
      <p:sp>
        <p:nvSpPr>
          <p:cNvPr id="12" name="Text 10"/>
          <p:cNvSpPr/>
          <p:nvPr/>
        </p:nvSpPr>
        <p:spPr>
          <a:xfrm>
            <a:off x="7981553" y="2184400"/>
            <a:ext cx="2253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a:t>
            </a:r>
            <a:endParaRPr lang="en-US" sz="2000" dirty="0"/>
          </a:p>
        </p:txBody>
      </p:sp>
      <p:sp>
        <p:nvSpPr>
          <p:cNvPr id="13" name="Text 11"/>
          <p:cNvSpPr/>
          <p:nvPr/>
        </p:nvSpPr>
        <p:spPr>
          <a:xfrm>
            <a:off x="8308499" y="2184400"/>
            <a:ext cx="19788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a:t>
            </a:r>
            <a:endParaRPr lang="en-US" sz="2000" dirty="0"/>
          </a:p>
        </p:txBody>
      </p:sp>
      <p:sp>
        <p:nvSpPr>
          <p:cNvPr id="14" name="Shape 12"/>
          <p:cNvSpPr/>
          <p:nvPr/>
        </p:nvSpPr>
        <p:spPr>
          <a:xfrm>
            <a:off x="8607981" y="1930400"/>
            <a:ext cx="2771219" cy="863600"/>
          </a:xfrm>
          <a:prstGeom prst="roundRect">
            <a:avLst>
              <a:gd name="adj" fmla="val 11765"/>
            </a:avLst>
          </a:prstGeom>
          <a:solidFill>
            <a:srgbClr val="233441"/>
          </a:solidFill>
          <a:ln/>
        </p:spPr>
      </p:sp>
      <p:sp>
        <p:nvSpPr>
          <p:cNvPr id="15" name="Text 13"/>
          <p:cNvSpPr/>
          <p:nvPr/>
        </p:nvSpPr>
        <p:spPr>
          <a:xfrm>
            <a:off x="8671060" y="2184400"/>
            <a:ext cx="2645060"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FFFFFF"/>
                </a:solidFill>
                <a:latin typeface="DM Sans" pitchFamily="34" charset="0"/>
                <a:ea typeface="DM Sans" pitchFamily="34" charset="-122"/>
                <a:cs typeface="DM Sans" pitchFamily="34" charset="-120"/>
              </a:rPr>
              <a:t>Estado en el cap. N</a:t>
            </a:r>
            <a:endParaRPr lang="en-US" sz="2000" dirty="0"/>
          </a:p>
        </p:txBody>
      </p:sp>
      <p:sp>
        <p:nvSpPr>
          <p:cNvPr id="16" name="Text 14"/>
          <p:cNvSpPr/>
          <p:nvPr/>
        </p:nvSpPr>
        <p:spPr>
          <a:xfrm>
            <a:off x="812800" y="3647442"/>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233441"/>
                </a:solidFill>
                <a:latin typeface="DM Sans" pitchFamily="34" charset="0"/>
                <a:ea typeface="DM Sans" pitchFamily="34" charset="-122"/>
                <a:cs typeface="DM Sans" pitchFamily="34" charset="-120"/>
              </a:rPr>
              <a:t>No se relee el texto: </a:t>
            </a:r>
            <a:r>
              <a:rPr lang="en-US" sz="2000" b="1" dirty="0">
                <a:solidFill>
                  <a:srgbClr val="233441"/>
                </a:solidFill>
                <a:latin typeface="DM Sans" pitchFamily="34" charset="0"/>
                <a:ea typeface="DM Sans" pitchFamily="34" charset="-122"/>
                <a:cs typeface="DM Sans" pitchFamily="34" charset="-120"/>
              </a:rPr>
              <a:t>se acumula lo que cambió.</a:t>
            </a:r>
            <a:endParaRPr lang="en-US" sz="2000" dirty="0"/>
          </a:p>
        </p:txBody>
      </p:sp>
      <p:sp>
        <p:nvSpPr>
          <p:cNvPr id="17" name="Text 15"/>
          <p:cNvSpPr/>
          <p:nvPr/>
        </p:nvSpPr>
        <p:spPr>
          <a:xfrm>
            <a:off x="812800" y="48310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EN SQLITE</a:t>
            </a:r>
            <a:endParaRPr lang="en-US" sz="1200" dirty="0"/>
          </a:p>
        </p:txBody>
      </p:sp>
      <p:sp>
        <p:nvSpPr>
          <p:cNvPr id="18" name="Shape 16"/>
          <p:cNvSpPr/>
          <p:nvPr/>
        </p:nvSpPr>
        <p:spPr>
          <a:xfrm>
            <a:off x="812800" y="5158742"/>
            <a:ext cx="2565400" cy="0"/>
          </a:xfrm>
          <a:prstGeom prst="line">
            <a:avLst/>
          </a:prstGeom>
          <a:noFill/>
          <a:ln w="25400">
            <a:solidFill>
              <a:srgbClr val="FF7932"/>
            </a:solidFill>
            <a:prstDash val="solid"/>
          </a:ln>
        </p:spPr>
      </p:sp>
      <p:sp>
        <p:nvSpPr>
          <p:cNvPr id="19" name="Text 17"/>
          <p:cNvSpPr/>
          <p:nvPr/>
        </p:nvSpPr>
        <p:spPr>
          <a:xfrm>
            <a:off x="812800" y="5273042"/>
            <a:ext cx="264236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Hechos y sus usos por capítulo</a:t>
            </a:r>
            <a:endParaRPr lang="en-US" sz="1600" dirty="0"/>
          </a:p>
        </p:txBody>
      </p:sp>
      <p:sp>
        <p:nvSpPr>
          <p:cNvPr id="20" name="Shape 18"/>
          <p:cNvSpPr/>
          <p:nvPr/>
        </p:nvSpPr>
        <p:spPr>
          <a:xfrm>
            <a:off x="3479800" y="5158742"/>
            <a:ext cx="2565400" cy="0"/>
          </a:xfrm>
          <a:prstGeom prst="line">
            <a:avLst/>
          </a:prstGeom>
          <a:noFill/>
          <a:ln w="25400">
            <a:solidFill>
              <a:srgbClr val="FF7932"/>
            </a:solidFill>
            <a:prstDash val="solid"/>
          </a:ln>
        </p:spPr>
      </p:sp>
      <p:sp>
        <p:nvSpPr>
          <p:cNvPr id="21" name="Text 19"/>
          <p:cNvSpPr/>
          <p:nvPr/>
        </p:nvSpPr>
        <p:spPr>
          <a:xfrm>
            <a:off x="3479800" y="5273042"/>
            <a:ext cx="264236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Cronología</a:t>
            </a:r>
            <a:endParaRPr lang="en-US" sz="1600" dirty="0"/>
          </a:p>
        </p:txBody>
      </p:sp>
      <p:sp>
        <p:nvSpPr>
          <p:cNvPr id="22" name="Shape 20"/>
          <p:cNvSpPr/>
          <p:nvPr/>
        </p:nvSpPr>
        <p:spPr>
          <a:xfrm>
            <a:off x="6146800" y="5158742"/>
            <a:ext cx="2565400" cy="0"/>
          </a:xfrm>
          <a:prstGeom prst="line">
            <a:avLst/>
          </a:prstGeom>
          <a:noFill/>
          <a:ln w="25400">
            <a:solidFill>
              <a:srgbClr val="FF7932"/>
            </a:solidFill>
            <a:prstDash val="solid"/>
          </a:ln>
        </p:spPr>
      </p:sp>
      <p:sp>
        <p:nvSpPr>
          <p:cNvPr id="23" name="Text 21"/>
          <p:cNvSpPr/>
          <p:nvPr/>
        </p:nvSpPr>
        <p:spPr>
          <a:xfrm>
            <a:off x="6146800" y="5273042"/>
            <a:ext cx="264236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Fichas versionadas</a:t>
            </a:r>
            <a:endParaRPr lang="en-US" sz="1600" dirty="0"/>
          </a:p>
        </p:txBody>
      </p:sp>
      <p:sp>
        <p:nvSpPr>
          <p:cNvPr id="24" name="Shape 22"/>
          <p:cNvSpPr/>
          <p:nvPr/>
        </p:nvSpPr>
        <p:spPr>
          <a:xfrm>
            <a:off x="8813800" y="5158742"/>
            <a:ext cx="2565400" cy="0"/>
          </a:xfrm>
          <a:prstGeom prst="line">
            <a:avLst/>
          </a:prstGeom>
          <a:noFill/>
          <a:ln w="25400">
            <a:solidFill>
              <a:srgbClr val="FF7932"/>
            </a:solidFill>
            <a:prstDash val="solid"/>
          </a:ln>
        </p:spPr>
      </p:sp>
      <p:sp>
        <p:nvSpPr>
          <p:cNvPr id="25" name="Text 23"/>
          <p:cNvSpPr/>
          <p:nvPr/>
        </p:nvSpPr>
        <p:spPr>
          <a:xfrm>
            <a:off x="8813800" y="5273042"/>
            <a:ext cx="264236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Deltas</a:t>
            </a:r>
            <a:endParaRPr lang="en-US" sz="1600" dirty="0"/>
          </a:p>
        </p:txBody>
      </p:sp>
      <p:sp>
        <p:nvSpPr>
          <p:cNvPr id="26" name="Text 24"/>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04 · CONTEXTO, TOOLS Y HOOKS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Contexto acotado, herramientas mínimas</a:t>
            </a:r>
            <a:endParaRPr lang="en-US" sz="3200" dirty="0"/>
          </a:p>
        </p:txBody>
      </p:sp>
      <p:sp>
        <p:nvSpPr>
          <p:cNvPr id="4" name="Shape 2"/>
          <p:cNvSpPr/>
          <p:nvPr/>
        </p:nvSpPr>
        <p:spPr>
          <a:xfrm>
            <a:off x="825500" y="3068321"/>
            <a:ext cx="0" cy="1635760"/>
          </a:xfrm>
          <a:prstGeom prst="line">
            <a:avLst/>
          </a:prstGeom>
          <a:noFill/>
          <a:ln w="25400">
            <a:solidFill>
              <a:srgbClr val="FF7932"/>
            </a:solidFill>
            <a:prstDash val="solid"/>
          </a:ln>
        </p:spPr>
      </p:sp>
      <p:sp>
        <p:nvSpPr>
          <p:cNvPr id="5" name="Text 3"/>
          <p:cNvSpPr/>
          <p:nvPr/>
        </p:nvSpPr>
        <p:spPr>
          <a:xfrm>
            <a:off x="1092200" y="3068321"/>
            <a:ext cx="3200430"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FF7932"/>
                </a:solidFill>
                <a:latin typeface="DM Sans" pitchFamily="34" charset="0"/>
                <a:ea typeface="DM Sans" pitchFamily="34" charset="-122"/>
                <a:cs typeface="DM Sans" pitchFamily="34" charset="-120"/>
              </a:rPr>
              <a:t>7</a:t>
            </a:r>
            <a:endParaRPr lang="en-US" sz="6000" dirty="0"/>
          </a:p>
        </p:txBody>
      </p:sp>
      <p:sp>
        <p:nvSpPr>
          <p:cNvPr id="6" name="Text 4"/>
          <p:cNvSpPr/>
          <p:nvPr/>
        </p:nvSpPr>
        <p:spPr>
          <a:xfrm>
            <a:off x="1092200" y="3982721"/>
            <a:ext cx="32004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bloques de contexto</a:t>
            </a:r>
            <a:endParaRPr lang="en-US" sz="2000" dirty="0"/>
          </a:p>
        </p:txBody>
      </p:sp>
      <p:sp>
        <p:nvSpPr>
          <p:cNvPr id="7" name="Text 5"/>
          <p:cNvSpPr/>
          <p:nvPr/>
        </p:nvSpPr>
        <p:spPr>
          <a:xfrm>
            <a:off x="1092200" y="4439921"/>
            <a:ext cx="3200430"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Con orden de recorte fijado</a:t>
            </a:r>
            <a:endParaRPr lang="en-US" sz="1600" dirty="0"/>
          </a:p>
        </p:txBody>
      </p:sp>
      <p:sp>
        <p:nvSpPr>
          <p:cNvPr id="8" name="Shape 6"/>
          <p:cNvSpPr/>
          <p:nvPr/>
        </p:nvSpPr>
        <p:spPr>
          <a:xfrm>
            <a:off x="4415314" y="3068321"/>
            <a:ext cx="0" cy="1635760"/>
          </a:xfrm>
          <a:prstGeom prst="line">
            <a:avLst/>
          </a:prstGeom>
          <a:noFill/>
          <a:ln w="25400">
            <a:solidFill>
              <a:srgbClr val="FF7932"/>
            </a:solidFill>
            <a:prstDash val="solid"/>
          </a:ln>
        </p:spPr>
      </p:sp>
      <p:sp>
        <p:nvSpPr>
          <p:cNvPr id="9" name="Text 7"/>
          <p:cNvSpPr/>
          <p:nvPr/>
        </p:nvSpPr>
        <p:spPr>
          <a:xfrm>
            <a:off x="4682014" y="3068321"/>
            <a:ext cx="3200512"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FF7932"/>
                </a:solidFill>
                <a:latin typeface="DM Sans" pitchFamily="34" charset="0"/>
                <a:ea typeface="DM Sans" pitchFamily="34" charset="-122"/>
                <a:cs typeface="DM Sans" pitchFamily="34" charset="-120"/>
              </a:rPr>
              <a:t>3</a:t>
            </a:r>
            <a:endParaRPr lang="en-US" sz="6000" dirty="0"/>
          </a:p>
        </p:txBody>
      </p:sp>
      <p:sp>
        <p:nvSpPr>
          <p:cNvPr id="10" name="Text 8"/>
          <p:cNvSpPr/>
          <p:nvPr/>
        </p:nvSpPr>
        <p:spPr>
          <a:xfrm>
            <a:off x="4682014" y="3982721"/>
            <a:ext cx="32005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tools de solo lectura</a:t>
            </a:r>
            <a:endParaRPr lang="en-US" sz="2000" dirty="0"/>
          </a:p>
        </p:txBody>
      </p:sp>
      <p:sp>
        <p:nvSpPr>
          <p:cNvPr id="11" name="Text 9"/>
          <p:cNvSpPr/>
          <p:nvPr/>
        </p:nvSpPr>
        <p:spPr>
          <a:xfrm>
            <a:off x="4682014" y="4439921"/>
            <a:ext cx="320051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Para Escritor y Editor</a:t>
            </a:r>
            <a:endParaRPr lang="en-US" sz="1600" dirty="0"/>
          </a:p>
        </p:txBody>
      </p:sp>
      <p:sp>
        <p:nvSpPr>
          <p:cNvPr id="12" name="Shape 10"/>
          <p:cNvSpPr/>
          <p:nvPr/>
        </p:nvSpPr>
        <p:spPr>
          <a:xfrm>
            <a:off x="8005207" y="3068321"/>
            <a:ext cx="0" cy="1635760"/>
          </a:xfrm>
          <a:prstGeom prst="line">
            <a:avLst/>
          </a:prstGeom>
          <a:noFill/>
          <a:ln w="25400">
            <a:solidFill>
              <a:srgbClr val="FF7932"/>
            </a:solidFill>
            <a:prstDash val="solid"/>
          </a:ln>
        </p:spPr>
      </p:sp>
      <p:sp>
        <p:nvSpPr>
          <p:cNvPr id="13" name="Text 11"/>
          <p:cNvSpPr/>
          <p:nvPr/>
        </p:nvSpPr>
        <p:spPr>
          <a:xfrm>
            <a:off x="8271907" y="3068321"/>
            <a:ext cx="3200512"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FF7932"/>
                </a:solidFill>
                <a:latin typeface="DM Sans" pitchFamily="34" charset="0"/>
                <a:ea typeface="DM Sans" pitchFamily="34" charset="-122"/>
                <a:cs typeface="DM Sans" pitchFamily="34" charset="-120"/>
              </a:rPr>
              <a:t>2</a:t>
            </a:r>
            <a:endParaRPr lang="en-US" sz="6000" dirty="0"/>
          </a:p>
        </p:txBody>
      </p:sp>
      <p:sp>
        <p:nvSpPr>
          <p:cNvPr id="14" name="Text 12"/>
          <p:cNvSpPr/>
          <p:nvPr/>
        </p:nvSpPr>
        <p:spPr>
          <a:xfrm>
            <a:off x="8271907" y="3982721"/>
            <a:ext cx="32005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hooks</a:t>
            </a:r>
            <a:endParaRPr lang="en-US" sz="2000" dirty="0"/>
          </a:p>
        </p:txBody>
      </p:sp>
      <p:sp>
        <p:nvSpPr>
          <p:cNvPr id="15" name="Text 13"/>
          <p:cNvSpPr/>
          <p:nvPr/>
        </p:nvSpPr>
        <p:spPr>
          <a:xfrm>
            <a:off x="8271907" y="4439921"/>
            <a:ext cx="320051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Validación de capítulo y policy</a:t>
            </a:r>
            <a:endParaRPr lang="en-US" sz="1600" dirty="0"/>
          </a:p>
        </p:txBody>
      </p:sp>
      <p:sp>
        <p:nvSpPr>
          <p:cNvPr id="16" name="Text 14"/>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04 · DECISIONES DE DISEÑO</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Dos decisiones que se notan</a:t>
            </a:r>
            <a:endParaRPr lang="en-US" sz="3200" dirty="0"/>
          </a:p>
        </p:txBody>
      </p:sp>
      <p:sp>
        <p:nvSpPr>
          <p:cNvPr id="4" name="Shape 2"/>
          <p:cNvSpPr/>
          <p:nvPr/>
        </p:nvSpPr>
        <p:spPr>
          <a:xfrm>
            <a:off x="812800" y="1930400"/>
            <a:ext cx="5181600" cy="1676400"/>
          </a:xfrm>
          <a:prstGeom prst="roundRect">
            <a:avLst>
              <a:gd name="adj" fmla="val 6061"/>
            </a:avLst>
          </a:prstGeom>
          <a:solidFill>
            <a:srgbClr val="FFFFFF"/>
          </a:solidFill>
          <a:ln/>
        </p:spPr>
      </p:sp>
      <p:sp>
        <p:nvSpPr>
          <p:cNvPr id="5" name="Text 3"/>
          <p:cNvSpPr/>
          <p:nvPr/>
        </p:nvSpPr>
        <p:spPr>
          <a:xfrm>
            <a:off x="1117600" y="2235200"/>
            <a:ext cx="470916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1</a:t>
            </a:r>
            <a:endParaRPr lang="en-US" sz="2000" dirty="0"/>
          </a:p>
        </p:txBody>
      </p:sp>
      <p:sp>
        <p:nvSpPr>
          <p:cNvPr id="6" name="Text 4"/>
          <p:cNvSpPr/>
          <p:nvPr/>
        </p:nvSpPr>
        <p:spPr>
          <a:xfrm>
            <a:off x="1117600" y="2692400"/>
            <a:ext cx="470916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El Escritor nunca se evalúa a sí mismo.</a:t>
            </a:r>
            <a:endParaRPr lang="en-US" sz="2000" dirty="0"/>
          </a:p>
        </p:txBody>
      </p:sp>
      <p:sp>
        <p:nvSpPr>
          <p:cNvPr id="7" name="Shape 5"/>
          <p:cNvSpPr/>
          <p:nvPr/>
        </p:nvSpPr>
        <p:spPr>
          <a:xfrm>
            <a:off x="6197600" y="1930400"/>
            <a:ext cx="5181600" cy="1676400"/>
          </a:xfrm>
          <a:prstGeom prst="roundRect">
            <a:avLst>
              <a:gd name="adj" fmla="val 6061"/>
            </a:avLst>
          </a:prstGeom>
          <a:solidFill>
            <a:srgbClr val="FFFFFF"/>
          </a:solidFill>
          <a:ln/>
        </p:spPr>
      </p:sp>
      <p:sp>
        <p:nvSpPr>
          <p:cNvPr id="8" name="Text 6"/>
          <p:cNvSpPr/>
          <p:nvPr/>
        </p:nvSpPr>
        <p:spPr>
          <a:xfrm>
            <a:off x="6502400" y="2235200"/>
            <a:ext cx="470916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2</a:t>
            </a:r>
            <a:endParaRPr lang="en-US" sz="2000" dirty="0"/>
          </a:p>
        </p:txBody>
      </p:sp>
      <p:sp>
        <p:nvSpPr>
          <p:cNvPr id="9" name="Text 7"/>
          <p:cNvSpPr/>
          <p:nvPr/>
        </p:nvSpPr>
        <p:spPr>
          <a:xfrm>
            <a:off x="6502400" y="26924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El Editor y el Juez trabajan aislados.</a:t>
            </a:r>
            <a:endParaRPr lang="en-US" sz="2000" dirty="0"/>
          </a:p>
        </p:txBody>
      </p:sp>
      <p:sp>
        <p:nvSpPr>
          <p:cNvPr id="10" name="Text 8"/>
          <p:cNvSpPr/>
          <p:nvPr/>
        </p:nvSpPr>
        <p:spPr>
          <a:xfrm>
            <a:off x="812800" y="5511800"/>
            <a:ext cx="9156700" cy="355600"/>
          </a:xfrm>
          <a:prstGeom prst="rect">
            <a:avLst/>
          </a:prstGeom>
          <a:noFill/>
          <a:ln/>
        </p:spPr>
        <p:txBody>
          <a:bodyPr wrap="square" lIns="0" tIns="0" rIns="0" bIns="0" rtlCol="0" anchor="t">
            <a:normAutofit/>
          </a:bodyPr>
          <a:lstStyle/>
          <a:p>
            <a:pPr algn="l" indent="0" marL="0">
              <a:lnSpc>
                <a:spcPts val="2600"/>
              </a:lnSpc>
              <a:buNone/>
            </a:pPr>
            <a:r>
              <a:rPr lang="en-US" sz="2000" i="1" dirty="0">
                <a:solidFill>
                  <a:srgbClr val="233441"/>
                </a:solidFill>
                <a:latin typeface="DM Sans" pitchFamily="34" charset="0"/>
                <a:ea typeface="DM Sans" pitchFamily="34" charset="-122"/>
                <a:cs typeface="DM Sans" pitchFamily="34" charset="-120"/>
              </a:rPr>
              <a:t>«Un juez que ve las mismas reglas que la regla no desempata: confirma.»</a:t>
            </a:r>
            <a:endParaRPr lang="en-US" sz="2000" dirty="0"/>
          </a:p>
        </p:txBody>
      </p:sp>
      <p:sp>
        <p:nvSpPr>
          <p:cNvPr id="11" name="Text 9"/>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05 · VALIDACIÓN</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Cuatro capas, cada una donde toca</a:t>
            </a:r>
            <a:endParaRPr lang="en-US" sz="3200" dirty="0"/>
          </a:p>
        </p:txBody>
      </p:sp>
      <p:sp>
        <p:nvSpPr>
          <p:cNvPr id="4" name="Shape 2"/>
          <p:cNvSpPr/>
          <p:nvPr/>
        </p:nvSpPr>
        <p:spPr>
          <a:xfrm>
            <a:off x="812800" y="1930400"/>
            <a:ext cx="2527300" cy="3911600"/>
          </a:xfrm>
          <a:prstGeom prst="roundRect">
            <a:avLst>
              <a:gd name="adj" fmla="val 4020"/>
            </a:avLst>
          </a:prstGeom>
          <a:solidFill>
            <a:srgbClr val="F4F6F8"/>
          </a:solidFill>
          <a:ln/>
        </p:spPr>
      </p:sp>
      <p:sp>
        <p:nvSpPr>
          <p:cNvPr id="5" name="Shape 3"/>
          <p:cNvSpPr/>
          <p:nvPr/>
        </p:nvSpPr>
        <p:spPr>
          <a:xfrm>
            <a:off x="812800" y="1930400"/>
            <a:ext cx="2527300" cy="3911600"/>
          </a:xfrm>
          <a:custGeom>
            <a:avLst/>
            <a:gdLst/>
            <a:ahLst/>
            <a:cxnLst/>
            <a:rect l="l" t="t" r="r" b="b"/>
            <a:pathLst>
              <a:path w="2527300" h="3911600">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FF7932"/>
          </a:solidFill>
          <a:ln/>
        </p:spPr>
      </p:sp>
      <p:sp>
        <p:nvSpPr>
          <p:cNvPr id="6" name="Text 4"/>
          <p:cNvSpPr/>
          <p:nvPr/>
        </p:nvSpPr>
        <p:spPr>
          <a:xfrm>
            <a:off x="1016000" y="2219964"/>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PROGRAMÁTICOS</a:t>
            </a:r>
            <a:endParaRPr lang="en-US" sz="1200" dirty="0"/>
          </a:p>
        </p:txBody>
      </p:sp>
      <p:sp>
        <p:nvSpPr>
          <p:cNvPr id="7" name="Text 5"/>
          <p:cNvSpPr/>
          <p:nvPr/>
        </p:nvSpPr>
        <p:spPr>
          <a:xfrm>
            <a:off x="1016000" y="2585721"/>
            <a:ext cx="2184527"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22 reglas</a:t>
            </a:r>
            <a:endParaRPr lang="en-US" sz="3200" dirty="0"/>
          </a:p>
        </p:txBody>
      </p:sp>
      <p:sp>
        <p:nvSpPr>
          <p:cNvPr id="8" name="Text 6"/>
          <p:cNvSpPr/>
          <p:nvPr/>
        </p:nvSpPr>
        <p:spPr>
          <a:xfrm>
            <a:off x="1016000" y="3185164"/>
            <a:ext cx="2184527" cy="108204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Deterministas. En hooks, antes del Editor y en las puertas.</a:t>
            </a:r>
            <a:endParaRPr lang="en-US" sz="1600" dirty="0"/>
          </a:p>
        </p:txBody>
      </p:sp>
      <p:sp>
        <p:nvSpPr>
          <p:cNvPr id="9" name="Shape 7"/>
          <p:cNvSpPr/>
          <p:nvPr/>
        </p:nvSpPr>
        <p:spPr>
          <a:xfrm>
            <a:off x="3492500" y="1930400"/>
            <a:ext cx="2527300" cy="3911600"/>
          </a:xfrm>
          <a:prstGeom prst="roundRect">
            <a:avLst>
              <a:gd name="adj" fmla="val 4020"/>
            </a:avLst>
          </a:prstGeom>
          <a:solidFill>
            <a:srgbClr val="F4F6F8"/>
          </a:solidFill>
          <a:ln/>
        </p:spPr>
      </p:sp>
      <p:sp>
        <p:nvSpPr>
          <p:cNvPr id="10" name="Shape 8"/>
          <p:cNvSpPr/>
          <p:nvPr/>
        </p:nvSpPr>
        <p:spPr>
          <a:xfrm>
            <a:off x="3492500" y="1930400"/>
            <a:ext cx="2527300" cy="3911600"/>
          </a:xfrm>
          <a:custGeom>
            <a:avLst/>
            <a:gdLst/>
            <a:ahLst/>
            <a:cxnLst/>
            <a:rect l="l" t="t" r="r" b="b"/>
            <a:pathLst>
              <a:path w="2527300" h="3911600">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FF7932"/>
          </a:solidFill>
          <a:ln/>
        </p:spPr>
      </p:sp>
      <p:sp>
        <p:nvSpPr>
          <p:cNvPr id="11" name="Text 9"/>
          <p:cNvSpPr/>
          <p:nvPr/>
        </p:nvSpPr>
        <p:spPr>
          <a:xfrm>
            <a:off x="3695700" y="2219964"/>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SEMÁNTICOS</a:t>
            </a:r>
            <a:endParaRPr lang="en-US" sz="1200" dirty="0"/>
          </a:p>
        </p:txBody>
      </p:sp>
      <p:sp>
        <p:nvSpPr>
          <p:cNvPr id="12" name="Text 10"/>
          <p:cNvSpPr/>
          <p:nvPr/>
        </p:nvSpPr>
        <p:spPr>
          <a:xfrm>
            <a:off x="3695700" y="2585721"/>
            <a:ext cx="2184527"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6 criterios</a:t>
            </a:r>
            <a:endParaRPr lang="en-US" sz="3200" dirty="0"/>
          </a:p>
        </p:txBody>
      </p:sp>
      <p:sp>
        <p:nvSpPr>
          <p:cNvPr id="13" name="Text 11"/>
          <p:cNvSpPr/>
          <p:nvPr/>
        </p:nvSpPr>
        <p:spPr>
          <a:xfrm>
            <a:off x="3695700" y="3185164"/>
            <a:ext cx="2184527" cy="81788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El Editor puntúa cada capítulo. El Revisor audita el plan.</a:t>
            </a:r>
            <a:endParaRPr lang="en-US" sz="1600" dirty="0"/>
          </a:p>
        </p:txBody>
      </p:sp>
      <p:sp>
        <p:nvSpPr>
          <p:cNvPr id="14" name="Shape 12"/>
          <p:cNvSpPr/>
          <p:nvPr/>
        </p:nvSpPr>
        <p:spPr>
          <a:xfrm>
            <a:off x="6172200" y="1930400"/>
            <a:ext cx="2527300" cy="3911600"/>
          </a:xfrm>
          <a:prstGeom prst="roundRect">
            <a:avLst>
              <a:gd name="adj" fmla="val 4020"/>
            </a:avLst>
          </a:prstGeom>
          <a:solidFill>
            <a:srgbClr val="F4F6F8"/>
          </a:solidFill>
          <a:ln/>
        </p:spPr>
      </p:sp>
      <p:sp>
        <p:nvSpPr>
          <p:cNvPr id="15" name="Shape 13"/>
          <p:cNvSpPr/>
          <p:nvPr/>
        </p:nvSpPr>
        <p:spPr>
          <a:xfrm>
            <a:off x="6172200" y="1930400"/>
            <a:ext cx="2527300" cy="3911600"/>
          </a:xfrm>
          <a:custGeom>
            <a:avLst/>
            <a:gdLst/>
            <a:ahLst/>
            <a:cxnLst/>
            <a:rect l="l" t="t" r="r" b="b"/>
            <a:pathLst>
              <a:path w="2527300" h="3911600">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233441"/>
          </a:solidFill>
          <a:ln/>
        </p:spPr>
      </p:sp>
      <p:sp>
        <p:nvSpPr>
          <p:cNvPr id="16" name="Text 14"/>
          <p:cNvSpPr/>
          <p:nvPr/>
        </p:nvSpPr>
        <p:spPr>
          <a:xfrm>
            <a:off x="6375400" y="2219964"/>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LEAN</a:t>
            </a:r>
            <a:endParaRPr lang="en-US" sz="1200" dirty="0"/>
          </a:p>
        </p:txBody>
      </p:sp>
      <p:sp>
        <p:nvSpPr>
          <p:cNvPr id="17" name="Text 15"/>
          <p:cNvSpPr/>
          <p:nvPr/>
        </p:nvSpPr>
        <p:spPr>
          <a:xfrm>
            <a:off x="6375400" y="2585721"/>
            <a:ext cx="2184527"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Historia</a:t>
            </a:r>
            <a:endParaRPr lang="en-US" sz="3200" dirty="0"/>
          </a:p>
        </p:txBody>
      </p:sp>
      <p:sp>
        <p:nvSpPr>
          <p:cNvPr id="18" name="Text 16"/>
          <p:cNvSpPr/>
          <p:nvPr/>
        </p:nvSpPr>
        <p:spPr>
          <a:xfrm>
            <a:off x="6375400" y="3185164"/>
            <a:ext cx="2184527"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Su cronología, en la puerta de publicación.</a:t>
            </a:r>
            <a:endParaRPr lang="en-US" sz="1600" dirty="0"/>
          </a:p>
        </p:txBody>
      </p:sp>
      <p:sp>
        <p:nvSpPr>
          <p:cNvPr id="19" name="Shape 17"/>
          <p:cNvSpPr/>
          <p:nvPr/>
        </p:nvSpPr>
        <p:spPr>
          <a:xfrm>
            <a:off x="8851900" y="1930400"/>
            <a:ext cx="2527300" cy="3911600"/>
          </a:xfrm>
          <a:prstGeom prst="roundRect">
            <a:avLst>
              <a:gd name="adj" fmla="val 4020"/>
            </a:avLst>
          </a:prstGeom>
          <a:solidFill>
            <a:srgbClr val="F4F6F8"/>
          </a:solidFill>
          <a:ln/>
        </p:spPr>
      </p:sp>
      <p:sp>
        <p:nvSpPr>
          <p:cNvPr id="20" name="Shape 18"/>
          <p:cNvSpPr/>
          <p:nvPr/>
        </p:nvSpPr>
        <p:spPr>
          <a:xfrm>
            <a:off x="8851900" y="1930400"/>
            <a:ext cx="2527300" cy="3911600"/>
          </a:xfrm>
          <a:custGeom>
            <a:avLst/>
            <a:gdLst/>
            <a:ahLst/>
            <a:cxnLst/>
            <a:rect l="l" t="t" r="r" b="b"/>
            <a:pathLst>
              <a:path w="2527300" h="3911600">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233441"/>
          </a:solidFill>
          <a:ln/>
        </p:spPr>
      </p:sp>
      <p:sp>
        <p:nvSpPr>
          <p:cNvPr id="21" name="Text 19"/>
          <p:cNvSpPr/>
          <p:nvPr/>
        </p:nvSpPr>
        <p:spPr>
          <a:xfrm>
            <a:off x="9055100" y="2219964"/>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TLA+</a:t>
            </a:r>
            <a:endParaRPr lang="en-US" sz="1200" dirty="0"/>
          </a:p>
        </p:txBody>
      </p:sp>
      <p:sp>
        <p:nvSpPr>
          <p:cNvPr id="22" name="Text 20"/>
          <p:cNvSpPr/>
          <p:nvPr/>
        </p:nvSpPr>
        <p:spPr>
          <a:xfrm>
            <a:off x="9055100" y="2585721"/>
            <a:ext cx="2184527"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Harness</a:t>
            </a:r>
            <a:endParaRPr lang="en-US" sz="3200" dirty="0"/>
          </a:p>
        </p:txBody>
      </p:sp>
      <p:sp>
        <p:nvSpPr>
          <p:cNvPr id="23" name="Text 21"/>
          <p:cNvSpPr/>
          <p:nvPr/>
        </p:nvSpPr>
        <p:spPr>
          <a:xfrm>
            <a:off x="9055100" y="3185164"/>
            <a:ext cx="2184527" cy="81788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Su comportamiento, verificado con TLC fuera del pipeline.</a:t>
            </a:r>
            <a:endParaRPr lang="en-US" sz="1600" dirty="0"/>
          </a:p>
        </p:txBody>
      </p:sp>
      <p:sp>
        <p:nvSpPr>
          <p:cNvPr id="24" name="Text 22"/>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05 · EVALS POR BRIEF</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Cinco briefs, cinco resultados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0560"/>
          <a:ext cx="10556240" cy="3291840"/>
        </p:xfrm>
        <a:graphic>
          <a:graphicData uri="http://schemas.openxmlformats.org/drawingml/2006/table">
            <a:tbl>
              <a:tblPr/>
              <a:tblGrid>
                <a:gridCol w="5278120"/>
                <a:gridCol w="5278120"/>
              </a:tblGrid>
              <a:tr h="548640">
                <a:tc>
                  <a:txBody>
                    <a:bodyPr/>
                    <a:lstStyle/>
                    <a:p>
                      <a:pPr indent="0" marL="0">
                        <a:lnSpc>
                          <a:spcPts val="2240"/>
                        </a:lnSpc>
                        <a:buNone/>
                      </a:pPr>
                      <a:r>
                        <a:rPr lang="en-US" sz="1600" b="1" dirty="0">
                          <a:solidFill>
                            <a:srgbClr val="6B7782"/>
                          </a:solidFill>
                          <a:latin typeface="DM Sans" pitchFamily="34" charset="0"/>
                          <a:ea typeface="DM Sans" pitchFamily="34" charset="-122"/>
                          <a:cs typeface="DM Sans" pitchFamily="34" charset="-120"/>
                        </a:rPr>
                        <a:t>BRIEF</a:t>
                      </a:r>
                      <a:endParaRPr lang="en-US" sz="1600" dirty="0">
                        <a:latin typeface="DM Sans" charset="0"/>
                        <a:ea typeface="DM Sans" charset="0"/>
                        <a:cs typeface="DM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240"/>
                        </a:lnSpc>
                        <a:buNone/>
                      </a:pPr>
                      <a:r>
                        <a:rPr lang="en-US" sz="1600" b="1" dirty="0">
                          <a:solidFill>
                            <a:srgbClr val="6B7782"/>
                          </a:solidFill>
                          <a:latin typeface="DM Sans" pitchFamily="34" charset="0"/>
                          <a:ea typeface="DM Sans" pitchFamily="34" charset="-122"/>
                          <a:cs typeface="DM Sans" pitchFamily="34" charset="-120"/>
                        </a:rPr>
                        <a:t>RESULTADO</a:t>
                      </a:r>
                      <a:endParaRPr lang="en-US" sz="1600" dirty="0">
                        <a:latin typeface="DM Sans" charset="0"/>
                        <a:ea typeface="DM Sans" charset="0"/>
                        <a:cs typeface="DM Sans" charset="0"/>
                      </a:endParaRPr>
                    </a:p>
                  </a:txBody>
                  <a:tcPr marL="152400" marR="152400" marT="127000" marB="1270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48640">
                <a:tc>
                  <a:txBody>
                    <a:bodyPr/>
                    <a:lstStyle/>
                    <a:p>
                      <a:pPr indent="0" marL="0">
                        <a:lnSpc>
                          <a:spcPts val="2240"/>
                        </a:lnSpc>
                        <a:buNone/>
                      </a:pPr>
                      <a:r>
                        <a:rPr lang="en-US" sz="1600" dirty="0">
                          <a:solidFill>
                            <a:srgbClr val="233441"/>
                          </a:solidFill>
                          <a:latin typeface="DM Sans" pitchFamily="34" charset="0"/>
                          <a:ea typeface="DM Sans" pitchFamily="34" charset="-122"/>
                          <a:cs typeface="DM Sans" pitchFamily="34" charset="-120"/>
                        </a:rPr>
                        <a:t>Base</a:t>
                      </a:r>
                      <a:endParaRPr lang="en-US" sz="1600" dirty="0">
                        <a:latin typeface="DM Sans" charset="0"/>
                        <a:ea typeface="DM Sans" charset="0"/>
                        <a:cs typeface="DM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233441"/>
                          </a:solidFill>
                          <a:latin typeface="DM Sans" pitchFamily="34" charset="0"/>
                          <a:ea typeface="DM Sans" pitchFamily="34" charset="-122"/>
                          <a:cs typeface="DM Sans" pitchFamily="34" charset="-120"/>
                        </a:rPr>
                        <a:t>Falla INV-03</a:t>
                      </a:r>
                      <a:endParaRPr lang="en-US" sz="1600" dirty="0">
                        <a:latin typeface="DM Sans" charset="0"/>
                        <a:ea typeface="DM Sans" charset="0"/>
                        <a:cs typeface="DM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8640">
                <a:tc>
                  <a:txBody>
                    <a:bodyPr/>
                    <a:lstStyle/>
                    <a:p>
                      <a:pPr indent="0" marL="0">
                        <a:lnSpc>
                          <a:spcPts val="2240"/>
                        </a:lnSpc>
                        <a:buNone/>
                      </a:pPr>
                      <a:r>
                        <a:rPr lang="en-US" sz="1600" dirty="0">
                          <a:solidFill>
                            <a:srgbClr val="233441"/>
                          </a:solidFill>
                          <a:latin typeface="DM Sans" pitchFamily="34" charset="0"/>
                          <a:ea typeface="DM Sans" pitchFamily="34" charset="-122"/>
                          <a:cs typeface="DM Sans" pitchFamily="34" charset="-120"/>
                        </a:rPr>
                        <a:t>Injection</a:t>
                      </a:r>
                      <a:endParaRPr lang="en-US" sz="1600" dirty="0">
                        <a:latin typeface="DM Sans" charset="0"/>
                        <a:ea typeface="DM Sans" charset="0"/>
                        <a:cs typeface="DM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233441"/>
                          </a:solidFill>
                          <a:latin typeface="DM Sans" pitchFamily="34" charset="0"/>
                          <a:ea typeface="DM Sans" pitchFamily="34" charset="-122"/>
                          <a:cs typeface="DM Sans" pitchFamily="34" charset="-120"/>
                        </a:rPr>
                        <a:t>Detectado en la entrevista; no llega a novela</a:t>
                      </a:r>
                      <a:endParaRPr lang="en-US" sz="1600" dirty="0">
                        <a:latin typeface="DM Sans" charset="0"/>
                        <a:ea typeface="DM Sans" charset="0"/>
                        <a:cs typeface="DM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8640">
                <a:tc>
                  <a:txBody>
                    <a:bodyPr/>
                    <a:lstStyle/>
                    <a:p>
                      <a:pPr indent="0" marL="0">
                        <a:lnSpc>
                          <a:spcPts val="2240"/>
                        </a:lnSpc>
                        <a:buNone/>
                      </a:pPr>
                      <a:r>
                        <a:rPr lang="en-US" sz="1600" dirty="0">
                          <a:solidFill>
                            <a:srgbClr val="233441"/>
                          </a:solidFill>
                          <a:latin typeface="DM Sans" pitchFamily="34" charset="0"/>
                          <a:ea typeface="DM Sans" pitchFamily="34" charset="-122"/>
                          <a:cs typeface="DM Sans" pitchFamily="34" charset="-120"/>
                        </a:rPr>
                        <a:t>Temporal</a:t>
                      </a:r>
                      <a:endParaRPr lang="en-US" sz="1600" dirty="0">
                        <a:latin typeface="DM Sans" charset="0"/>
                        <a:ea typeface="DM Sans" charset="0"/>
                        <a:cs typeface="DM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233441"/>
                          </a:solidFill>
                          <a:latin typeface="DM Sans" pitchFamily="34" charset="0"/>
                          <a:ea typeface="DM Sans" pitchFamily="34" charset="-122"/>
                          <a:cs typeface="DM Sans" pitchFamily="34" charset="-120"/>
                        </a:rPr>
                        <a:t>Falla esquema y Revisor del plan</a:t>
                      </a:r>
                      <a:endParaRPr lang="en-US" sz="1600" dirty="0">
                        <a:latin typeface="DM Sans" charset="0"/>
                        <a:ea typeface="DM Sans" charset="0"/>
                        <a:cs typeface="DM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8640">
                <a:tc>
                  <a:txBody>
                    <a:bodyPr/>
                    <a:lstStyle/>
                    <a:p>
                      <a:pPr indent="0" marL="0">
                        <a:lnSpc>
                          <a:spcPts val="2240"/>
                        </a:lnSpc>
                        <a:buNone/>
                      </a:pPr>
                      <a:r>
                        <a:rPr lang="en-US" sz="1600" dirty="0">
                          <a:solidFill>
                            <a:srgbClr val="233441"/>
                          </a:solidFill>
                          <a:latin typeface="DM Sans" pitchFamily="34" charset="0"/>
                          <a:ea typeface="DM Sans" pitchFamily="34" charset="-122"/>
                          <a:cs typeface="DM Sans" pitchFamily="34" charset="-120"/>
                        </a:rPr>
                        <a:t>Contradicciones</a:t>
                      </a:r>
                      <a:endParaRPr lang="en-US" sz="1600" dirty="0">
                        <a:latin typeface="DM Sans" charset="0"/>
                        <a:ea typeface="DM Sans" charset="0"/>
                        <a:cs typeface="DM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233441"/>
                          </a:solidFill>
                          <a:latin typeface="DM Sans" pitchFamily="34" charset="0"/>
                          <a:ea typeface="DM Sans" pitchFamily="34" charset="-122"/>
                          <a:cs typeface="DM Sans" pitchFamily="34" charset="-120"/>
                        </a:rPr>
                        <a:t>Detectadas 3 de 3</a:t>
                      </a:r>
                      <a:endParaRPr lang="en-US" sz="1600" dirty="0">
                        <a:latin typeface="DM Sans" charset="0"/>
                        <a:ea typeface="DM Sans" charset="0"/>
                        <a:cs typeface="DM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8640">
                <a:tc>
                  <a:txBody>
                    <a:bodyPr/>
                    <a:lstStyle/>
                    <a:p>
                      <a:pPr indent="0" marL="0">
                        <a:lnSpc>
                          <a:spcPts val="2240"/>
                        </a:lnSpc>
                        <a:buNone/>
                      </a:pPr>
                      <a:r>
                        <a:rPr lang="en-US" sz="1600" dirty="0">
                          <a:solidFill>
                            <a:srgbClr val="233441"/>
                          </a:solidFill>
                          <a:latin typeface="DM Sans" pitchFamily="34" charset="0"/>
                          <a:ea typeface="DM Sans" pitchFamily="34" charset="-122"/>
                          <a:cs typeface="DM Sans" pitchFamily="34" charset="-120"/>
                        </a:rPr>
                        <a:t>Vetadas</a:t>
                      </a:r>
                      <a:endParaRPr lang="en-US" sz="1600" dirty="0">
                        <a:latin typeface="DM Sans" charset="0"/>
                        <a:ea typeface="DM Sans" charset="0"/>
                        <a:cs typeface="DM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233441"/>
                          </a:solidFill>
                          <a:latin typeface="DM Sans" pitchFamily="34" charset="0"/>
                          <a:ea typeface="DM Sans" pitchFamily="34" charset="-122"/>
                          <a:cs typeface="DM Sans" pitchFamily="34" charset="-120"/>
                        </a:rPr>
                        <a:t>Publicada con 1 fallo menor</a:t>
                      </a:r>
                      <a:endParaRPr lang="en-US" sz="1600" dirty="0">
                        <a:latin typeface="DM Sans" charset="0"/>
                        <a:ea typeface="DM Sans" charset="0"/>
                        <a:cs typeface="DM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05 · EVALS DE UNA NOVELA PUBLICADA</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El Editor puntúa seis criterios en cada capítulo</a:t>
            </a:r>
            <a:endParaRPr lang="en-US" sz="3200" dirty="0"/>
          </a:p>
        </p:txBody>
      </p:sp>
      <p:sp>
        <p:nvSpPr>
          <p:cNvPr id="4" name="Shape 2"/>
          <p:cNvSpPr/>
          <p:nvPr/>
        </p:nvSpPr>
        <p:spPr>
          <a:xfrm>
            <a:off x="812800" y="1930400"/>
            <a:ext cx="1676400" cy="1153160"/>
          </a:xfrm>
          <a:prstGeom prst="roundRect">
            <a:avLst>
              <a:gd name="adj" fmla="val 6608"/>
            </a:avLst>
          </a:prstGeom>
          <a:solidFill>
            <a:srgbClr val="F4F6F8"/>
          </a:solidFill>
          <a:ln/>
        </p:spPr>
      </p:sp>
      <p:sp>
        <p:nvSpPr>
          <p:cNvPr id="5" name="Shape 3"/>
          <p:cNvSpPr/>
          <p:nvPr/>
        </p:nvSpPr>
        <p:spPr>
          <a:xfrm>
            <a:off x="812800" y="1930400"/>
            <a:ext cx="1676400" cy="1153160"/>
          </a:xfrm>
          <a:custGeom>
            <a:avLst/>
            <a:gdLst/>
            <a:ahLst/>
            <a:cxnLst/>
            <a:rect l="l" t="t" r="r" b="b"/>
            <a:pathLst>
              <a:path w="1676400" h="1153160">
                <a:moveTo>
                  <a:pt x="0" y="76200"/>
                </a:moveTo>
                <a:lnTo>
                  <a:pt x="0" y="76200"/>
                </a:lnTo>
                <a:arcTo hR="76200" wR="76200" stAng="10800000" swAng="5400000"/>
                <a:lnTo>
                  <a:pt x="1600200" y="0"/>
                </a:lnTo>
                <a:arcTo hR="76200" wR="76200" stAng="16200000" swAng="5400000"/>
                <a:lnTo>
                  <a:pt x="1676400" y="76200"/>
                </a:lnTo>
                <a:arcTo hR="38100" wR="76200" stAng="0" swAng="-5400000"/>
                <a:lnTo>
                  <a:pt x="76200" y="38100"/>
                </a:lnTo>
                <a:arcTo hR="38100" wR="76200" stAng="16200000" swAng="-5400000"/>
                <a:close/>
              </a:path>
            </a:pathLst>
          </a:custGeom>
          <a:solidFill>
            <a:srgbClr val="FF7932"/>
          </a:solidFill>
          <a:ln/>
        </p:spPr>
      </p:sp>
      <p:sp>
        <p:nvSpPr>
          <p:cNvPr id="6" name="Text 4"/>
          <p:cNvSpPr/>
          <p:nvPr/>
        </p:nvSpPr>
        <p:spPr>
          <a:xfrm>
            <a:off x="939800" y="2169164"/>
            <a:ext cx="1473200"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5,0</a:t>
            </a:r>
            <a:endParaRPr lang="en-US" sz="3200" dirty="0"/>
          </a:p>
        </p:txBody>
      </p:sp>
      <p:sp>
        <p:nvSpPr>
          <p:cNvPr id="7" name="Text 5"/>
          <p:cNvSpPr/>
          <p:nvPr/>
        </p:nvSpPr>
        <p:spPr>
          <a:xfrm>
            <a:off x="939800" y="2667000"/>
            <a:ext cx="147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Continuidad</a:t>
            </a:r>
            <a:endParaRPr lang="en-US" sz="1200" dirty="0"/>
          </a:p>
        </p:txBody>
      </p:sp>
      <p:sp>
        <p:nvSpPr>
          <p:cNvPr id="8" name="Shape 6"/>
          <p:cNvSpPr/>
          <p:nvPr/>
        </p:nvSpPr>
        <p:spPr>
          <a:xfrm>
            <a:off x="2590800" y="1930400"/>
            <a:ext cx="1676400" cy="1153160"/>
          </a:xfrm>
          <a:prstGeom prst="roundRect">
            <a:avLst>
              <a:gd name="adj" fmla="val 6608"/>
            </a:avLst>
          </a:prstGeom>
          <a:solidFill>
            <a:srgbClr val="F4F6F8"/>
          </a:solidFill>
          <a:ln/>
        </p:spPr>
      </p:sp>
      <p:sp>
        <p:nvSpPr>
          <p:cNvPr id="9" name="Shape 7"/>
          <p:cNvSpPr/>
          <p:nvPr/>
        </p:nvSpPr>
        <p:spPr>
          <a:xfrm>
            <a:off x="2590800" y="1930400"/>
            <a:ext cx="1676400" cy="1153160"/>
          </a:xfrm>
          <a:custGeom>
            <a:avLst/>
            <a:gdLst/>
            <a:ahLst/>
            <a:cxnLst/>
            <a:rect l="l" t="t" r="r" b="b"/>
            <a:pathLst>
              <a:path w="1676400" h="1153160">
                <a:moveTo>
                  <a:pt x="0" y="76200"/>
                </a:moveTo>
                <a:lnTo>
                  <a:pt x="0" y="76200"/>
                </a:lnTo>
                <a:arcTo hR="76200" wR="76200" stAng="10800000" swAng="5400000"/>
                <a:lnTo>
                  <a:pt x="1600200" y="0"/>
                </a:lnTo>
                <a:arcTo hR="76200" wR="76200" stAng="16200000" swAng="5400000"/>
                <a:lnTo>
                  <a:pt x="1676400" y="76200"/>
                </a:lnTo>
                <a:arcTo hR="38100" wR="76200" stAng="0" swAng="-5400000"/>
                <a:lnTo>
                  <a:pt x="76200" y="38100"/>
                </a:lnTo>
                <a:arcTo hR="38100" wR="76200" stAng="16200000" swAng="-5400000"/>
                <a:close/>
              </a:path>
            </a:pathLst>
          </a:custGeom>
          <a:solidFill>
            <a:srgbClr val="FF7932"/>
          </a:solidFill>
          <a:ln/>
        </p:spPr>
      </p:sp>
      <p:sp>
        <p:nvSpPr>
          <p:cNvPr id="10" name="Text 8"/>
          <p:cNvSpPr/>
          <p:nvPr/>
        </p:nvSpPr>
        <p:spPr>
          <a:xfrm>
            <a:off x="2717800" y="2169164"/>
            <a:ext cx="1473200"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5,0</a:t>
            </a:r>
            <a:endParaRPr lang="en-US" sz="3200" dirty="0"/>
          </a:p>
        </p:txBody>
      </p:sp>
      <p:sp>
        <p:nvSpPr>
          <p:cNvPr id="11" name="Text 9"/>
          <p:cNvSpPr/>
          <p:nvPr/>
        </p:nvSpPr>
        <p:spPr>
          <a:xfrm>
            <a:off x="2717800" y="2667000"/>
            <a:ext cx="147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Tono</a:t>
            </a:r>
            <a:endParaRPr lang="en-US" sz="1200" dirty="0"/>
          </a:p>
        </p:txBody>
      </p:sp>
      <p:sp>
        <p:nvSpPr>
          <p:cNvPr id="12" name="Shape 10"/>
          <p:cNvSpPr/>
          <p:nvPr/>
        </p:nvSpPr>
        <p:spPr>
          <a:xfrm>
            <a:off x="4368800" y="1930400"/>
            <a:ext cx="1676400" cy="1153160"/>
          </a:xfrm>
          <a:prstGeom prst="roundRect">
            <a:avLst>
              <a:gd name="adj" fmla="val 6608"/>
            </a:avLst>
          </a:prstGeom>
          <a:solidFill>
            <a:srgbClr val="F4F6F8"/>
          </a:solidFill>
          <a:ln/>
        </p:spPr>
      </p:sp>
      <p:sp>
        <p:nvSpPr>
          <p:cNvPr id="13" name="Shape 11"/>
          <p:cNvSpPr/>
          <p:nvPr/>
        </p:nvSpPr>
        <p:spPr>
          <a:xfrm>
            <a:off x="4368800" y="1930400"/>
            <a:ext cx="1676400" cy="1153160"/>
          </a:xfrm>
          <a:custGeom>
            <a:avLst/>
            <a:gdLst/>
            <a:ahLst/>
            <a:cxnLst/>
            <a:rect l="l" t="t" r="r" b="b"/>
            <a:pathLst>
              <a:path w="1676400" h="1153160">
                <a:moveTo>
                  <a:pt x="0" y="76200"/>
                </a:moveTo>
                <a:lnTo>
                  <a:pt x="0" y="76200"/>
                </a:lnTo>
                <a:arcTo hR="76200" wR="76200" stAng="10800000" swAng="5400000"/>
                <a:lnTo>
                  <a:pt x="1600200" y="0"/>
                </a:lnTo>
                <a:arcTo hR="76200" wR="76200" stAng="16200000" swAng="5400000"/>
                <a:lnTo>
                  <a:pt x="1676400" y="76200"/>
                </a:lnTo>
                <a:arcTo hR="38100" wR="76200" stAng="0" swAng="-5400000"/>
                <a:lnTo>
                  <a:pt x="76200" y="38100"/>
                </a:lnTo>
                <a:arcTo hR="38100" wR="76200" stAng="16200000" swAng="-5400000"/>
                <a:close/>
              </a:path>
            </a:pathLst>
          </a:custGeom>
          <a:solidFill>
            <a:srgbClr val="FF7932"/>
          </a:solidFill>
          <a:ln/>
        </p:spPr>
      </p:sp>
      <p:sp>
        <p:nvSpPr>
          <p:cNvPr id="14" name="Text 12"/>
          <p:cNvSpPr/>
          <p:nvPr/>
        </p:nvSpPr>
        <p:spPr>
          <a:xfrm>
            <a:off x="4495800" y="2169164"/>
            <a:ext cx="1473200"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4,7</a:t>
            </a:r>
            <a:endParaRPr lang="en-US" sz="3200" dirty="0"/>
          </a:p>
        </p:txBody>
      </p:sp>
      <p:sp>
        <p:nvSpPr>
          <p:cNvPr id="15" name="Text 13"/>
          <p:cNvSpPr/>
          <p:nvPr/>
        </p:nvSpPr>
        <p:spPr>
          <a:xfrm>
            <a:off x="4495800" y="2667000"/>
            <a:ext cx="147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Arco</a:t>
            </a:r>
            <a:endParaRPr lang="en-US" sz="1200" dirty="0"/>
          </a:p>
        </p:txBody>
      </p:sp>
      <p:sp>
        <p:nvSpPr>
          <p:cNvPr id="16" name="Shape 14"/>
          <p:cNvSpPr/>
          <p:nvPr/>
        </p:nvSpPr>
        <p:spPr>
          <a:xfrm>
            <a:off x="6146800" y="1930400"/>
            <a:ext cx="1676400" cy="1153160"/>
          </a:xfrm>
          <a:prstGeom prst="roundRect">
            <a:avLst>
              <a:gd name="adj" fmla="val 6608"/>
            </a:avLst>
          </a:prstGeom>
          <a:solidFill>
            <a:srgbClr val="F4F6F8"/>
          </a:solidFill>
          <a:ln/>
        </p:spPr>
      </p:sp>
      <p:sp>
        <p:nvSpPr>
          <p:cNvPr id="17" name="Shape 15"/>
          <p:cNvSpPr/>
          <p:nvPr/>
        </p:nvSpPr>
        <p:spPr>
          <a:xfrm>
            <a:off x="6146800" y="1930400"/>
            <a:ext cx="1676400" cy="1153160"/>
          </a:xfrm>
          <a:custGeom>
            <a:avLst/>
            <a:gdLst/>
            <a:ahLst/>
            <a:cxnLst/>
            <a:rect l="l" t="t" r="r" b="b"/>
            <a:pathLst>
              <a:path w="1676400" h="1153160">
                <a:moveTo>
                  <a:pt x="0" y="76200"/>
                </a:moveTo>
                <a:lnTo>
                  <a:pt x="0" y="76200"/>
                </a:lnTo>
                <a:arcTo hR="76200" wR="76200" stAng="10800000" swAng="5400000"/>
                <a:lnTo>
                  <a:pt x="1600200" y="0"/>
                </a:lnTo>
                <a:arcTo hR="76200" wR="76200" stAng="16200000" swAng="5400000"/>
                <a:lnTo>
                  <a:pt x="1676400" y="76200"/>
                </a:lnTo>
                <a:arcTo hR="38100" wR="76200" stAng="0" swAng="-5400000"/>
                <a:lnTo>
                  <a:pt x="76200" y="38100"/>
                </a:lnTo>
                <a:arcTo hR="38100" wR="76200" stAng="16200000" swAng="-5400000"/>
                <a:close/>
              </a:path>
            </a:pathLst>
          </a:custGeom>
          <a:solidFill>
            <a:srgbClr val="FF7932"/>
          </a:solidFill>
          <a:ln/>
        </p:spPr>
      </p:sp>
      <p:sp>
        <p:nvSpPr>
          <p:cNvPr id="18" name="Text 16"/>
          <p:cNvSpPr/>
          <p:nvPr/>
        </p:nvSpPr>
        <p:spPr>
          <a:xfrm>
            <a:off x="6273800" y="2169164"/>
            <a:ext cx="1473200"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5,0</a:t>
            </a:r>
            <a:endParaRPr lang="en-US" sz="3200" dirty="0"/>
          </a:p>
        </p:txBody>
      </p:sp>
      <p:sp>
        <p:nvSpPr>
          <p:cNvPr id="19" name="Text 17"/>
          <p:cNvSpPr/>
          <p:nvPr/>
        </p:nvSpPr>
        <p:spPr>
          <a:xfrm>
            <a:off x="6273800" y="2667000"/>
            <a:ext cx="147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Personajes</a:t>
            </a:r>
            <a:endParaRPr lang="en-US" sz="1200" dirty="0"/>
          </a:p>
        </p:txBody>
      </p:sp>
      <p:sp>
        <p:nvSpPr>
          <p:cNvPr id="20" name="Shape 18"/>
          <p:cNvSpPr/>
          <p:nvPr/>
        </p:nvSpPr>
        <p:spPr>
          <a:xfrm>
            <a:off x="7924800" y="1930400"/>
            <a:ext cx="1676400" cy="1153160"/>
          </a:xfrm>
          <a:prstGeom prst="roundRect">
            <a:avLst>
              <a:gd name="adj" fmla="val 6608"/>
            </a:avLst>
          </a:prstGeom>
          <a:solidFill>
            <a:srgbClr val="F4F6F8"/>
          </a:solidFill>
          <a:ln/>
        </p:spPr>
      </p:sp>
      <p:sp>
        <p:nvSpPr>
          <p:cNvPr id="21" name="Shape 19"/>
          <p:cNvSpPr/>
          <p:nvPr/>
        </p:nvSpPr>
        <p:spPr>
          <a:xfrm>
            <a:off x="7924800" y="1930400"/>
            <a:ext cx="1676400" cy="1153160"/>
          </a:xfrm>
          <a:custGeom>
            <a:avLst/>
            <a:gdLst/>
            <a:ahLst/>
            <a:cxnLst/>
            <a:rect l="l" t="t" r="r" b="b"/>
            <a:pathLst>
              <a:path w="1676400" h="1153160">
                <a:moveTo>
                  <a:pt x="0" y="76200"/>
                </a:moveTo>
                <a:lnTo>
                  <a:pt x="0" y="76200"/>
                </a:lnTo>
                <a:arcTo hR="76200" wR="76200" stAng="10800000" swAng="5400000"/>
                <a:lnTo>
                  <a:pt x="1600200" y="0"/>
                </a:lnTo>
                <a:arcTo hR="76200" wR="76200" stAng="16200000" swAng="5400000"/>
                <a:lnTo>
                  <a:pt x="1676400" y="76200"/>
                </a:lnTo>
                <a:arcTo hR="38100" wR="76200" stAng="0" swAng="-5400000"/>
                <a:lnTo>
                  <a:pt x="76200" y="38100"/>
                </a:lnTo>
                <a:arcTo hR="38100" wR="76200" stAng="16200000" swAng="-5400000"/>
                <a:close/>
              </a:path>
            </a:pathLst>
          </a:custGeom>
          <a:solidFill>
            <a:srgbClr val="FF7932"/>
          </a:solidFill>
          <a:ln/>
        </p:spPr>
      </p:sp>
      <p:sp>
        <p:nvSpPr>
          <p:cNvPr id="22" name="Text 20"/>
          <p:cNvSpPr/>
          <p:nvPr/>
        </p:nvSpPr>
        <p:spPr>
          <a:xfrm>
            <a:off x="8051800" y="2169164"/>
            <a:ext cx="1473200"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4,1</a:t>
            </a:r>
            <a:endParaRPr lang="en-US" sz="3200" dirty="0"/>
          </a:p>
        </p:txBody>
      </p:sp>
      <p:sp>
        <p:nvSpPr>
          <p:cNvPr id="23" name="Text 21"/>
          <p:cNvSpPr/>
          <p:nvPr/>
        </p:nvSpPr>
        <p:spPr>
          <a:xfrm>
            <a:off x="8051800" y="2667000"/>
            <a:ext cx="147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Ritmo</a:t>
            </a:r>
            <a:endParaRPr lang="en-US" sz="1200" dirty="0"/>
          </a:p>
        </p:txBody>
      </p:sp>
      <p:sp>
        <p:nvSpPr>
          <p:cNvPr id="24" name="Shape 22"/>
          <p:cNvSpPr/>
          <p:nvPr/>
        </p:nvSpPr>
        <p:spPr>
          <a:xfrm>
            <a:off x="9702800" y="1930400"/>
            <a:ext cx="1676400" cy="1153160"/>
          </a:xfrm>
          <a:prstGeom prst="roundRect">
            <a:avLst>
              <a:gd name="adj" fmla="val 6608"/>
            </a:avLst>
          </a:prstGeom>
          <a:solidFill>
            <a:srgbClr val="F4F6F8"/>
          </a:solidFill>
          <a:ln/>
        </p:spPr>
      </p:sp>
      <p:sp>
        <p:nvSpPr>
          <p:cNvPr id="25" name="Shape 23"/>
          <p:cNvSpPr/>
          <p:nvPr/>
        </p:nvSpPr>
        <p:spPr>
          <a:xfrm>
            <a:off x="9702800" y="1930400"/>
            <a:ext cx="1676400" cy="1153160"/>
          </a:xfrm>
          <a:custGeom>
            <a:avLst/>
            <a:gdLst/>
            <a:ahLst/>
            <a:cxnLst/>
            <a:rect l="l" t="t" r="r" b="b"/>
            <a:pathLst>
              <a:path w="1676400" h="1153160">
                <a:moveTo>
                  <a:pt x="0" y="76200"/>
                </a:moveTo>
                <a:lnTo>
                  <a:pt x="0" y="76200"/>
                </a:lnTo>
                <a:arcTo hR="76200" wR="76200" stAng="10800000" swAng="5400000"/>
                <a:lnTo>
                  <a:pt x="1600200" y="0"/>
                </a:lnTo>
                <a:arcTo hR="76200" wR="76200" stAng="16200000" swAng="5400000"/>
                <a:lnTo>
                  <a:pt x="1676400" y="76200"/>
                </a:lnTo>
                <a:arcTo hR="38100" wR="76200" stAng="0" swAng="-5400000"/>
                <a:lnTo>
                  <a:pt x="76200" y="38100"/>
                </a:lnTo>
                <a:arcTo hR="38100" wR="76200" stAng="16200000" swAng="-5400000"/>
                <a:close/>
              </a:path>
            </a:pathLst>
          </a:custGeom>
          <a:solidFill>
            <a:srgbClr val="FF7932"/>
          </a:solidFill>
          <a:ln/>
        </p:spPr>
      </p:sp>
      <p:sp>
        <p:nvSpPr>
          <p:cNvPr id="26" name="Text 24"/>
          <p:cNvSpPr/>
          <p:nvPr/>
        </p:nvSpPr>
        <p:spPr>
          <a:xfrm>
            <a:off x="9829800" y="2169164"/>
            <a:ext cx="1473200"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5,0</a:t>
            </a:r>
            <a:endParaRPr lang="en-US" sz="3200" dirty="0"/>
          </a:p>
        </p:txBody>
      </p:sp>
      <p:sp>
        <p:nvSpPr>
          <p:cNvPr id="27" name="Text 25"/>
          <p:cNvSpPr/>
          <p:nvPr/>
        </p:nvSpPr>
        <p:spPr>
          <a:xfrm>
            <a:off x="9829800" y="2667000"/>
            <a:ext cx="147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Personalización</a:t>
            </a:r>
            <a:endParaRPr lang="en-US" sz="1200" dirty="0"/>
          </a:p>
        </p:txBody>
      </p:sp>
      <p:sp>
        <p:nvSpPr>
          <p:cNvPr id="28" name="Shape 26"/>
          <p:cNvSpPr/>
          <p:nvPr/>
        </p:nvSpPr>
        <p:spPr>
          <a:xfrm>
            <a:off x="825500" y="5059679"/>
            <a:ext cx="0" cy="782320"/>
          </a:xfrm>
          <a:prstGeom prst="line">
            <a:avLst/>
          </a:prstGeom>
          <a:noFill/>
          <a:ln w="25400">
            <a:solidFill>
              <a:srgbClr val="FF7932"/>
            </a:solidFill>
            <a:prstDash val="solid"/>
          </a:ln>
        </p:spPr>
      </p:sp>
      <p:sp>
        <p:nvSpPr>
          <p:cNvPr id="29" name="Text 27"/>
          <p:cNvSpPr/>
          <p:nvPr/>
        </p:nvSpPr>
        <p:spPr>
          <a:xfrm>
            <a:off x="1041400" y="5059679"/>
            <a:ext cx="3252754"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FF7932"/>
                </a:solidFill>
                <a:latin typeface="DM Sans" pitchFamily="34" charset="0"/>
                <a:ea typeface="DM Sans" pitchFamily="34" charset="-122"/>
                <a:cs typeface="DM Sans" pitchFamily="34" charset="-120"/>
              </a:rPr>
              <a:t>10 / 10</a:t>
            </a:r>
            <a:endParaRPr lang="en-US" sz="3200" dirty="0"/>
          </a:p>
        </p:txBody>
      </p:sp>
      <p:sp>
        <p:nvSpPr>
          <p:cNvPr id="30" name="Text 28"/>
          <p:cNvSpPr/>
          <p:nvPr/>
        </p:nvSpPr>
        <p:spPr>
          <a:xfrm>
            <a:off x="1041400" y="5557521"/>
            <a:ext cx="325275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capítulos consolidados</a:t>
            </a:r>
            <a:endParaRPr lang="en-US" sz="1600" dirty="0"/>
          </a:p>
        </p:txBody>
      </p:sp>
      <p:sp>
        <p:nvSpPr>
          <p:cNvPr id="31" name="Shape 29"/>
          <p:cNvSpPr/>
          <p:nvPr/>
        </p:nvSpPr>
        <p:spPr>
          <a:xfrm>
            <a:off x="4415314" y="5059679"/>
            <a:ext cx="0" cy="782320"/>
          </a:xfrm>
          <a:prstGeom prst="line">
            <a:avLst/>
          </a:prstGeom>
          <a:noFill/>
          <a:ln w="25400">
            <a:solidFill>
              <a:srgbClr val="CBD3DA"/>
            </a:solidFill>
            <a:prstDash val="solid"/>
          </a:ln>
        </p:spPr>
      </p:sp>
      <p:sp>
        <p:nvSpPr>
          <p:cNvPr id="32" name="Text 30"/>
          <p:cNvSpPr/>
          <p:nvPr/>
        </p:nvSpPr>
        <p:spPr>
          <a:xfrm>
            <a:off x="4631214" y="5059679"/>
            <a:ext cx="3252836"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16</a:t>
            </a:r>
            <a:endParaRPr lang="en-US" sz="3200" dirty="0"/>
          </a:p>
        </p:txBody>
      </p:sp>
      <p:sp>
        <p:nvSpPr>
          <p:cNvPr id="33" name="Text 31"/>
          <p:cNvSpPr/>
          <p:nvPr/>
        </p:nvSpPr>
        <p:spPr>
          <a:xfrm>
            <a:off x="4631214" y="5557521"/>
            <a:ext cx="325283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intentos · 6 reescrituras</a:t>
            </a:r>
            <a:endParaRPr lang="en-US" sz="1600" dirty="0"/>
          </a:p>
        </p:txBody>
      </p:sp>
      <p:sp>
        <p:nvSpPr>
          <p:cNvPr id="34" name="Shape 32"/>
          <p:cNvSpPr/>
          <p:nvPr/>
        </p:nvSpPr>
        <p:spPr>
          <a:xfrm>
            <a:off x="8005207" y="5059679"/>
            <a:ext cx="0" cy="782320"/>
          </a:xfrm>
          <a:prstGeom prst="line">
            <a:avLst/>
          </a:prstGeom>
          <a:noFill/>
          <a:ln w="25400">
            <a:solidFill>
              <a:srgbClr val="CBD3DA"/>
            </a:solidFill>
            <a:prstDash val="solid"/>
          </a:ln>
        </p:spPr>
      </p:sp>
      <p:sp>
        <p:nvSpPr>
          <p:cNvPr id="35" name="Text 33"/>
          <p:cNvSpPr/>
          <p:nvPr/>
        </p:nvSpPr>
        <p:spPr>
          <a:xfrm>
            <a:off x="8221107" y="5059679"/>
            <a:ext cx="3252836"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1 · 6</a:t>
            </a:r>
            <a:endParaRPr lang="en-US" sz="3200" dirty="0"/>
          </a:p>
        </p:txBody>
      </p:sp>
      <p:sp>
        <p:nvSpPr>
          <p:cNvPr id="36" name="Text 34"/>
          <p:cNvSpPr/>
          <p:nvPr/>
        </p:nvSpPr>
        <p:spPr>
          <a:xfrm>
            <a:off x="8221107" y="5557521"/>
            <a:ext cx="325283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hallazgo mayor · menores</a:t>
            </a:r>
            <a:endParaRPr lang="en-US" sz="1600" dirty="0"/>
          </a:p>
        </p:txBody>
      </p:sp>
      <p:sp>
        <p:nvSpPr>
          <p:cNvPr id="37" name="Text 35"/>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Media de 10 capítulos · escala 1–5 · novela publicada, versión 1 · © Qaracter group 2026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23044"/>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FF7932"/>
                </a:solidFill>
                <a:latin typeface="DM Sans" pitchFamily="34" charset="0"/>
                <a:ea typeface="DM Sans" pitchFamily="34" charset="-122"/>
                <a:cs typeface="DM Sans" pitchFamily="34" charset="-120"/>
              </a:rPr>
              <a:t>05 · CÓMO CALIFICA EL EDITOR</a:t>
            </a:r>
            <a:endParaRPr lang="en-US" sz="1121" dirty="0"/>
          </a:p>
        </p:txBody>
      </p:sp>
      <p:sp>
        <p:nvSpPr>
          <p:cNvPr id="3" name="Text 1"/>
          <p:cNvSpPr/>
          <p:nvPr/>
        </p:nvSpPr>
        <p:spPr>
          <a:xfrm>
            <a:off x="812800" y="1112044"/>
            <a:ext cx="10883392" cy="439499"/>
          </a:xfrm>
          <a:prstGeom prst="rect">
            <a:avLst/>
          </a:prstGeom>
          <a:noFill/>
          <a:ln/>
        </p:spPr>
        <p:txBody>
          <a:bodyPr wrap="square" lIns="0" tIns="0" rIns="0" bIns="0" rtlCol="0" anchor="t">
            <a:normAutofit/>
          </a:bodyPr>
          <a:lstStyle/>
          <a:p>
            <a:pPr algn="l" indent="0" marL="0">
              <a:lnSpc>
                <a:spcPts val="3267"/>
              </a:lnSpc>
              <a:buNone/>
            </a:pPr>
            <a:r>
              <a:rPr lang="en-US" sz="2970" b="1" spc="-75" kern="0" dirty="0">
                <a:solidFill>
                  <a:srgbClr val="233441"/>
                </a:solidFill>
                <a:latin typeface="DM Sans" pitchFamily="34" charset="0"/>
                <a:ea typeface="DM Sans" pitchFamily="34" charset="-122"/>
                <a:cs typeface="DM Sans" pitchFamily="34" charset="-120"/>
              </a:rPr>
              <a:t>Capítulo a capítulo, de 1 a 5</a:t>
            </a:r>
            <a:endParaRPr lang="en-US" sz="297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90306"/>
          <a:ext cx="10556240" cy="4051697"/>
        </p:xfrm>
        <a:graphic>
          <a:graphicData uri="http://schemas.openxmlformats.org/drawingml/2006/table">
            <a:tbl>
              <a:tblPr/>
              <a:tblGrid>
                <a:gridCol w="1055624"/>
                <a:gridCol w="1055624"/>
                <a:gridCol w="1055624"/>
                <a:gridCol w="1055624"/>
                <a:gridCol w="1055624"/>
                <a:gridCol w="1055624"/>
                <a:gridCol w="1055624"/>
                <a:gridCol w="1055624"/>
                <a:gridCol w="1055624"/>
                <a:gridCol w="1055624"/>
              </a:tblGrid>
              <a:tr h="305356">
                <a:tc>
                  <a:txBody>
                    <a:bodyPr/>
                    <a:lstStyle/>
                    <a:p>
                      <a:pPr indent="0" marL="0">
                        <a:lnSpc>
                          <a:spcPts val="1523"/>
                        </a:lnSpc>
                        <a:buNone/>
                      </a:pPr>
                      <a:r>
                        <a:rPr lang="en-US" sz="1088" b="1" dirty="0">
                          <a:solidFill>
                            <a:srgbClr val="6B7782"/>
                          </a:solidFill>
                          <a:latin typeface="DM Sans" pitchFamily="34" charset="0"/>
                          <a:ea typeface="DM Sans" pitchFamily="34" charset="-122"/>
                          <a:cs typeface="DM Sans" pitchFamily="34" charset="-120"/>
                        </a:rPr>
                        <a:t>Cap.</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523"/>
                        </a:lnSpc>
                        <a:buNone/>
                      </a:pPr>
                      <a:r>
                        <a:rPr lang="en-US" sz="1088" b="1" dirty="0">
                          <a:solidFill>
                            <a:srgbClr val="6B7782"/>
                          </a:solidFill>
                          <a:latin typeface="DM Sans" pitchFamily="34" charset="0"/>
                          <a:ea typeface="DM Sans" pitchFamily="34" charset="-122"/>
                          <a:cs typeface="DM Sans" pitchFamily="34" charset="-120"/>
                        </a:rPr>
                        <a:t>Cont.</a:t>
                      </a:r>
                      <a:endParaRPr lang="en-US" sz="1088" dirty="0">
                        <a:latin typeface="DM Sans" charset="0"/>
                        <a:ea typeface="DM Sans" charset="0"/>
                        <a:cs typeface="DM Sans" charset="0"/>
                      </a:endParaRPr>
                    </a:p>
                  </a:txBody>
                  <a:tcPr marL="101600" marR="1016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523"/>
                        </a:lnSpc>
                        <a:buNone/>
                      </a:pPr>
                      <a:r>
                        <a:rPr lang="en-US" sz="1088" b="1" dirty="0">
                          <a:solidFill>
                            <a:srgbClr val="6B7782"/>
                          </a:solidFill>
                          <a:latin typeface="DM Sans" pitchFamily="34" charset="0"/>
                          <a:ea typeface="DM Sans" pitchFamily="34" charset="-122"/>
                          <a:cs typeface="DM Sans" pitchFamily="34" charset="-120"/>
                        </a:rPr>
                        <a:t>Tono</a:t>
                      </a:r>
                      <a:endParaRPr lang="en-US" sz="1088" dirty="0">
                        <a:latin typeface="DM Sans" charset="0"/>
                        <a:ea typeface="DM Sans" charset="0"/>
                        <a:cs typeface="DM Sans" charset="0"/>
                      </a:endParaRPr>
                    </a:p>
                  </a:txBody>
                  <a:tcPr marL="101600" marR="1016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523"/>
                        </a:lnSpc>
                        <a:buNone/>
                      </a:pPr>
                      <a:r>
                        <a:rPr lang="en-US" sz="1088" b="1" dirty="0">
                          <a:solidFill>
                            <a:srgbClr val="6B7782"/>
                          </a:solidFill>
                          <a:latin typeface="DM Sans" pitchFamily="34" charset="0"/>
                          <a:ea typeface="DM Sans" pitchFamily="34" charset="-122"/>
                          <a:cs typeface="DM Sans" pitchFamily="34" charset="-120"/>
                        </a:rPr>
                        <a:t>Arco</a:t>
                      </a:r>
                      <a:endParaRPr lang="en-US" sz="1088" dirty="0">
                        <a:latin typeface="DM Sans" charset="0"/>
                        <a:ea typeface="DM Sans" charset="0"/>
                        <a:cs typeface="DM Sans" charset="0"/>
                      </a:endParaRPr>
                    </a:p>
                  </a:txBody>
                  <a:tcPr marL="101600" marR="1016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523"/>
                        </a:lnSpc>
                        <a:buNone/>
                      </a:pPr>
                      <a:r>
                        <a:rPr lang="en-US" sz="1088" b="1" dirty="0">
                          <a:solidFill>
                            <a:srgbClr val="6B7782"/>
                          </a:solidFill>
                          <a:latin typeface="DM Sans" pitchFamily="34" charset="0"/>
                          <a:ea typeface="DM Sans" pitchFamily="34" charset="-122"/>
                          <a:cs typeface="DM Sans" pitchFamily="34" charset="-120"/>
                        </a:rPr>
                        <a:t>Pers.</a:t>
                      </a:r>
                      <a:endParaRPr lang="en-US" sz="1088" dirty="0">
                        <a:latin typeface="DM Sans" charset="0"/>
                        <a:ea typeface="DM Sans" charset="0"/>
                        <a:cs typeface="DM Sans" charset="0"/>
                      </a:endParaRPr>
                    </a:p>
                  </a:txBody>
                  <a:tcPr marL="101600" marR="1016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523"/>
                        </a:lnSpc>
                        <a:buNone/>
                      </a:pPr>
                      <a:r>
                        <a:rPr lang="en-US" sz="1088" b="1" dirty="0">
                          <a:solidFill>
                            <a:srgbClr val="6B7782"/>
                          </a:solidFill>
                          <a:latin typeface="DM Sans" pitchFamily="34" charset="0"/>
                          <a:ea typeface="DM Sans" pitchFamily="34" charset="-122"/>
                          <a:cs typeface="DM Sans" pitchFamily="34" charset="-120"/>
                        </a:rPr>
                        <a:t>Ritmo</a:t>
                      </a:r>
                      <a:endParaRPr lang="en-US" sz="1088" dirty="0">
                        <a:latin typeface="DM Sans" charset="0"/>
                        <a:ea typeface="DM Sans" charset="0"/>
                        <a:cs typeface="DM Sans" charset="0"/>
                      </a:endParaRPr>
                    </a:p>
                  </a:txBody>
                  <a:tcPr marL="101600" marR="1016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523"/>
                        </a:lnSpc>
                        <a:buNone/>
                      </a:pPr>
                      <a:r>
                        <a:rPr lang="en-US" sz="1088" b="1" dirty="0">
                          <a:solidFill>
                            <a:srgbClr val="6B7782"/>
                          </a:solidFill>
                          <a:latin typeface="DM Sans" pitchFamily="34" charset="0"/>
                          <a:ea typeface="DM Sans" pitchFamily="34" charset="-122"/>
                          <a:cs typeface="DM Sans" pitchFamily="34" charset="-120"/>
                        </a:rPr>
                        <a:t>Perso.</a:t>
                      </a:r>
                      <a:endParaRPr lang="en-US" sz="1088" dirty="0">
                        <a:latin typeface="DM Sans" charset="0"/>
                        <a:ea typeface="DM Sans" charset="0"/>
                        <a:cs typeface="DM Sans" charset="0"/>
                      </a:endParaRPr>
                    </a:p>
                  </a:txBody>
                  <a:tcPr marL="101600" marR="1016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523"/>
                        </a:lnSpc>
                        <a:buNone/>
                      </a:pPr>
                      <a:r>
                        <a:rPr lang="en-US" sz="1088" b="1" dirty="0">
                          <a:solidFill>
                            <a:srgbClr val="6B7782"/>
                          </a:solidFill>
                          <a:latin typeface="DM Sans" pitchFamily="34" charset="0"/>
                          <a:ea typeface="DM Sans" pitchFamily="34" charset="-122"/>
                          <a:cs typeface="DM Sans" pitchFamily="34" charset="-120"/>
                        </a:rPr>
                        <a:t>Coste USD</a:t>
                      </a:r>
                      <a:endParaRPr lang="en-US" sz="1088" dirty="0">
                        <a:latin typeface="DM Sans" charset="0"/>
                        <a:ea typeface="DM Sans" charset="0"/>
                        <a:cs typeface="DM Sans" charset="0"/>
                      </a:endParaRPr>
                    </a:p>
                  </a:txBody>
                  <a:tcPr marL="101600" marR="1016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523"/>
                        </a:lnSpc>
                        <a:buNone/>
                      </a:pPr>
                      <a:r>
                        <a:rPr lang="en-US" sz="1088" b="1" dirty="0">
                          <a:solidFill>
                            <a:srgbClr val="6B7782"/>
                          </a:solidFill>
                          <a:latin typeface="DM Sans" pitchFamily="34" charset="0"/>
                          <a:ea typeface="DM Sans" pitchFamily="34" charset="-122"/>
                          <a:cs typeface="DM Sans" pitchFamily="34" charset="-120"/>
                        </a:rPr>
                        <a:t>Intentos</a:t>
                      </a:r>
                      <a:endParaRPr lang="en-US" sz="1088" dirty="0">
                        <a:latin typeface="DM Sans" charset="0"/>
                        <a:ea typeface="DM Sans" charset="0"/>
                        <a:cs typeface="DM Sans" charset="0"/>
                      </a:endParaRPr>
                    </a:p>
                  </a:txBody>
                  <a:tcPr marL="101600" marR="1016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523"/>
                        </a:lnSpc>
                        <a:buNone/>
                      </a:pPr>
                      <a:r>
                        <a:rPr lang="en-US" sz="1088" b="1" dirty="0">
                          <a:solidFill>
                            <a:srgbClr val="6B7782"/>
                          </a:solidFill>
                          <a:latin typeface="DM Sans" pitchFamily="34" charset="0"/>
                          <a:ea typeface="DM Sans" pitchFamily="34" charset="-122"/>
                          <a:cs typeface="DM Sans" pitchFamily="34" charset="-120"/>
                        </a:rPr>
                        <a:t>Hallazgos</a:t>
                      </a:r>
                      <a:endParaRPr lang="en-US" sz="1088" dirty="0">
                        <a:latin typeface="DM Sans" charset="0"/>
                        <a:ea typeface="DM Sans" charset="0"/>
                        <a:cs typeface="DM Sans" charset="0"/>
                      </a:endParaRPr>
                    </a:p>
                  </a:txBody>
                  <a:tcPr marL="101600" marR="1016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05356">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1</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0,75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1 menor</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356">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2</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0,36</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1</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1 menor</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8793">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3</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0,73</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2</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1 mayor · 2 menores</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435">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0,33</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1</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1 menor</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435">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0,39</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1</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435">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6</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0,39</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1</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1 menor</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435">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7</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0,65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2</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435">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8</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0,39</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1</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435">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9</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C2410C"/>
                          </a:solidFill>
                          <a:latin typeface="DM Sans" pitchFamily="34" charset="0"/>
                          <a:ea typeface="DM Sans" pitchFamily="34" charset="-122"/>
                          <a:cs typeface="DM Sans" pitchFamily="34" charset="-120"/>
                        </a:rPr>
                        <a:t>4</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0,41</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1</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435">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10</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0,42</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1</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8793">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Media</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5,0</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5,0</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4,7</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5,0</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4,1</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5,0</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4,81</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523"/>
                        </a:lnSpc>
                        <a:buNone/>
                      </a:pPr>
                      <a:r>
                        <a:rPr lang="en-US" sz="1088" dirty="0">
                          <a:solidFill>
                            <a:srgbClr val="233441"/>
                          </a:solidFill>
                          <a:latin typeface="DM Sans" pitchFamily="34" charset="0"/>
                          <a:ea typeface="DM Sans" pitchFamily="34" charset="-122"/>
                          <a:cs typeface="DM Sans" pitchFamily="34" charset="-120"/>
                        </a:rPr>
                        <a:t>16</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23"/>
                        </a:lnSpc>
                        <a:buNone/>
                      </a:pPr>
                      <a:r>
                        <a:rPr lang="en-US" sz="1088" dirty="0">
                          <a:solidFill>
                            <a:srgbClr val="233441"/>
                          </a:solidFill>
                          <a:latin typeface="DM Sans" pitchFamily="34" charset="0"/>
                          <a:ea typeface="DM Sans" pitchFamily="34" charset="-122"/>
                          <a:cs typeface="DM Sans" pitchFamily="34" charset="-120"/>
                        </a:rPr>
                        <a:t>1 mayor · 6 menores</a:t>
                      </a:r>
                      <a:endParaRPr lang="en-US" sz="1088" dirty="0">
                        <a:latin typeface="DM Sans" charset="0"/>
                        <a:ea typeface="DM Sans" charset="0"/>
                        <a:cs typeface="DM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Cont. continuidad · Pers. personajes · Perso. personalización · en naranja, lo que no llega a 5 · © Qaracter group 2026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05 · LEAN 4</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El error se paró en la primera capa que podía verlo</a:t>
            </a:r>
            <a:endParaRPr lang="en-US" sz="3200" dirty="0"/>
          </a:p>
        </p:txBody>
      </p:sp>
      <p:sp>
        <p:nvSpPr>
          <p:cNvPr id="4" name="Shape 2"/>
          <p:cNvSpPr/>
          <p:nvPr/>
        </p:nvSpPr>
        <p:spPr>
          <a:xfrm>
            <a:off x="812800" y="1930400"/>
            <a:ext cx="2110740" cy="1427480"/>
          </a:xfrm>
          <a:prstGeom prst="roundRect">
            <a:avLst>
              <a:gd name="adj" fmla="val 7117"/>
            </a:avLst>
          </a:prstGeom>
          <a:solidFill>
            <a:srgbClr val="F4F6F8"/>
          </a:solidFill>
          <a:ln/>
        </p:spPr>
      </p:sp>
      <p:sp>
        <p:nvSpPr>
          <p:cNvPr id="5" name="Text 3"/>
          <p:cNvSpPr/>
          <p:nvPr/>
        </p:nvSpPr>
        <p:spPr>
          <a:xfrm>
            <a:off x="1016000" y="2133600"/>
            <a:ext cx="175547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BRIEF</a:t>
            </a:r>
            <a:endParaRPr lang="en-US" sz="1200" dirty="0"/>
          </a:p>
        </p:txBody>
      </p:sp>
      <p:sp>
        <p:nvSpPr>
          <p:cNvPr id="6" name="Text 4"/>
          <p:cNvSpPr/>
          <p:nvPr/>
        </p:nvSpPr>
        <p:spPr>
          <a:xfrm>
            <a:off x="1016000" y="2423158"/>
            <a:ext cx="1755470" cy="7569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Diseñado para romper la cronología</a:t>
            </a:r>
            <a:endParaRPr lang="en-US" sz="1600" dirty="0"/>
          </a:p>
        </p:txBody>
      </p:sp>
      <p:pic>
        <p:nvPicPr>
          <p:cNvPr id="7" name="Image 0" descr="arrow-right">    </p:cNvPr>
          <p:cNvPicPr>
            <a:picLocks noChangeAspect="1"/>
          </p:cNvPicPr>
          <p:nvPr/>
        </p:nvPicPr>
        <p:blipFill>
          <a:blip r:embed="rId1"/>
          <a:srcRect l="0" r="0" t="0" b="0"/>
          <a:stretch/>
        </p:blipFill>
        <p:spPr>
          <a:xfrm>
            <a:off x="3075940" y="2542542"/>
            <a:ext cx="406400" cy="203200"/>
          </a:xfrm>
          <a:prstGeom prst="rect">
            <a:avLst/>
          </a:prstGeom>
        </p:spPr>
      </p:pic>
      <p:sp>
        <p:nvSpPr>
          <p:cNvPr id="8" name="Shape 5"/>
          <p:cNvSpPr/>
          <p:nvPr/>
        </p:nvSpPr>
        <p:spPr>
          <a:xfrm>
            <a:off x="3634740" y="2052327"/>
            <a:ext cx="2110740" cy="1183640"/>
          </a:xfrm>
          <a:prstGeom prst="roundRect">
            <a:avLst>
              <a:gd name="adj" fmla="val 8584"/>
            </a:avLst>
          </a:prstGeom>
          <a:solidFill>
            <a:srgbClr val="FF7932"/>
          </a:solidFill>
          <a:ln/>
        </p:spPr>
      </p:sp>
      <p:sp>
        <p:nvSpPr>
          <p:cNvPr id="9" name="Text 6"/>
          <p:cNvSpPr/>
          <p:nvPr/>
        </p:nvSpPr>
        <p:spPr>
          <a:xfrm>
            <a:off x="3837940" y="2255527"/>
            <a:ext cx="175547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33441"/>
                </a:solidFill>
                <a:latin typeface="DM Sans" pitchFamily="34" charset="0"/>
                <a:ea typeface="DM Sans" pitchFamily="34" charset="-122"/>
                <a:cs typeface="DM Sans" pitchFamily="34" charset="-120"/>
              </a:rPr>
              <a:t>REVISOR DEL PLAN</a:t>
            </a:r>
            <a:endParaRPr lang="en-US" sz="1200" dirty="0"/>
          </a:p>
        </p:txBody>
      </p:sp>
      <p:sp>
        <p:nvSpPr>
          <p:cNvPr id="10" name="Text 7"/>
          <p:cNvSpPr/>
          <p:nvPr/>
        </p:nvSpPr>
        <p:spPr>
          <a:xfrm>
            <a:off x="3837940" y="2545085"/>
            <a:ext cx="175547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Lo detecta y lo para</a:t>
            </a:r>
            <a:endParaRPr lang="en-US" sz="1600" dirty="0"/>
          </a:p>
        </p:txBody>
      </p:sp>
      <p:pic>
        <p:nvPicPr>
          <p:cNvPr id="11" name="Image 1" descr="arrow-right">    </p:cNvPr>
          <p:cNvPicPr>
            <a:picLocks noChangeAspect="1"/>
          </p:cNvPicPr>
          <p:nvPr/>
        </p:nvPicPr>
        <p:blipFill>
          <a:blip r:embed="rId2"/>
          <a:srcRect l="0" r="0" t="0" b="0"/>
          <a:stretch/>
        </p:blipFill>
        <p:spPr>
          <a:xfrm>
            <a:off x="5897880" y="2542542"/>
            <a:ext cx="406400" cy="203200"/>
          </a:xfrm>
          <a:prstGeom prst="rect">
            <a:avLst/>
          </a:prstGeom>
        </p:spPr>
      </p:pic>
      <p:sp>
        <p:nvSpPr>
          <p:cNvPr id="12" name="Shape 8"/>
          <p:cNvSpPr/>
          <p:nvPr/>
        </p:nvSpPr>
        <p:spPr>
          <a:xfrm>
            <a:off x="6463030" y="2061208"/>
            <a:ext cx="2092960" cy="1165860"/>
          </a:xfrm>
          <a:prstGeom prst="roundRect">
            <a:avLst>
              <a:gd name="adj" fmla="val 8170"/>
            </a:avLst>
          </a:prstGeom>
          <a:noFill/>
          <a:ln w="12700">
            <a:solidFill>
              <a:srgbClr val="CBD3DA"/>
            </a:solidFill>
            <a:prstDash val="dash"/>
          </a:ln>
        </p:spPr>
      </p:sp>
      <p:sp>
        <p:nvSpPr>
          <p:cNvPr id="13" name="Text 9"/>
          <p:cNvSpPr/>
          <p:nvPr/>
        </p:nvSpPr>
        <p:spPr>
          <a:xfrm>
            <a:off x="6657340" y="2255527"/>
            <a:ext cx="175547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TEXTO</a:t>
            </a:r>
            <a:endParaRPr lang="en-US" sz="1200" dirty="0"/>
          </a:p>
        </p:txBody>
      </p:sp>
      <p:sp>
        <p:nvSpPr>
          <p:cNvPr id="14" name="Text 10"/>
          <p:cNvSpPr/>
          <p:nvPr/>
        </p:nvSpPr>
        <p:spPr>
          <a:xfrm>
            <a:off x="6657340" y="2545085"/>
            <a:ext cx="175547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6B7782"/>
                </a:solidFill>
                <a:latin typeface="DM Sans" pitchFamily="34" charset="0"/>
                <a:ea typeface="DM Sans" pitchFamily="34" charset="-122"/>
                <a:cs typeface="DM Sans" pitchFamily="34" charset="-120"/>
              </a:rPr>
              <a:t>No llega a escribirse</a:t>
            </a:r>
            <a:endParaRPr lang="en-US" sz="1600" dirty="0"/>
          </a:p>
        </p:txBody>
      </p:sp>
      <p:pic>
        <p:nvPicPr>
          <p:cNvPr id="15" name="Image 2" descr="arrow-right">    </p:cNvPr>
          <p:cNvPicPr>
            <a:picLocks noChangeAspect="1"/>
          </p:cNvPicPr>
          <p:nvPr/>
        </p:nvPicPr>
        <p:blipFill>
          <a:blip r:embed="rId3"/>
          <a:srcRect l="0" r="0" t="0" b="0"/>
          <a:stretch/>
        </p:blipFill>
        <p:spPr>
          <a:xfrm>
            <a:off x="8714740" y="2542542"/>
            <a:ext cx="406400" cy="203200"/>
          </a:xfrm>
          <a:prstGeom prst="rect">
            <a:avLst/>
          </a:prstGeom>
        </p:spPr>
      </p:pic>
      <p:sp>
        <p:nvSpPr>
          <p:cNvPr id="16" name="Shape 11"/>
          <p:cNvSpPr/>
          <p:nvPr/>
        </p:nvSpPr>
        <p:spPr>
          <a:xfrm>
            <a:off x="9279890" y="2183135"/>
            <a:ext cx="2092960" cy="922020"/>
          </a:xfrm>
          <a:prstGeom prst="roundRect">
            <a:avLst>
              <a:gd name="adj" fmla="val 10331"/>
            </a:avLst>
          </a:prstGeom>
          <a:noFill/>
          <a:ln w="12700">
            <a:solidFill>
              <a:srgbClr val="CBD3DA"/>
            </a:solidFill>
            <a:prstDash val="dash"/>
          </a:ln>
        </p:spPr>
      </p:sp>
      <p:sp>
        <p:nvSpPr>
          <p:cNvPr id="17" name="Text 12"/>
          <p:cNvSpPr/>
          <p:nvPr/>
        </p:nvSpPr>
        <p:spPr>
          <a:xfrm>
            <a:off x="9474200" y="2377442"/>
            <a:ext cx="175547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LEAN 4</a:t>
            </a:r>
            <a:endParaRPr lang="en-US" sz="1200" dirty="0"/>
          </a:p>
        </p:txBody>
      </p:sp>
      <p:sp>
        <p:nvSpPr>
          <p:cNvPr id="18" name="Text 13"/>
          <p:cNvSpPr/>
          <p:nvPr/>
        </p:nvSpPr>
        <p:spPr>
          <a:xfrm>
            <a:off x="9474200" y="2667000"/>
            <a:ext cx="175547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6B7782"/>
                </a:solidFill>
                <a:latin typeface="DM Sans" pitchFamily="34" charset="0"/>
                <a:ea typeface="DM Sans" pitchFamily="34" charset="-122"/>
                <a:cs typeface="DM Sans" pitchFamily="34" charset="-120"/>
              </a:rPr>
              <a:t>No hace falta</a:t>
            </a:r>
            <a:endParaRPr lang="en-US" sz="1600" dirty="0"/>
          </a:p>
        </p:txBody>
      </p:sp>
      <p:sp>
        <p:nvSpPr>
          <p:cNvPr id="19" name="Text 14"/>
          <p:cNvSpPr/>
          <p:nvPr/>
        </p:nvSpPr>
        <p:spPr>
          <a:xfrm>
            <a:off x="812800" y="5511800"/>
            <a:ext cx="91567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233441"/>
                </a:solidFill>
                <a:latin typeface="DM Sans" pitchFamily="34" charset="0"/>
                <a:ea typeface="DM Sans" pitchFamily="34" charset="-122"/>
                <a:cs typeface="DM Sans" pitchFamily="34" charset="-120"/>
              </a:rPr>
              <a:t>Lean no tuvo caso real. </a:t>
            </a:r>
            <a:r>
              <a:rPr lang="en-US" sz="2000" b="1" dirty="0">
                <a:solidFill>
                  <a:srgbClr val="233441"/>
                </a:solidFill>
                <a:latin typeface="DM Sans" pitchFamily="34" charset="0"/>
                <a:ea typeface="DM Sans" pitchFamily="34" charset="-122"/>
                <a:cs typeface="DM Sans" pitchFamily="34" charset="-120"/>
              </a:rPr>
              <a:t>Es la verificación por capas funcionando.</a:t>
            </a:r>
            <a:endParaRPr lang="en-US" sz="2000" dirty="0"/>
          </a:p>
        </p:txBody>
      </p:sp>
      <p:sp>
        <p:nvSpPr>
          <p:cNvPr id="20" name="Text 15"/>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05 · TLA+ Y TLC</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El harness, verificado antes de construirlo</a:t>
            </a:r>
            <a:endParaRPr lang="en-US" sz="3200" dirty="0"/>
          </a:p>
        </p:txBody>
      </p:sp>
      <p:sp>
        <p:nvSpPr>
          <p:cNvPr id="4" name="Text 2"/>
          <p:cNvSpPr/>
          <p:nvPr/>
        </p:nvSpPr>
        <p:spPr>
          <a:xfrm>
            <a:off x="812800" y="1930400"/>
            <a:ext cx="6033202"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33441"/>
                </a:solidFill>
                <a:latin typeface="DM Sans" pitchFamily="34" charset="0"/>
                <a:ea typeface="DM Sans" pitchFamily="34" charset="-122"/>
                <a:cs typeface="DM Sans" pitchFamily="34" charset="-120"/>
              </a:rPr>
              <a:t>756.394</a:t>
            </a:r>
            <a:endParaRPr lang="en-US" sz="6000" dirty="0"/>
          </a:p>
        </p:txBody>
      </p:sp>
      <p:sp>
        <p:nvSpPr>
          <p:cNvPr id="5" name="Text 3"/>
          <p:cNvSpPr/>
          <p:nvPr/>
        </p:nvSpPr>
        <p:spPr>
          <a:xfrm>
            <a:off x="812800" y="2768600"/>
            <a:ext cx="603320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45"/>
                </a:solidFill>
                <a:latin typeface="DM Sans" pitchFamily="34" charset="0"/>
                <a:ea typeface="DM Sans" pitchFamily="34" charset="-122"/>
                <a:cs typeface="DM Sans" pitchFamily="34" charset="-120"/>
              </a:rPr>
              <a:t>estados distintos explorados</a:t>
            </a:r>
            <a:endParaRPr lang="en-US" sz="1600" dirty="0"/>
          </a:p>
        </p:txBody>
      </p:sp>
      <p:sp>
        <p:nvSpPr>
          <p:cNvPr id="6" name="Text 4"/>
          <p:cNvSpPr/>
          <p:nvPr/>
        </p:nvSpPr>
        <p:spPr>
          <a:xfrm>
            <a:off x="6873478" y="1930400"/>
            <a:ext cx="4640894"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33441"/>
                </a:solidFill>
                <a:latin typeface="DM Sans" pitchFamily="34" charset="0"/>
                <a:ea typeface="DM Sans" pitchFamily="34" charset="-122"/>
                <a:cs typeface="DM Sans" pitchFamily="34" charset="-120"/>
              </a:rPr>
              <a:t>12 + 1</a:t>
            </a:r>
            <a:endParaRPr lang="en-US" sz="6000" dirty="0"/>
          </a:p>
        </p:txBody>
      </p:sp>
      <p:sp>
        <p:nvSpPr>
          <p:cNvPr id="7" name="Text 5"/>
          <p:cNvSpPr/>
          <p:nvPr/>
        </p:nvSpPr>
        <p:spPr>
          <a:xfrm>
            <a:off x="6873478" y="2768600"/>
            <a:ext cx="464089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45"/>
                </a:solidFill>
                <a:latin typeface="DM Sans" pitchFamily="34" charset="0"/>
                <a:ea typeface="DM Sans" pitchFamily="34" charset="-122"/>
                <a:cs typeface="DM Sans" pitchFamily="34" charset="-120"/>
              </a:rPr>
              <a:t>invariantes de seguridad + liveness</a:t>
            </a:r>
            <a:endParaRPr lang="en-US" sz="1600" dirty="0"/>
          </a:p>
        </p:txBody>
      </p:sp>
      <p:sp>
        <p:nvSpPr>
          <p:cNvPr id="8" name="Shape 6"/>
          <p:cNvSpPr/>
          <p:nvPr/>
        </p:nvSpPr>
        <p:spPr>
          <a:xfrm>
            <a:off x="812800" y="4201158"/>
            <a:ext cx="10566400" cy="1640840"/>
          </a:xfrm>
          <a:prstGeom prst="roundRect">
            <a:avLst>
              <a:gd name="adj" fmla="val 6192"/>
            </a:avLst>
          </a:prstGeom>
          <a:solidFill>
            <a:srgbClr val="233441"/>
          </a:solidFill>
          <a:ln/>
        </p:spPr>
      </p:sp>
      <p:sp>
        <p:nvSpPr>
          <p:cNvPr id="9" name="Text 7"/>
          <p:cNvSpPr/>
          <p:nvPr/>
        </p:nvSpPr>
        <p:spPr>
          <a:xfrm>
            <a:off x="1117600" y="4505958"/>
            <a:ext cx="1025550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BAA80"/>
                </a:solidFill>
                <a:latin typeface="DM Sans" pitchFamily="34" charset="0"/>
                <a:ea typeface="DM Sans" pitchFamily="34" charset="-122"/>
                <a:cs typeface="DM Sans" pitchFamily="34" charset="-120"/>
              </a:rPr>
              <a:t>UNA GARANTÍA</a:t>
            </a:r>
            <a:endParaRPr lang="en-US" sz="1200" dirty="0"/>
          </a:p>
        </p:txBody>
      </p:sp>
      <p:sp>
        <p:nvSpPr>
          <p:cNvPr id="10" name="Text 8"/>
          <p:cNvSpPr/>
          <p:nvPr/>
        </p:nvSpPr>
        <p:spPr>
          <a:xfrm>
            <a:off x="1117600" y="4820927"/>
            <a:ext cx="10255504"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FFFFF"/>
                </a:solidFill>
                <a:latin typeface="DM Sans" pitchFamily="34" charset="0"/>
                <a:ea typeface="DM Sans" pitchFamily="34" charset="-122"/>
                <a:cs typeface="DM Sans" pitchFamily="34" charset="-120"/>
              </a:rPr>
              <a:t>El lector solo ve versiones escritas y validadas.</a:t>
            </a:r>
            <a:endParaRPr lang="en-US" sz="2000" dirty="0"/>
          </a:p>
        </p:txBody>
      </p:sp>
      <p:sp>
        <p:nvSpPr>
          <p:cNvPr id="11" name="Text 9"/>
          <p:cNvSpPr/>
          <p:nvPr/>
        </p:nvSpPr>
        <p:spPr>
          <a:xfrm>
            <a:off x="1117600" y="5252727"/>
            <a:ext cx="1025550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CE2"/>
                </a:solidFill>
                <a:latin typeface="DM Sans" pitchFamily="34" charset="0"/>
                <a:ea typeface="DM Sans" pitchFamily="34" charset="-122"/>
                <a:cs typeface="DM Sans" pitchFamily="34" charset="-120"/>
              </a:rPr>
              <a:t>Asegurado en el diseño, antes de escribir esa parte del código.</a:t>
            </a:r>
            <a:endParaRPr lang="en-US" sz="1600" dirty="0"/>
          </a:p>
        </p:txBody>
      </p:sp>
      <p:sp>
        <p:nvSpPr>
          <p:cNvPr id="12" name="Text 10"/>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05 · OBSERVABILIDAD</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Langfuse ve el coste, nunca a la persona</a:t>
            </a:r>
            <a:endParaRPr lang="en-US" sz="3200" dirty="0"/>
          </a:p>
        </p:txBody>
      </p:sp>
      <p:sp>
        <p:nvSpPr>
          <p:cNvPr id="4" name="Shape 2"/>
          <p:cNvSpPr/>
          <p:nvPr/>
        </p:nvSpPr>
        <p:spPr>
          <a:xfrm>
            <a:off x="812800" y="1930400"/>
            <a:ext cx="5181600" cy="2311400"/>
          </a:xfrm>
          <a:prstGeom prst="roundRect">
            <a:avLst>
              <a:gd name="adj" fmla="val 4396"/>
            </a:avLst>
          </a:prstGeom>
          <a:solidFill>
            <a:srgbClr val="F4F6F8"/>
          </a:solidFill>
          <a:ln/>
        </p:spPr>
      </p:sp>
      <p:sp>
        <p:nvSpPr>
          <p:cNvPr id="5" name="Shape 3"/>
          <p:cNvSpPr/>
          <p:nvPr/>
        </p:nvSpPr>
        <p:spPr>
          <a:xfrm>
            <a:off x="812800" y="1930400"/>
            <a:ext cx="5181600" cy="2311400"/>
          </a:xfrm>
          <a:custGeom>
            <a:avLst/>
            <a:gdLst/>
            <a:ahLst/>
            <a:cxnLst/>
            <a:rect l="l" t="t" r="r" b="b"/>
            <a:pathLst>
              <a:path w="5181600" h="2311400">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233441"/>
          </a:solidFill>
          <a:ln/>
        </p:spPr>
      </p:sp>
      <p:sp>
        <p:nvSpPr>
          <p:cNvPr id="6" name="Text 4"/>
          <p:cNvSpPr/>
          <p:nvPr/>
        </p:nvSpPr>
        <p:spPr>
          <a:xfrm>
            <a:off x="1117600" y="2270758"/>
            <a:ext cx="470916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33441"/>
                </a:solidFill>
                <a:latin typeface="DM Sans" pitchFamily="34" charset="0"/>
                <a:ea typeface="DM Sans" pitchFamily="34" charset="-122"/>
                <a:cs typeface="DM Sans" pitchFamily="34" charset="-120"/>
              </a:rPr>
              <a:t>SÍ SUBE</a:t>
            </a:r>
            <a:endParaRPr lang="en-US" sz="1200" dirty="0"/>
          </a:p>
        </p:txBody>
      </p:sp>
      <p:sp>
        <p:nvSpPr>
          <p:cNvPr id="7" name="Text 5"/>
          <p:cNvSpPr/>
          <p:nvPr/>
        </p:nvSpPr>
        <p:spPr>
          <a:xfrm>
            <a:off x="1117600" y="2636527"/>
            <a:ext cx="4709160" cy="1325880"/>
          </a:xfrm>
          <a:prstGeom prst="rect">
            <a:avLst/>
          </a:prstGeom>
          <a:noFill/>
          <a:ln/>
        </p:spPr>
        <p:txBody>
          <a:bodyPr wrap="square" lIns="0" tIns="0" rIns="0" bIns="0" rtlCol="0" anchor="t">
            <a:normAutofit/>
          </a:bodyPr>
          <a:lstStyle/>
          <a:p>
            <a:pPr algn="l" marL="243840" indent="-189992">
              <a:lnSpc>
                <a:spcPts val="2560"/>
              </a:lnSpc>
              <a:buSzPct val="100000"/>
              <a:buChar char="•"/>
            </a:pPr>
            <a:r>
              <a:rPr lang="en-US" sz="1600" dirty="0">
                <a:solidFill>
                  <a:srgbClr val="233441"/>
                </a:solidFill>
                <a:latin typeface="DM Sans" pitchFamily="34" charset="0"/>
                <a:ea typeface="DM Sans" pitchFamily="34" charset="-122"/>
                <a:cs typeface="DM Sans" pitchFamily="34" charset="-120"/>
              </a:rPr>
              <a:t>Plantillas de prompt</a:t>
            </a:r>
            <a:endParaRPr lang="en-US" sz="1600" dirty="0"/>
          </a:p>
          <a:p>
            <a:pPr algn="l" marL="243840" indent="-189992">
              <a:lnSpc>
                <a:spcPts val="2560"/>
              </a:lnSpc>
              <a:buSzPct val="100000"/>
              <a:buChar char="•"/>
            </a:pPr>
            <a:r>
              <a:rPr lang="en-US" sz="1600" dirty="0">
                <a:solidFill>
                  <a:srgbClr val="233441"/>
                </a:solidFill>
                <a:latin typeface="DM Sans" pitchFamily="34" charset="0"/>
                <a:ea typeface="DM Sans" pitchFamily="34" charset="-122"/>
                <a:cs typeface="DM Sans" pitchFamily="34" charset="-120"/>
              </a:rPr>
              <a:t>Tokens y coste</a:t>
            </a:r>
            <a:endParaRPr lang="en-US" sz="1600" dirty="0"/>
          </a:p>
          <a:p>
            <a:pPr algn="l" marL="243840" indent="-189992">
              <a:lnSpc>
                <a:spcPts val="2560"/>
              </a:lnSpc>
              <a:buSzPct val="100000"/>
              <a:buChar char="•"/>
            </a:pPr>
            <a:r>
              <a:rPr lang="en-US" sz="1600" dirty="0">
                <a:solidFill>
                  <a:srgbClr val="233441"/>
                </a:solidFill>
                <a:latin typeface="DM Sans" pitchFamily="34" charset="0"/>
                <a:ea typeface="DM Sans" pitchFamily="34" charset="-122"/>
                <a:cs typeface="DM Sans" pitchFamily="34" charset="-120"/>
              </a:rPr>
              <a:t>Modelos</a:t>
            </a:r>
            <a:endParaRPr lang="en-US" sz="1600" dirty="0"/>
          </a:p>
          <a:p>
            <a:pPr algn="l" marL="243840" indent="-189992">
              <a:lnSpc>
                <a:spcPts val="2560"/>
              </a:lnSpc>
              <a:buSzPct val="100000"/>
              <a:buChar char="•"/>
            </a:pPr>
            <a:r>
              <a:rPr lang="en-US" sz="1600" dirty="0">
                <a:solidFill>
                  <a:srgbClr val="233441"/>
                </a:solidFill>
                <a:latin typeface="DM Sans" pitchFamily="34" charset="0"/>
                <a:ea typeface="DM Sans" pitchFamily="34" charset="-122"/>
                <a:cs typeface="DM Sans" pitchFamily="34" charset="-120"/>
              </a:rPr>
              <a:t>Resultados de validadores</a:t>
            </a:r>
            <a:endParaRPr lang="en-US" sz="1600" dirty="0"/>
          </a:p>
        </p:txBody>
      </p:sp>
      <p:sp>
        <p:nvSpPr>
          <p:cNvPr id="8" name="Shape 6"/>
          <p:cNvSpPr/>
          <p:nvPr/>
        </p:nvSpPr>
        <p:spPr>
          <a:xfrm>
            <a:off x="6197600" y="1930400"/>
            <a:ext cx="5181600" cy="2311400"/>
          </a:xfrm>
          <a:prstGeom prst="roundRect">
            <a:avLst>
              <a:gd name="adj" fmla="val 4396"/>
            </a:avLst>
          </a:prstGeom>
          <a:solidFill>
            <a:srgbClr val="FFF1E9"/>
          </a:solidFill>
          <a:ln/>
        </p:spPr>
      </p:sp>
      <p:sp>
        <p:nvSpPr>
          <p:cNvPr id="9" name="Shape 7"/>
          <p:cNvSpPr/>
          <p:nvPr/>
        </p:nvSpPr>
        <p:spPr>
          <a:xfrm>
            <a:off x="6197600" y="1930400"/>
            <a:ext cx="5181600" cy="2311400"/>
          </a:xfrm>
          <a:custGeom>
            <a:avLst/>
            <a:gdLst/>
            <a:ahLst/>
            <a:cxnLst/>
            <a:rect l="l" t="t" r="r" b="b"/>
            <a:pathLst>
              <a:path w="5181600" h="2311400">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FF7932"/>
          </a:solidFill>
          <a:ln/>
        </p:spPr>
      </p:sp>
      <p:sp>
        <p:nvSpPr>
          <p:cNvPr id="10" name="Text 8"/>
          <p:cNvSpPr/>
          <p:nvPr/>
        </p:nvSpPr>
        <p:spPr>
          <a:xfrm>
            <a:off x="6502400" y="2270758"/>
            <a:ext cx="470916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33441"/>
                </a:solidFill>
                <a:latin typeface="DM Sans" pitchFamily="34" charset="0"/>
                <a:ea typeface="DM Sans" pitchFamily="34" charset="-122"/>
                <a:cs typeface="DM Sans" pitchFamily="34" charset="-120"/>
              </a:rPr>
              <a:t>NO SUBE</a:t>
            </a:r>
            <a:endParaRPr lang="en-US" sz="1200" dirty="0"/>
          </a:p>
        </p:txBody>
      </p:sp>
      <p:sp>
        <p:nvSpPr>
          <p:cNvPr id="11" name="Text 9"/>
          <p:cNvSpPr/>
          <p:nvPr/>
        </p:nvSpPr>
        <p:spPr>
          <a:xfrm>
            <a:off x="6502400" y="2636527"/>
            <a:ext cx="4709160" cy="675640"/>
          </a:xfrm>
          <a:prstGeom prst="rect">
            <a:avLst/>
          </a:prstGeom>
          <a:noFill/>
          <a:ln/>
        </p:spPr>
        <p:txBody>
          <a:bodyPr wrap="square" lIns="0" tIns="0" rIns="0" bIns="0" rtlCol="0" anchor="t">
            <a:normAutofit/>
          </a:bodyPr>
          <a:lstStyle/>
          <a:p>
            <a:pPr algn="l" marL="243840" indent="-189992">
              <a:lnSpc>
                <a:spcPts val="2560"/>
              </a:lnSpc>
              <a:buSzPct val="100000"/>
              <a:buChar char="•"/>
            </a:pPr>
            <a:r>
              <a:rPr lang="en-US" sz="1600" dirty="0">
                <a:solidFill>
                  <a:srgbClr val="233441"/>
                </a:solidFill>
                <a:latin typeface="DM Sans" pitchFamily="34" charset="0"/>
                <a:ea typeface="DM Sans" pitchFamily="34" charset="-122"/>
                <a:cs typeface="DM Sans" pitchFamily="34" charset="-120"/>
              </a:rPr>
              <a:t>El texto generado</a:t>
            </a:r>
            <a:endParaRPr lang="en-US" sz="1600" dirty="0"/>
          </a:p>
          <a:p>
            <a:pPr algn="l" marL="243840" indent="-189992">
              <a:lnSpc>
                <a:spcPts val="2560"/>
              </a:lnSpc>
              <a:buSzPct val="100000"/>
              <a:buChar char="•"/>
            </a:pPr>
            <a:r>
              <a:rPr lang="en-US" sz="1600" dirty="0">
                <a:solidFill>
                  <a:srgbClr val="233441"/>
                </a:solidFill>
                <a:latin typeface="DM Sans" pitchFamily="34" charset="0"/>
                <a:ea typeface="DM Sans" pitchFamily="34" charset="-122"/>
                <a:cs typeface="DM Sans" pitchFamily="34" charset="-120"/>
              </a:rPr>
              <a:t>Ningún dato del destinatario</a:t>
            </a:r>
            <a:endParaRPr lang="en-US" sz="1600" dirty="0"/>
          </a:p>
        </p:txBody>
      </p:sp>
      <p:sp>
        <p:nvSpPr>
          <p:cNvPr id="12" name="Text 10"/>
          <p:cNvSpPr/>
          <p:nvPr/>
        </p:nvSpPr>
        <p:spPr>
          <a:xfrm>
            <a:off x="812800" y="5557527"/>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La ficha se borra al entregar. De Langfuse no se puede borrar: </a:t>
            </a:r>
            <a:r>
              <a:rPr lang="en-US" sz="1600" b="1" dirty="0">
                <a:solidFill>
                  <a:srgbClr val="233441"/>
                </a:solidFill>
                <a:latin typeface="DM Sans" pitchFamily="34" charset="0"/>
                <a:ea typeface="DM Sans" pitchFamily="34" charset="-122"/>
                <a:cs typeface="DM Sans" pitchFamily="34" charset="-120"/>
              </a:rPr>
              <a:t>por eso no entra.</a:t>
            </a:r>
            <a:endParaRPr lang="en-US" sz="1600" dirty="0"/>
          </a:p>
        </p:txBody>
      </p:sp>
      <p:sp>
        <p:nvSpPr>
          <p:cNvPr id="13" name="Text 11"/>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05 · UNA TRAZA REAL</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Así se ve una generación en Langfuse</a:t>
            </a:r>
            <a:endParaRPr lang="en-US" sz="3200" dirty="0"/>
          </a:p>
        </p:txBody>
      </p:sp>
      <p:sp>
        <p:nvSpPr>
          <p:cNvPr id="4" name="Shape 2"/>
          <p:cNvSpPr/>
          <p:nvPr/>
        </p:nvSpPr>
        <p:spPr>
          <a:xfrm>
            <a:off x="812800" y="1828800"/>
            <a:ext cx="6604000" cy="3282950"/>
          </a:xfrm>
          <a:prstGeom prst="roundRect">
            <a:avLst>
              <a:gd name="adj" fmla="val 3095"/>
            </a:avLst>
          </a:prstGeom>
          <a:solidFill>
            <a:srgbClr val="F4F6F8"/>
          </a:solidFill>
          <a:ln/>
        </p:spPr>
      </p:sp>
      <p:pic>
        <p:nvPicPr>
          <p:cNvPr id="5" name="Image 0" descr="Traza en Langfuse: árbol novela, planificación, capítulos, escritor y ficha, con coste, tokens y validadores">    </p:cNvPr>
          <p:cNvPicPr>
            <a:picLocks noChangeAspect="1"/>
          </p:cNvPicPr>
          <p:nvPr/>
        </p:nvPicPr>
        <p:blipFill>
          <a:blip r:embed="rId1"/>
          <a:srcRect l="-221" r="-221" t="0" b="0"/>
          <a:stretch/>
        </p:blipFill>
        <p:spPr>
          <a:xfrm>
            <a:off x="825500" y="1841500"/>
            <a:ext cx="6578600" cy="3257550"/>
          </a:xfrm>
          <a:prstGeom prst="roundRect">
            <a:avLst>
              <a:gd name="adj" fmla="val 2729"/>
            </a:avLst>
          </a:prstGeom>
        </p:spPr>
      </p:pic>
      <p:sp>
        <p:nvSpPr>
          <p:cNvPr id="6" name="Shape 3"/>
          <p:cNvSpPr/>
          <p:nvPr/>
        </p:nvSpPr>
        <p:spPr>
          <a:xfrm>
            <a:off x="819150" y="1835150"/>
            <a:ext cx="6591300" cy="3270250"/>
          </a:xfrm>
          <a:prstGeom prst="roundRect">
            <a:avLst>
              <a:gd name="adj" fmla="val 2913"/>
            </a:avLst>
          </a:prstGeom>
          <a:noFill/>
          <a:ln w="12700">
            <a:solidFill>
              <a:srgbClr val="E6EAEE"/>
            </a:solidFill>
            <a:prstDash val="solid"/>
          </a:ln>
        </p:spPr>
      </p:sp>
      <p:sp>
        <p:nvSpPr>
          <p:cNvPr id="7" name="Shape 4"/>
          <p:cNvSpPr/>
          <p:nvPr/>
        </p:nvSpPr>
        <p:spPr>
          <a:xfrm>
            <a:off x="7620000" y="1828800"/>
            <a:ext cx="3759200" cy="3282950"/>
          </a:xfrm>
          <a:prstGeom prst="roundRect">
            <a:avLst>
              <a:gd name="adj" fmla="val 3095"/>
            </a:avLst>
          </a:prstGeom>
          <a:solidFill>
            <a:srgbClr val="F4F6F8"/>
          </a:solidFill>
          <a:ln/>
        </p:spPr>
      </p:sp>
      <p:pic>
        <p:nvPicPr>
          <p:cNvPr id="8" name="Image 1" descr="Grafo de la traza: start, novela, capítulo, escritor y planificación, ficha, end">    </p:cNvPr>
          <p:cNvPicPr>
            <a:picLocks noChangeAspect="1"/>
          </p:cNvPicPr>
          <p:nvPr/>
        </p:nvPicPr>
        <p:blipFill>
          <a:blip r:embed="rId2"/>
          <a:stretch>
            <a:fillRect/>
          </a:stretch>
        </p:blipFill>
        <p:spPr>
          <a:xfrm>
            <a:off x="8522335" y="1841500"/>
            <a:ext cx="1954530" cy="3257550"/>
          </a:xfrm>
          <a:prstGeom prst="rect">
            <a:avLst/>
          </a:prstGeom>
        </p:spPr>
      </p:pic>
      <p:sp>
        <p:nvSpPr>
          <p:cNvPr id="9" name="Shape 5"/>
          <p:cNvSpPr/>
          <p:nvPr/>
        </p:nvSpPr>
        <p:spPr>
          <a:xfrm>
            <a:off x="7626350" y="1835150"/>
            <a:ext cx="3746500" cy="3270250"/>
          </a:xfrm>
          <a:prstGeom prst="roundRect">
            <a:avLst>
              <a:gd name="adj" fmla="val 2913"/>
            </a:avLst>
          </a:prstGeom>
          <a:noFill/>
          <a:ln w="12700">
            <a:solidFill>
              <a:srgbClr val="E6EAEE"/>
            </a:solidFill>
            <a:prstDash val="solid"/>
          </a:ln>
        </p:spPr>
      </p:sp>
      <p:sp>
        <p:nvSpPr>
          <p:cNvPr id="10" name="Text 6"/>
          <p:cNvSpPr/>
          <p:nvPr/>
        </p:nvSpPr>
        <p:spPr>
          <a:xfrm>
            <a:off x="812800" y="5365750"/>
            <a:ext cx="130937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71.752</a:t>
            </a:r>
            <a:r>
              <a:rPr lang="en-US" sz="1600" dirty="0">
                <a:solidFill>
                  <a:srgbClr val="233441"/>
                </a:solidFill>
                <a:latin typeface="DM Sans" pitchFamily="34" charset="0"/>
                <a:ea typeface="DM Sans" pitchFamily="34" charset="-122"/>
                <a:cs typeface="DM Sans" pitchFamily="34" charset="-120"/>
              </a:rPr>
              <a:t> tokens</a:t>
            </a:r>
            <a:endParaRPr lang="en-US" sz="1600" dirty="0"/>
          </a:p>
        </p:txBody>
      </p:sp>
      <p:sp>
        <p:nvSpPr>
          <p:cNvPr id="11" name="Text 7"/>
          <p:cNvSpPr/>
          <p:nvPr/>
        </p:nvSpPr>
        <p:spPr>
          <a:xfrm>
            <a:off x="2477770" y="5365750"/>
            <a:ext cx="223219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0,84 USD</a:t>
            </a:r>
            <a:r>
              <a:rPr lang="en-US" sz="1600" dirty="0">
                <a:solidFill>
                  <a:srgbClr val="233441"/>
                </a:solidFill>
                <a:latin typeface="DM Sans" pitchFamily="34" charset="0"/>
                <a:ea typeface="DM Sans" pitchFamily="34" charset="-122"/>
                <a:cs typeface="DM Sans" pitchFamily="34" charset="-120"/>
              </a:rPr>
              <a:t> en esta traza</a:t>
            </a:r>
            <a:endParaRPr lang="en-US" sz="1600" dirty="0"/>
          </a:p>
        </p:txBody>
      </p:sp>
      <p:sp>
        <p:nvSpPr>
          <p:cNvPr id="12" name="Text 8"/>
          <p:cNvSpPr/>
          <p:nvPr/>
        </p:nvSpPr>
        <p:spPr>
          <a:xfrm>
            <a:off x="5051346" y="5365750"/>
            <a:ext cx="357618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Validadores </a:t>
            </a:r>
            <a:r>
              <a:rPr lang="en-US" sz="1600" b="1" dirty="0">
                <a:solidFill>
                  <a:srgbClr val="233441"/>
                </a:solidFill>
                <a:latin typeface="DM Sans" pitchFamily="34" charset="0"/>
                <a:ea typeface="DM Sans" pitchFamily="34" charset="-122"/>
                <a:cs typeface="DM Sans" pitchFamily="34" charset="-120"/>
              </a:rPr>
              <a:t>INV-01 e INV-02: pasan</a:t>
            </a:r>
            <a:endParaRPr lang="en-US" sz="1600" dirty="0"/>
          </a:p>
        </p:txBody>
      </p:sp>
      <p:sp>
        <p:nvSpPr>
          <p:cNvPr id="13" name="Text 9"/>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Captura de Langfuse · sin texto generado ni datos del destinatario · © Qaracter group 2026</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06 · GUARDRAILS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Cuatro guardrails</a:t>
            </a:r>
            <a:endParaRPr lang="en-US" sz="3200" dirty="0"/>
          </a:p>
        </p:txBody>
      </p:sp>
      <p:sp>
        <p:nvSpPr>
          <p:cNvPr id="4" name="Shape 2"/>
          <p:cNvSpPr/>
          <p:nvPr/>
        </p:nvSpPr>
        <p:spPr>
          <a:xfrm>
            <a:off x="812800" y="1930400"/>
            <a:ext cx="5207000" cy="2143760"/>
          </a:xfrm>
          <a:prstGeom prst="roundRect">
            <a:avLst>
              <a:gd name="adj" fmla="val 4739"/>
            </a:avLst>
          </a:prstGeom>
          <a:solidFill>
            <a:srgbClr val="F4F6F8"/>
          </a:solidFill>
          <a:ln/>
        </p:spPr>
      </p:sp>
      <p:sp>
        <p:nvSpPr>
          <p:cNvPr id="5" name="Shape 3"/>
          <p:cNvSpPr/>
          <p:nvPr/>
        </p:nvSpPr>
        <p:spPr>
          <a:xfrm>
            <a:off x="812800" y="1930400"/>
            <a:ext cx="5207000" cy="2143760"/>
          </a:xfrm>
          <a:custGeom>
            <a:avLst/>
            <a:gdLst/>
            <a:ahLst/>
            <a:cxnLst/>
            <a:rect l="l" t="t" r="r" b="b"/>
            <a:pathLst>
              <a:path w="5207000" h="2143760">
                <a:moveTo>
                  <a:pt x="101600" y="2143760"/>
                </a:moveTo>
                <a:lnTo>
                  <a:pt x="101600" y="2143760"/>
                </a:lnTo>
                <a:arcTo hR="101600" wR="101600" stAng="5400000" swAng="5400000"/>
                <a:lnTo>
                  <a:pt x="0" y="101600"/>
                </a:lnTo>
                <a:arcTo hR="101600" wR="101600" stAng="10800000" swAng="5400000"/>
                <a:lnTo>
                  <a:pt x="101600" y="0"/>
                </a:lnTo>
                <a:arcTo hR="101600" wR="63500" stAng="16200000" swAng="-5400000"/>
                <a:lnTo>
                  <a:pt x="38100" y="2042160"/>
                </a:lnTo>
                <a:arcTo hR="101600" wR="63500" stAng="10800000" swAng="-5400000"/>
                <a:close/>
              </a:path>
            </a:pathLst>
          </a:custGeom>
          <a:solidFill>
            <a:srgbClr val="FF7932"/>
          </a:solidFill>
          <a:ln/>
        </p:spPr>
      </p:sp>
      <p:sp>
        <p:nvSpPr>
          <p:cNvPr id="6" name="Text 4"/>
          <p:cNvSpPr/>
          <p:nvPr/>
        </p:nvSpPr>
        <p:spPr>
          <a:xfrm>
            <a:off x="1102360" y="2184400"/>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Palabras vetadas</a:t>
            </a:r>
            <a:endParaRPr lang="en-US" sz="2000" dirty="0"/>
          </a:p>
        </p:txBody>
      </p:sp>
      <p:sp>
        <p:nvSpPr>
          <p:cNvPr id="7" name="Text 5"/>
          <p:cNvSpPr/>
          <p:nvPr/>
        </p:nvSpPr>
        <p:spPr>
          <a:xfrm>
            <a:off x="1102360" y="2590800"/>
            <a:ext cx="4803343"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Global, por edad y por novela. Si aparece una, reescritura: máximo 2.</a:t>
            </a:r>
            <a:endParaRPr lang="en-US" sz="1600" dirty="0"/>
          </a:p>
        </p:txBody>
      </p:sp>
      <p:sp>
        <p:nvSpPr>
          <p:cNvPr id="8" name="Text 6"/>
          <p:cNvSpPr/>
          <p:nvPr/>
        </p:nvSpPr>
        <p:spPr>
          <a:xfrm>
            <a:off x="1102360" y="3220727"/>
            <a:ext cx="480334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3441"/>
                </a:solidFill>
                <a:latin typeface="DM Sans" pitchFamily="34" charset="0"/>
                <a:ea typeface="DM Sans" pitchFamily="34" charset="-122"/>
                <a:cs typeface="DM Sans" pitchFamily="34" charset="-120"/>
              </a:rPr>
              <a:t>Ej.:</a:t>
            </a:r>
            <a:r>
              <a:rPr lang="en-US" sz="1200" dirty="0">
                <a:solidFill>
                  <a:srgbClr val="233441"/>
                </a:solidFill>
                <a:latin typeface="DM Sans" pitchFamily="34" charset="0"/>
                <a:ea typeface="DM Sans" pitchFamily="34" charset="-122"/>
                <a:cs typeface="DM Sans" pitchFamily="34" charset="-120"/>
              </a:rPr>
              <a:t> el capítulo incluye «c•ño» → el hook lo detecta → vuelve al Escritor → reescrito sin ella.</a:t>
            </a:r>
            <a:endParaRPr lang="en-US" sz="1200" dirty="0"/>
          </a:p>
        </p:txBody>
      </p:sp>
      <p:sp>
        <p:nvSpPr>
          <p:cNvPr id="9" name="Shape 7"/>
          <p:cNvSpPr/>
          <p:nvPr/>
        </p:nvSpPr>
        <p:spPr>
          <a:xfrm>
            <a:off x="6172200" y="1930400"/>
            <a:ext cx="5207000" cy="2143760"/>
          </a:xfrm>
          <a:prstGeom prst="roundRect">
            <a:avLst>
              <a:gd name="adj" fmla="val 4739"/>
            </a:avLst>
          </a:prstGeom>
          <a:solidFill>
            <a:srgbClr val="F4F6F8"/>
          </a:solidFill>
          <a:ln/>
        </p:spPr>
      </p:sp>
      <p:sp>
        <p:nvSpPr>
          <p:cNvPr id="10" name="Shape 8"/>
          <p:cNvSpPr/>
          <p:nvPr/>
        </p:nvSpPr>
        <p:spPr>
          <a:xfrm>
            <a:off x="6172200" y="1930400"/>
            <a:ext cx="5207000" cy="2143760"/>
          </a:xfrm>
          <a:custGeom>
            <a:avLst/>
            <a:gdLst/>
            <a:ahLst/>
            <a:cxnLst/>
            <a:rect l="l" t="t" r="r" b="b"/>
            <a:pathLst>
              <a:path w="5207000" h="2143760">
                <a:moveTo>
                  <a:pt x="101600" y="2143760"/>
                </a:moveTo>
                <a:lnTo>
                  <a:pt x="101600" y="2143760"/>
                </a:lnTo>
                <a:arcTo hR="101600" wR="101600" stAng="5400000" swAng="5400000"/>
                <a:lnTo>
                  <a:pt x="0" y="101600"/>
                </a:lnTo>
                <a:arcTo hR="101600" wR="101600" stAng="10800000" swAng="5400000"/>
                <a:lnTo>
                  <a:pt x="101600" y="0"/>
                </a:lnTo>
                <a:arcTo hR="101600" wR="63500" stAng="16200000" swAng="-5400000"/>
                <a:lnTo>
                  <a:pt x="38100" y="2042160"/>
                </a:lnTo>
                <a:arcTo hR="101600" wR="63500" stAng="10800000" swAng="-5400000"/>
                <a:close/>
              </a:path>
            </a:pathLst>
          </a:custGeom>
          <a:solidFill>
            <a:srgbClr val="FF7932"/>
          </a:solidFill>
          <a:ln/>
        </p:spPr>
      </p:sp>
      <p:sp>
        <p:nvSpPr>
          <p:cNvPr id="11" name="Text 9"/>
          <p:cNvSpPr/>
          <p:nvPr/>
        </p:nvSpPr>
        <p:spPr>
          <a:xfrm>
            <a:off x="6461760" y="2184400"/>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Datos personales</a:t>
            </a:r>
            <a:endParaRPr lang="en-US" sz="2000" dirty="0"/>
          </a:p>
        </p:txBody>
      </p:sp>
      <p:sp>
        <p:nvSpPr>
          <p:cNvPr id="12" name="Text 10"/>
          <p:cNvSpPr/>
          <p:nvPr/>
        </p:nvSpPr>
        <p:spPr>
          <a:xfrm>
            <a:off x="6461760" y="2590800"/>
            <a:ext cx="4803343"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La ficha se borra al entregar. Nunca sale a observabilidad.</a:t>
            </a:r>
            <a:endParaRPr lang="en-US" sz="1600" dirty="0"/>
          </a:p>
        </p:txBody>
      </p:sp>
      <p:sp>
        <p:nvSpPr>
          <p:cNvPr id="13" name="Shape 11"/>
          <p:cNvSpPr/>
          <p:nvPr/>
        </p:nvSpPr>
        <p:spPr>
          <a:xfrm>
            <a:off x="812800" y="4226558"/>
            <a:ext cx="5207000" cy="1615440"/>
          </a:xfrm>
          <a:prstGeom prst="roundRect">
            <a:avLst>
              <a:gd name="adj" fmla="val 6289"/>
            </a:avLst>
          </a:prstGeom>
          <a:solidFill>
            <a:srgbClr val="F4F6F8"/>
          </a:solidFill>
          <a:ln/>
        </p:spPr>
      </p:sp>
      <p:sp>
        <p:nvSpPr>
          <p:cNvPr id="14" name="Shape 12"/>
          <p:cNvSpPr/>
          <p:nvPr/>
        </p:nvSpPr>
        <p:spPr>
          <a:xfrm>
            <a:off x="812800" y="4226558"/>
            <a:ext cx="5207000" cy="1615440"/>
          </a:xfrm>
          <a:custGeom>
            <a:avLst/>
            <a:gdLst/>
            <a:ahLst/>
            <a:cxnLst/>
            <a:rect l="l" t="t" r="r" b="b"/>
            <a:pathLst>
              <a:path w="5207000" h="1615440">
                <a:moveTo>
                  <a:pt x="101600" y="1615440"/>
                </a:moveTo>
                <a:lnTo>
                  <a:pt x="101600" y="1615440"/>
                </a:lnTo>
                <a:arcTo hR="101600" wR="101600" stAng="5400000" swAng="5400000"/>
                <a:lnTo>
                  <a:pt x="0" y="101600"/>
                </a:lnTo>
                <a:arcTo hR="101600" wR="101600" stAng="10800000" swAng="5400000"/>
                <a:lnTo>
                  <a:pt x="101600" y="0"/>
                </a:lnTo>
                <a:arcTo hR="101600" wR="63500" stAng="16200000" swAng="-5400000"/>
                <a:lnTo>
                  <a:pt x="38100" y="1513840"/>
                </a:lnTo>
                <a:arcTo hR="101600" wR="63500" stAng="10800000" swAng="-5400000"/>
                <a:close/>
              </a:path>
            </a:pathLst>
          </a:custGeom>
          <a:solidFill>
            <a:srgbClr val="FF7932"/>
          </a:solidFill>
          <a:ln/>
        </p:spPr>
      </p:sp>
      <p:sp>
        <p:nvSpPr>
          <p:cNvPr id="15" name="Text 13"/>
          <p:cNvSpPr/>
          <p:nvPr/>
        </p:nvSpPr>
        <p:spPr>
          <a:xfrm>
            <a:off x="1102360" y="4480558"/>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Injection</a:t>
            </a:r>
            <a:endParaRPr lang="en-US" sz="2000" dirty="0"/>
          </a:p>
        </p:txBody>
      </p:sp>
      <p:sp>
        <p:nvSpPr>
          <p:cNvPr id="16" name="Text 14"/>
          <p:cNvSpPr/>
          <p:nvPr/>
        </p:nvSpPr>
        <p:spPr>
          <a:xfrm>
            <a:off x="1102360" y="4886958"/>
            <a:ext cx="4803343"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Se detecta en la entrevista. La contiene la estructura: el texto libre nunca llega al Escritor.</a:t>
            </a:r>
            <a:endParaRPr lang="en-US" sz="1600" dirty="0"/>
          </a:p>
        </p:txBody>
      </p:sp>
      <p:sp>
        <p:nvSpPr>
          <p:cNvPr id="17" name="Shape 15"/>
          <p:cNvSpPr/>
          <p:nvPr/>
        </p:nvSpPr>
        <p:spPr>
          <a:xfrm>
            <a:off x="6172200" y="4226558"/>
            <a:ext cx="5207000" cy="1615440"/>
          </a:xfrm>
          <a:prstGeom prst="roundRect">
            <a:avLst>
              <a:gd name="adj" fmla="val 6289"/>
            </a:avLst>
          </a:prstGeom>
          <a:solidFill>
            <a:srgbClr val="F4F6F8"/>
          </a:solidFill>
          <a:ln/>
        </p:spPr>
      </p:sp>
      <p:sp>
        <p:nvSpPr>
          <p:cNvPr id="18" name="Shape 16"/>
          <p:cNvSpPr/>
          <p:nvPr/>
        </p:nvSpPr>
        <p:spPr>
          <a:xfrm>
            <a:off x="6172200" y="4226558"/>
            <a:ext cx="5207000" cy="1615440"/>
          </a:xfrm>
          <a:custGeom>
            <a:avLst/>
            <a:gdLst/>
            <a:ahLst/>
            <a:cxnLst/>
            <a:rect l="l" t="t" r="r" b="b"/>
            <a:pathLst>
              <a:path w="5207000" h="1615440">
                <a:moveTo>
                  <a:pt x="101600" y="1615440"/>
                </a:moveTo>
                <a:lnTo>
                  <a:pt x="101600" y="1615440"/>
                </a:lnTo>
                <a:arcTo hR="101600" wR="101600" stAng="5400000" swAng="5400000"/>
                <a:lnTo>
                  <a:pt x="0" y="101600"/>
                </a:lnTo>
                <a:arcTo hR="101600" wR="101600" stAng="10800000" swAng="5400000"/>
                <a:lnTo>
                  <a:pt x="101600" y="0"/>
                </a:lnTo>
                <a:arcTo hR="101600" wR="63500" stAng="16200000" swAng="-5400000"/>
                <a:lnTo>
                  <a:pt x="38100" y="1513840"/>
                </a:lnTo>
                <a:arcTo hR="101600" wR="63500" stAng="10800000" swAng="-5400000"/>
                <a:close/>
              </a:path>
            </a:pathLst>
          </a:custGeom>
          <a:solidFill>
            <a:srgbClr val="FF7932"/>
          </a:solidFill>
          <a:ln/>
        </p:spPr>
      </p:sp>
      <p:sp>
        <p:nvSpPr>
          <p:cNvPr id="19" name="Text 17"/>
          <p:cNvSpPr/>
          <p:nvPr/>
        </p:nvSpPr>
        <p:spPr>
          <a:xfrm>
            <a:off x="6461760" y="4480558"/>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3441"/>
                </a:solidFill>
                <a:latin typeface="DM Sans" pitchFamily="34" charset="0"/>
                <a:ea typeface="DM Sans" pitchFamily="34" charset="-122"/>
                <a:cs typeface="DM Sans" pitchFamily="34" charset="-120"/>
              </a:rPr>
              <a:t>Audit log</a:t>
            </a:r>
            <a:endParaRPr lang="en-US" sz="2000" dirty="0"/>
          </a:p>
        </p:txBody>
      </p:sp>
      <p:sp>
        <p:nvSpPr>
          <p:cNvPr id="20" name="Text 18"/>
          <p:cNvSpPr/>
          <p:nvPr/>
        </p:nvSpPr>
        <p:spPr>
          <a:xfrm>
            <a:off x="6461760" y="4886958"/>
            <a:ext cx="4803343"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Cada decisión de policy queda registrada.</a:t>
            </a:r>
            <a:endParaRPr lang="en-US" sz="1600" dirty="0"/>
          </a:p>
        </p:txBody>
      </p:sp>
      <p:sp>
        <p:nvSpPr>
          <p:cNvPr id="21" name="Text 19"/>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06 · UN CASO REAL</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El fallo real fue un falso positivo</a:t>
            </a:r>
            <a:endParaRPr lang="en-US" sz="3200" dirty="0"/>
          </a:p>
        </p:txBody>
      </p:sp>
      <p:sp>
        <p:nvSpPr>
          <p:cNvPr id="4" name="Shape 2"/>
          <p:cNvSpPr/>
          <p:nvPr/>
        </p:nvSpPr>
        <p:spPr>
          <a:xfrm>
            <a:off x="812800" y="2052327"/>
            <a:ext cx="3048000" cy="939800"/>
          </a:xfrm>
          <a:prstGeom prst="roundRect">
            <a:avLst>
              <a:gd name="adj" fmla="val 10811"/>
            </a:avLst>
          </a:prstGeom>
          <a:solidFill>
            <a:srgbClr val="F4F6F8"/>
          </a:solidFill>
          <a:ln/>
        </p:spPr>
      </p:sp>
      <p:sp>
        <p:nvSpPr>
          <p:cNvPr id="5" name="Text 3"/>
          <p:cNvSpPr/>
          <p:nvPr/>
        </p:nvSpPr>
        <p:spPr>
          <a:xfrm>
            <a:off x="1016000" y="2255527"/>
            <a:ext cx="272084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ENTRADA</a:t>
            </a:r>
            <a:endParaRPr lang="en-US" sz="1200" dirty="0"/>
          </a:p>
        </p:txBody>
      </p:sp>
      <p:sp>
        <p:nvSpPr>
          <p:cNvPr id="6" name="Text 4"/>
          <p:cNvSpPr/>
          <p:nvPr/>
        </p:nvSpPr>
        <p:spPr>
          <a:xfrm>
            <a:off x="1016000" y="2545085"/>
            <a:ext cx="27208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La palabra vetada «c•ño»</a:t>
            </a:r>
            <a:endParaRPr lang="en-US" sz="1600" dirty="0"/>
          </a:p>
        </p:txBody>
      </p:sp>
      <p:pic>
        <p:nvPicPr>
          <p:cNvPr id="7" name="Image 0" descr="arrow-right">    </p:cNvPr>
          <p:cNvPicPr>
            <a:picLocks noChangeAspect="1"/>
          </p:cNvPicPr>
          <p:nvPr/>
        </p:nvPicPr>
        <p:blipFill>
          <a:blip r:embed="rId1"/>
          <a:srcRect l="0" r="0" t="0" b="0"/>
          <a:stretch/>
        </p:blipFill>
        <p:spPr>
          <a:xfrm>
            <a:off x="4013200" y="2420627"/>
            <a:ext cx="406400" cy="203200"/>
          </a:xfrm>
          <a:prstGeom prst="rect">
            <a:avLst/>
          </a:prstGeom>
        </p:spPr>
      </p:pic>
      <p:sp>
        <p:nvSpPr>
          <p:cNvPr id="8" name="Shape 5"/>
          <p:cNvSpPr/>
          <p:nvPr/>
        </p:nvSpPr>
        <p:spPr>
          <a:xfrm>
            <a:off x="4572000" y="1930400"/>
            <a:ext cx="3048000" cy="1183640"/>
          </a:xfrm>
          <a:prstGeom prst="roundRect">
            <a:avLst>
              <a:gd name="adj" fmla="val 8584"/>
            </a:avLst>
          </a:prstGeom>
          <a:solidFill>
            <a:srgbClr val="F4F6F8"/>
          </a:solidFill>
          <a:ln/>
        </p:spPr>
      </p:sp>
      <p:sp>
        <p:nvSpPr>
          <p:cNvPr id="9" name="Text 6"/>
          <p:cNvSpPr/>
          <p:nvPr/>
        </p:nvSpPr>
        <p:spPr>
          <a:xfrm>
            <a:off x="4775200" y="2133600"/>
            <a:ext cx="272084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NORMALIZACIÓN</a:t>
            </a:r>
            <a:endParaRPr lang="en-US" sz="1200" dirty="0"/>
          </a:p>
        </p:txBody>
      </p:sp>
      <p:sp>
        <p:nvSpPr>
          <p:cNvPr id="10" name="Text 7"/>
          <p:cNvSpPr/>
          <p:nvPr/>
        </p:nvSpPr>
        <p:spPr>
          <a:xfrm>
            <a:off x="4775200" y="2423158"/>
            <a:ext cx="2720848"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ñ → n: «cono». Sin género: «con»</a:t>
            </a:r>
            <a:endParaRPr lang="en-US" sz="1600" dirty="0"/>
          </a:p>
        </p:txBody>
      </p:sp>
      <p:pic>
        <p:nvPicPr>
          <p:cNvPr id="11" name="Image 1" descr="arrow-right">    </p:cNvPr>
          <p:cNvPicPr>
            <a:picLocks noChangeAspect="1"/>
          </p:cNvPicPr>
          <p:nvPr/>
        </p:nvPicPr>
        <p:blipFill>
          <a:blip r:embed="rId2"/>
          <a:srcRect l="0" r="0" t="0" b="0"/>
          <a:stretch/>
        </p:blipFill>
        <p:spPr>
          <a:xfrm>
            <a:off x="7772400" y="2420627"/>
            <a:ext cx="406400" cy="203200"/>
          </a:xfrm>
          <a:prstGeom prst="rect">
            <a:avLst/>
          </a:prstGeom>
        </p:spPr>
      </p:pic>
      <p:sp>
        <p:nvSpPr>
          <p:cNvPr id="12" name="Shape 8"/>
          <p:cNvSpPr/>
          <p:nvPr/>
        </p:nvSpPr>
        <p:spPr>
          <a:xfrm>
            <a:off x="8331200" y="2052327"/>
            <a:ext cx="3048000" cy="939800"/>
          </a:xfrm>
          <a:prstGeom prst="roundRect">
            <a:avLst>
              <a:gd name="adj" fmla="val 10811"/>
            </a:avLst>
          </a:prstGeom>
          <a:solidFill>
            <a:srgbClr val="FF7932"/>
          </a:solidFill>
          <a:ln/>
        </p:spPr>
      </p:sp>
      <p:sp>
        <p:nvSpPr>
          <p:cNvPr id="13" name="Text 9"/>
          <p:cNvSpPr/>
          <p:nvPr/>
        </p:nvSpPr>
        <p:spPr>
          <a:xfrm>
            <a:off x="8534400" y="2255527"/>
            <a:ext cx="272084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33441"/>
                </a:solidFill>
                <a:latin typeface="DM Sans" pitchFamily="34" charset="0"/>
                <a:ea typeface="DM Sans" pitchFamily="34" charset="-122"/>
                <a:cs typeface="DM Sans" pitchFamily="34" charset="-120"/>
              </a:rPr>
              <a:t>RESULTADO</a:t>
            </a:r>
            <a:endParaRPr lang="en-US" sz="1200" dirty="0"/>
          </a:p>
        </p:txBody>
      </p:sp>
      <p:sp>
        <p:nvSpPr>
          <p:cNvPr id="14" name="Text 10"/>
          <p:cNvSpPr/>
          <p:nvPr/>
        </p:nvSpPr>
        <p:spPr>
          <a:xfrm>
            <a:off x="8534400" y="2545085"/>
            <a:ext cx="27208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33441"/>
                </a:solidFill>
                <a:latin typeface="DM Sans" pitchFamily="34" charset="0"/>
                <a:ea typeface="DM Sans" pitchFamily="34" charset="-122"/>
                <a:cs typeface="DM Sans" pitchFamily="34" charset="-120"/>
              </a:rPr>
              <a:t>Veta «con»</a:t>
            </a:r>
            <a:endParaRPr lang="en-US" sz="1600" dirty="0"/>
          </a:p>
        </p:txBody>
      </p:sp>
      <p:sp>
        <p:nvSpPr>
          <p:cNvPr id="15" name="Text 11"/>
          <p:cNvSpPr/>
          <p:nvPr/>
        </p:nvSpPr>
        <p:spPr>
          <a:xfrm>
            <a:off x="812800" y="4036058"/>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233441"/>
                </a:solidFill>
                <a:latin typeface="DM Sans" pitchFamily="34" charset="0"/>
                <a:ea typeface="DM Sans" pitchFamily="34" charset="-122"/>
                <a:cs typeface="DM Sans" pitchFamily="34" charset="-120"/>
              </a:rPr>
              <a:t>El Escritor no podía escribir una frase.</a:t>
            </a:r>
            <a:endParaRPr lang="en-US" sz="2000" dirty="0"/>
          </a:p>
        </p:txBody>
      </p:sp>
      <p:sp>
        <p:nvSpPr>
          <p:cNvPr id="16" name="Shape 12"/>
          <p:cNvSpPr/>
          <p:nvPr/>
        </p:nvSpPr>
        <p:spPr>
          <a:xfrm>
            <a:off x="831850" y="5288285"/>
            <a:ext cx="0" cy="553720"/>
          </a:xfrm>
          <a:prstGeom prst="line">
            <a:avLst/>
          </a:prstGeom>
          <a:noFill/>
          <a:ln w="38100">
            <a:solidFill>
              <a:srgbClr val="233441"/>
            </a:solidFill>
            <a:prstDash val="solid"/>
          </a:ln>
        </p:spPr>
      </p:sp>
      <p:sp>
        <p:nvSpPr>
          <p:cNvPr id="17" name="Text 13"/>
          <p:cNvSpPr/>
          <p:nvPr/>
        </p:nvSpPr>
        <p:spPr>
          <a:xfrm>
            <a:off x="1051560" y="5288285"/>
            <a:ext cx="10637469"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CIERRE</a:t>
            </a:r>
            <a:endParaRPr lang="en-US" sz="1200" dirty="0"/>
          </a:p>
        </p:txBody>
      </p:sp>
      <p:sp>
        <p:nvSpPr>
          <p:cNvPr id="18" name="Text 14"/>
          <p:cNvSpPr/>
          <p:nvPr/>
        </p:nvSpPr>
        <p:spPr>
          <a:xfrm>
            <a:off x="1051560" y="5577842"/>
            <a:ext cx="10637469"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233441"/>
                </a:solidFill>
                <a:latin typeface="DM Sans" pitchFamily="34" charset="0"/>
                <a:ea typeface="DM Sans" pitchFamily="34" charset="-122"/>
                <a:cs typeface="DM Sans" pitchFamily="34" charset="-120"/>
              </a:rPr>
              <a:t>Una prueba contrasta toda la lista contra las palabras más frecuentes del español.</a:t>
            </a:r>
            <a:endParaRPr lang="en-US" sz="1600" dirty="0"/>
          </a:p>
        </p:txBody>
      </p:sp>
      <p:sp>
        <p:nvSpPr>
          <p:cNvPr id="19" name="Text 15"/>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07 · COSTE MEDIDO</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Coste por novela: 3,8 veces menos eligiendo modelos</a:t>
            </a:r>
            <a:endParaRPr lang="en-US" sz="3200" dirty="0"/>
          </a:p>
        </p:txBody>
      </p:sp>
      <p:sp>
        <p:nvSpPr>
          <p:cNvPr id="4" name="Text 2"/>
          <p:cNvSpPr/>
          <p:nvPr/>
        </p:nvSpPr>
        <p:spPr>
          <a:xfrm>
            <a:off x="812800" y="193040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CONFIGURACIÓN BARATA</a:t>
            </a:r>
            <a:endParaRPr lang="en-US" sz="1200" dirty="0"/>
          </a:p>
        </p:txBody>
      </p:sp>
      <p:sp>
        <p:nvSpPr>
          <p:cNvPr id="5" name="Text 3"/>
          <p:cNvSpPr/>
          <p:nvPr/>
        </p:nvSpPr>
        <p:spPr>
          <a:xfrm>
            <a:off x="812800" y="2219958"/>
            <a:ext cx="5337048"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FF7932"/>
                </a:solidFill>
                <a:latin typeface="DM Sans" pitchFamily="34" charset="0"/>
                <a:ea typeface="DM Sans" pitchFamily="34" charset="-122"/>
                <a:cs typeface="DM Sans" pitchFamily="34" charset="-120"/>
              </a:rPr>
              <a:t>5,45 USD</a:t>
            </a:r>
            <a:endParaRPr lang="en-US" sz="6000" dirty="0"/>
          </a:p>
        </p:txBody>
      </p:sp>
      <p:sp>
        <p:nvSpPr>
          <p:cNvPr id="6" name="Text 4"/>
          <p:cNvSpPr/>
          <p:nvPr/>
        </p:nvSpPr>
        <p:spPr>
          <a:xfrm>
            <a:off x="812800" y="3058158"/>
            <a:ext cx="533704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45"/>
                </a:solidFill>
                <a:latin typeface="DM Sans" pitchFamily="34" charset="0"/>
                <a:ea typeface="DM Sans" pitchFamily="34" charset="-122"/>
                <a:cs typeface="DM Sans" pitchFamily="34" charset="-120"/>
              </a:rPr>
              <a:t>43 delegaciones</a:t>
            </a:r>
            <a:endParaRPr lang="en-US" sz="1600" dirty="0"/>
          </a:p>
        </p:txBody>
      </p:sp>
      <p:sp>
        <p:nvSpPr>
          <p:cNvPr id="7" name="Text 5"/>
          <p:cNvSpPr/>
          <p:nvPr/>
        </p:nvSpPr>
        <p:spPr>
          <a:xfrm>
            <a:off x="6197600" y="193040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CONFIGURACIÓN DE PRUEBA</a:t>
            </a:r>
            <a:endParaRPr lang="en-US" sz="1200" dirty="0"/>
          </a:p>
        </p:txBody>
      </p:sp>
      <p:sp>
        <p:nvSpPr>
          <p:cNvPr id="8" name="Text 6"/>
          <p:cNvSpPr/>
          <p:nvPr/>
        </p:nvSpPr>
        <p:spPr>
          <a:xfrm>
            <a:off x="6197600" y="2219958"/>
            <a:ext cx="5337048"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33441"/>
                </a:solidFill>
                <a:latin typeface="DM Sans" pitchFamily="34" charset="0"/>
                <a:ea typeface="DM Sans" pitchFamily="34" charset="-122"/>
                <a:cs typeface="DM Sans" pitchFamily="34" charset="-120"/>
              </a:rPr>
              <a:t>20,56 USD</a:t>
            </a:r>
            <a:endParaRPr lang="en-US" sz="6000" dirty="0"/>
          </a:p>
        </p:txBody>
      </p:sp>
      <p:sp>
        <p:nvSpPr>
          <p:cNvPr id="9" name="Text 7"/>
          <p:cNvSpPr/>
          <p:nvPr/>
        </p:nvSpPr>
        <p:spPr>
          <a:xfrm>
            <a:off x="6197600" y="3058158"/>
            <a:ext cx="533704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45"/>
                </a:solidFill>
                <a:latin typeface="DM Sans" pitchFamily="34" charset="0"/>
                <a:ea typeface="DM Sans" pitchFamily="34" charset="-122"/>
                <a:cs typeface="DM Sans" pitchFamily="34" charset="-120"/>
              </a:rPr>
              <a:t>36 delegaciones · solo para comparar</a:t>
            </a:r>
            <a:endParaRPr lang="en-US" sz="1600" dirty="0"/>
          </a:p>
        </p:txBody>
      </p:sp>
      <p:sp>
        <p:nvSpPr>
          <p:cNvPr id="10" name="Shape 8"/>
          <p:cNvSpPr/>
          <p:nvPr/>
        </p:nvSpPr>
        <p:spPr>
          <a:xfrm>
            <a:off x="812800" y="4673600"/>
            <a:ext cx="10566400" cy="1168400"/>
          </a:xfrm>
          <a:prstGeom prst="roundRect">
            <a:avLst>
              <a:gd name="adj" fmla="val 8696"/>
            </a:avLst>
          </a:prstGeom>
          <a:solidFill>
            <a:srgbClr val="233441"/>
          </a:solidFill>
          <a:ln/>
        </p:spPr>
      </p:sp>
      <p:sp>
        <p:nvSpPr>
          <p:cNvPr id="11" name="Text 9"/>
          <p:cNvSpPr/>
          <p:nvPr/>
        </p:nvSpPr>
        <p:spPr>
          <a:xfrm>
            <a:off x="1117600" y="4927600"/>
            <a:ext cx="10255504"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FFFFF"/>
                </a:solidFill>
                <a:latin typeface="DM Sans" pitchFamily="34" charset="0"/>
                <a:ea typeface="DM Sans" pitchFamily="34" charset="-122"/>
                <a:cs typeface="DM Sans" pitchFamily="34" charset="-120"/>
              </a:rPr>
              <a:t>Más trabajo y menos coste: la diferencia es el reparto de modelos. </a:t>
            </a:r>
            <a:r>
              <a:rPr lang="en-US" sz="2000" b="1" dirty="0">
                <a:solidFill>
                  <a:srgbClr val="FBAA80"/>
                </a:solidFill>
                <a:latin typeface="DM Sans" pitchFamily="34" charset="0"/>
                <a:ea typeface="DM Sans" pitchFamily="34" charset="-122"/>
                <a:cs typeface="DM Sans" pitchFamily="34" charset="-120"/>
              </a:rPr>
              <a:t>Es una palanca.</a:t>
            </a:r>
            <a:endParaRPr lang="en-US" sz="2000" dirty="0"/>
          </a:p>
        </p:txBody>
      </p:sp>
      <p:sp>
        <p:nvSpPr>
          <p:cNvPr id="12" name="Text 10"/>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07 · DESGLOSE · NOVELA BARATA</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El Escritor es el 72% del coste</a:t>
            </a:r>
            <a:endParaRPr lang="en-US" sz="3200" dirty="0"/>
          </a:p>
        </p:txBody>
      </p:sp>
      <p:sp>
        <p:nvSpPr>
          <p:cNvPr id="4" name="Text 2"/>
          <p:cNvSpPr/>
          <p:nvPr/>
        </p:nvSpPr>
        <p:spPr>
          <a:xfrm>
            <a:off x="812800" y="2677158"/>
            <a:ext cx="19621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Escritor</a:t>
            </a:r>
            <a:endParaRPr lang="en-US" sz="1600" dirty="0"/>
          </a:p>
        </p:txBody>
      </p:sp>
      <p:sp>
        <p:nvSpPr>
          <p:cNvPr id="5" name="Shape 3"/>
          <p:cNvSpPr/>
          <p:nvPr/>
        </p:nvSpPr>
        <p:spPr>
          <a:xfrm>
            <a:off x="2870200" y="2641600"/>
            <a:ext cx="6985000" cy="355600"/>
          </a:xfrm>
          <a:prstGeom prst="roundRect">
            <a:avLst>
              <a:gd name="adj" fmla="val 14286"/>
            </a:avLst>
          </a:prstGeom>
          <a:solidFill>
            <a:srgbClr val="FF7932"/>
          </a:solidFill>
          <a:ln/>
        </p:spPr>
      </p:sp>
      <p:sp>
        <p:nvSpPr>
          <p:cNvPr id="6" name="Text 4"/>
          <p:cNvSpPr/>
          <p:nvPr/>
        </p:nvSpPr>
        <p:spPr>
          <a:xfrm>
            <a:off x="10007600" y="2677158"/>
            <a:ext cx="42473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3,91</a:t>
            </a:r>
            <a:endParaRPr lang="en-US" sz="1600" dirty="0"/>
          </a:p>
        </p:txBody>
      </p:sp>
      <p:sp>
        <p:nvSpPr>
          <p:cNvPr id="7" name="Text 5"/>
          <p:cNvSpPr/>
          <p:nvPr/>
        </p:nvSpPr>
        <p:spPr>
          <a:xfrm>
            <a:off x="812800" y="3210558"/>
            <a:ext cx="19621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Editor</a:t>
            </a:r>
            <a:endParaRPr lang="en-US" sz="1600" dirty="0"/>
          </a:p>
        </p:txBody>
      </p:sp>
      <p:sp>
        <p:nvSpPr>
          <p:cNvPr id="8" name="Shape 6"/>
          <p:cNvSpPr/>
          <p:nvPr/>
        </p:nvSpPr>
        <p:spPr>
          <a:xfrm>
            <a:off x="2870200" y="3175000"/>
            <a:ext cx="1390650" cy="355600"/>
          </a:xfrm>
          <a:prstGeom prst="roundRect">
            <a:avLst>
              <a:gd name="adj" fmla="val 14286"/>
            </a:avLst>
          </a:prstGeom>
          <a:solidFill>
            <a:srgbClr val="233441"/>
          </a:solidFill>
          <a:ln/>
        </p:spPr>
      </p:sp>
      <p:sp>
        <p:nvSpPr>
          <p:cNvPr id="9" name="Text 7"/>
          <p:cNvSpPr/>
          <p:nvPr/>
        </p:nvSpPr>
        <p:spPr>
          <a:xfrm>
            <a:off x="4413250" y="3210558"/>
            <a:ext cx="44934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0,78</a:t>
            </a:r>
            <a:endParaRPr lang="en-US" sz="1600" dirty="0"/>
          </a:p>
        </p:txBody>
      </p:sp>
      <p:sp>
        <p:nvSpPr>
          <p:cNvPr id="10" name="Text 8"/>
          <p:cNvSpPr/>
          <p:nvPr/>
        </p:nvSpPr>
        <p:spPr>
          <a:xfrm>
            <a:off x="812800" y="3743958"/>
            <a:ext cx="19621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Resumidor</a:t>
            </a:r>
            <a:endParaRPr lang="en-US" sz="1600" dirty="0"/>
          </a:p>
        </p:txBody>
      </p:sp>
      <p:sp>
        <p:nvSpPr>
          <p:cNvPr id="11" name="Shape 9"/>
          <p:cNvSpPr/>
          <p:nvPr/>
        </p:nvSpPr>
        <p:spPr>
          <a:xfrm>
            <a:off x="2870200" y="3708400"/>
            <a:ext cx="768350" cy="355600"/>
          </a:xfrm>
          <a:prstGeom prst="roundRect">
            <a:avLst>
              <a:gd name="adj" fmla="val 14286"/>
            </a:avLst>
          </a:prstGeom>
          <a:solidFill>
            <a:srgbClr val="233441"/>
          </a:solidFill>
          <a:ln/>
        </p:spPr>
      </p:sp>
      <p:sp>
        <p:nvSpPr>
          <p:cNvPr id="12" name="Text 10"/>
          <p:cNvSpPr/>
          <p:nvPr/>
        </p:nvSpPr>
        <p:spPr>
          <a:xfrm>
            <a:off x="3790950" y="3743958"/>
            <a:ext cx="46418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0,43</a:t>
            </a:r>
            <a:endParaRPr lang="en-US" sz="1600" dirty="0"/>
          </a:p>
        </p:txBody>
      </p:sp>
      <p:sp>
        <p:nvSpPr>
          <p:cNvPr id="13" name="Text 11"/>
          <p:cNvSpPr/>
          <p:nvPr/>
        </p:nvSpPr>
        <p:spPr>
          <a:xfrm>
            <a:off x="812800" y="4277358"/>
            <a:ext cx="19621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Planificador</a:t>
            </a:r>
            <a:endParaRPr lang="en-US" sz="1600" dirty="0"/>
          </a:p>
        </p:txBody>
      </p:sp>
      <p:sp>
        <p:nvSpPr>
          <p:cNvPr id="14" name="Shape 12"/>
          <p:cNvSpPr/>
          <p:nvPr/>
        </p:nvSpPr>
        <p:spPr>
          <a:xfrm>
            <a:off x="2870200" y="4241800"/>
            <a:ext cx="355600" cy="355600"/>
          </a:xfrm>
          <a:prstGeom prst="roundRect">
            <a:avLst>
              <a:gd name="adj" fmla="val 14286"/>
            </a:avLst>
          </a:prstGeom>
          <a:solidFill>
            <a:srgbClr val="233441"/>
          </a:solidFill>
          <a:ln/>
        </p:spPr>
      </p:sp>
      <p:sp>
        <p:nvSpPr>
          <p:cNvPr id="15" name="Text 13"/>
          <p:cNvSpPr/>
          <p:nvPr/>
        </p:nvSpPr>
        <p:spPr>
          <a:xfrm>
            <a:off x="3378200" y="4277358"/>
            <a:ext cx="47474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0,20</a:t>
            </a:r>
            <a:endParaRPr lang="en-US" sz="1600" dirty="0"/>
          </a:p>
        </p:txBody>
      </p:sp>
      <p:sp>
        <p:nvSpPr>
          <p:cNvPr id="16" name="Text 14"/>
          <p:cNvSpPr/>
          <p:nvPr/>
        </p:nvSpPr>
        <p:spPr>
          <a:xfrm>
            <a:off x="812800" y="4810758"/>
            <a:ext cx="19621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Revisor</a:t>
            </a:r>
            <a:endParaRPr lang="en-US" sz="1600" dirty="0"/>
          </a:p>
        </p:txBody>
      </p:sp>
      <p:sp>
        <p:nvSpPr>
          <p:cNvPr id="17" name="Shape 15"/>
          <p:cNvSpPr/>
          <p:nvPr/>
        </p:nvSpPr>
        <p:spPr>
          <a:xfrm>
            <a:off x="2870200" y="4775200"/>
            <a:ext cx="215900" cy="355600"/>
          </a:xfrm>
          <a:prstGeom prst="roundRect">
            <a:avLst>
              <a:gd name="adj" fmla="val 23529"/>
            </a:avLst>
          </a:prstGeom>
          <a:solidFill>
            <a:srgbClr val="233441"/>
          </a:solidFill>
          <a:ln/>
        </p:spPr>
      </p:sp>
      <p:sp>
        <p:nvSpPr>
          <p:cNvPr id="18" name="Text 16"/>
          <p:cNvSpPr/>
          <p:nvPr/>
        </p:nvSpPr>
        <p:spPr>
          <a:xfrm>
            <a:off x="3238500" y="4810758"/>
            <a:ext cx="40116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0,12</a:t>
            </a:r>
            <a:endParaRPr lang="en-US" sz="1600" dirty="0"/>
          </a:p>
        </p:txBody>
      </p:sp>
      <p:sp>
        <p:nvSpPr>
          <p:cNvPr id="19" name="Text 17"/>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07 · COSTE POR NOVELA</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Una novela cuesta entre 5 y 7 USD</a:t>
            </a:r>
            <a:endParaRPr lang="en-US" sz="3200" dirty="0"/>
          </a:p>
        </p:txBody>
      </p:sp>
      <p:sp>
        <p:nvSpPr>
          <p:cNvPr id="4" name="Text 2"/>
          <p:cNvSpPr/>
          <p:nvPr/>
        </p:nvSpPr>
        <p:spPr>
          <a:xfrm>
            <a:off x="812800" y="3154685"/>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COSTE MEDIO</a:t>
            </a:r>
            <a:endParaRPr lang="en-US" sz="1200" dirty="0"/>
          </a:p>
        </p:txBody>
      </p:sp>
      <p:sp>
        <p:nvSpPr>
          <p:cNvPr id="5" name="Text 3"/>
          <p:cNvSpPr/>
          <p:nvPr/>
        </p:nvSpPr>
        <p:spPr>
          <a:xfrm>
            <a:off x="812800" y="3469642"/>
            <a:ext cx="4970780"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FF7932"/>
                </a:solidFill>
                <a:latin typeface="DM Sans" pitchFamily="34" charset="0"/>
                <a:ea typeface="DM Sans" pitchFamily="34" charset="-122"/>
                <a:cs typeface="DM Sans" pitchFamily="34" charset="-120"/>
              </a:rPr>
              <a:t>≈ 5,80 USD</a:t>
            </a:r>
            <a:endParaRPr lang="en-US" sz="6000" dirty="0"/>
          </a:p>
        </p:txBody>
      </p:sp>
      <p:sp>
        <p:nvSpPr>
          <p:cNvPr id="6" name="Text 4"/>
          <p:cNvSpPr/>
          <p:nvPr/>
        </p:nvSpPr>
        <p:spPr>
          <a:xfrm>
            <a:off x="812800" y="4333242"/>
            <a:ext cx="49707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por novela completa, diez capítulos</a:t>
            </a:r>
            <a:endParaRPr lang="en-US" sz="1600" dirty="0"/>
          </a:p>
        </p:txBody>
      </p:sp>
      <p:sp>
        <p:nvSpPr>
          <p:cNvPr id="7" name="Text 5"/>
          <p:cNvSpPr/>
          <p:nvPr/>
        </p:nvSpPr>
        <p:spPr>
          <a:xfrm>
            <a:off x="6248400" y="2509527"/>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NOVELAS PUBLICADAS</a:t>
            </a:r>
            <a:endParaRPr lang="en-US" sz="1200" dirty="0"/>
          </a:p>
        </p:txBody>
      </p:sp>
      <p:sp>
        <p:nvSpPr>
          <p:cNvPr id="8" name="Shape 6"/>
          <p:cNvSpPr/>
          <p:nvPr/>
        </p:nvSpPr>
        <p:spPr>
          <a:xfrm>
            <a:off x="6248400" y="2875285"/>
            <a:ext cx="5130800" cy="1117600"/>
          </a:xfrm>
          <a:prstGeom prst="roundRect">
            <a:avLst>
              <a:gd name="adj" fmla="val 9091"/>
            </a:avLst>
          </a:prstGeom>
          <a:solidFill>
            <a:srgbClr val="F4F6F8"/>
          </a:solidFill>
          <a:ln/>
        </p:spPr>
      </p:sp>
      <p:sp>
        <p:nvSpPr>
          <p:cNvPr id="9" name="Text 7"/>
          <p:cNvSpPr/>
          <p:nvPr/>
        </p:nvSpPr>
        <p:spPr>
          <a:xfrm>
            <a:off x="6502400" y="3078485"/>
            <a:ext cx="4761484"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5,45 USD</a:t>
            </a:r>
            <a:endParaRPr lang="en-US" sz="3200" dirty="0"/>
          </a:p>
        </p:txBody>
      </p:sp>
      <p:sp>
        <p:nvSpPr>
          <p:cNvPr id="10" name="Text 8"/>
          <p:cNvSpPr/>
          <p:nvPr/>
        </p:nvSpPr>
        <p:spPr>
          <a:xfrm>
            <a:off x="6502400" y="3576327"/>
            <a:ext cx="47614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43 delegaciones</a:t>
            </a:r>
            <a:endParaRPr lang="en-US" sz="1200" dirty="0"/>
          </a:p>
        </p:txBody>
      </p:sp>
      <p:sp>
        <p:nvSpPr>
          <p:cNvPr id="11" name="Shape 9"/>
          <p:cNvSpPr/>
          <p:nvPr/>
        </p:nvSpPr>
        <p:spPr>
          <a:xfrm>
            <a:off x="6248400" y="4145285"/>
            <a:ext cx="5130800" cy="1117600"/>
          </a:xfrm>
          <a:prstGeom prst="roundRect">
            <a:avLst>
              <a:gd name="adj" fmla="val 9091"/>
            </a:avLst>
          </a:prstGeom>
          <a:solidFill>
            <a:srgbClr val="F4F6F8"/>
          </a:solidFill>
          <a:ln/>
        </p:spPr>
      </p:sp>
      <p:sp>
        <p:nvSpPr>
          <p:cNvPr id="12" name="Text 10"/>
          <p:cNvSpPr/>
          <p:nvPr/>
        </p:nvSpPr>
        <p:spPr>
          <a:xfrm>
            <a:off x="6502400" y="4348485"/>
            <a:ext cx="4761484"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6,18 USD</a:t>
            </a:r>
            <a:endParaRPr lang="en-US" sz="3200" dirty="0"/>
          </a:p>
        </p:txBody>
      </p:sp>
      <p:sp>
        <p:nvSpPr>
          <p:cNvPr id="13" name="Text 11"/>
          <p:cNvSpPr/>
          <p:nvPr/>
        </p:nvSpPr>
        <p:spPr>
          <a:xfrm>
            <a:off x="6502400" y="4846327"/>
            <a:ext cx="47614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41 delegaciones</a:t>
            </a:r>
            <a:endParaRPr lang="en-US" sz="1200" dirty="0"/>
          </a:p>
        </p:txBody>
      </p:sp>
      <p:sp>
        <p:nvSpPr>
          <p:cNvPr id="14" name="Text 12"/>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Coste de modelo medido · © Qaracter group, all rights reserved 2026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07 · PRECIO Y MARGEN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Precio al cliente final y margen</a:t>
            </a:r>
            <a:endParaRPr lang="en-US" sz="3200" dirty="0"/>
          </a:p>
        </p:txBody>
      </p:sp>
      <p:sp>
        <p:nvSpPr>
          <p:cNvPr id="4" name="Shape 2"/>
          <p:cNvSpPr/>
          <p:nvPr/>
        </p:nvSpPr>
        <p:spPr>
          <a:xfrm>
            <a:off x="812800" y="1828800"/>
            <a:ext cx="3420507" cy="1640840"/>
          </a:xfrm>
          <a:prstGeom prst="roundRect">
            <a:avLst>
              <a:gd name="adj" fmla="val 6192"/>
            </a:avLst>
          </a:prstGeom>
          <a:solidFill>
            <a:srgbClr val="F4F6F8"/>
          </a:solidFill>
          <a:ln/>
        </p:spPr>
      </p:sp>
      <p:sp>
        <p:nvSpPr>
          <p:cNvPr id="5" name="Text 3"/>
          <p:cNvSpPr/>
          <p:nvPr/>
        </p:nvSpPr>
        <p:spPr>
          <a:xfrm>
            <a:off x="1066800" y="2082800"/>
            <a:ext cx="299988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ACCESIBLE</a:t>
            </a:r>
            <a:endParaRPr lang="en-US" sz="1200" dirty="0"/>
          </a:p>
        </p:txBody>
      </p:sp>
      <p:sp>
        <p:nvSpPr>
          <p:cNvPr id="6" name="Text 4"/>
          <p:cNvSpPr/>
          <p:nvPr/>
        </p:nvSpPr>
        <p:spPr>
          <a:xfrm>
            <a:off x="1066800" y="2372358"/>
            <a:ext cx="299988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29 USD</a:t>
            </a:r>
            <a:endParaRPr lang="en-US" sz="3200" dirty="0"/>
          </a:p>
        </p:txBody>
      </p:sp>
      <p:sp>
        <p:nvSpPr>
          <p:cNvPr id="7" name="Text 5"/>
          <p:cNvSpPr/>
          <p:nvPr/>
        </p:nvSpPr>
        <p:spPr>
          <a:xfrm>
            <a:off x="1066800" y="2895600"/>
            <a:ext cx="299988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66%</a:t>
            </a:r>
            <a:r>
              <a:rPr lang="en-US" sz="1600" dirty="0">
                <a:solidFill>
                  <a:srgbClr val="233441"/>
                </a:solidFill>
                <a:latin typeface="DM Sans" pitchFamily="34" charset="0"/>
                <a:ea typeface="DM Sans" pitchFamily="34" charset="-122"/>
                <a:cs typeface="DM Sans" pitchFamily="34" charset="-120"/>
              </a:rPr>
              <a:t> de margen · 19 USD</a:t>
            </a:r>
            <a:endParaRPr lang="en-US" sz="1600" dirty="0"/>
          </a:p>
        </p:txBody>
      </p:sp>
      <p:sp>
        <p:nvSpPr>
          <p:cNvPr id="8" name="Shape 6"/>
          <p:cNvSpPr/>
          <p:nvPr/>
        </p:nvSpPr>
        <p:spPr>
          <a:xfrm>
            <a:off x="4385707" y="1828800"/>
            <a:ext cx="3420586" cy="1640840"/>
          </a:xfrm>
          <a:prstGeom prst="roundRect">
            <a:avLst>
              <a:gd name="adj" fmla="val 6192"/>
            </a:avLst>
          </a:prstGeom>
          <a:solidFill>
            <a:srgbClr val="FFF1E9"/>
          </a:solidFill>
          <a:ln/>
        </p:spPr>
      </p:sp>
      <p:sp>
        <p:nvSpPr>
          <p:cNvPr id="9" name="Shape 7"/>
          <p:cNvSpPr/>
          <p:nvPr/>
        </p:nvSpPr>
        <p:spPr>
          <a:xfrm>
            <a:off x="4385707" y="1828800"/>
            <a:ext cx="3420586" cy="1640840"/>
          </a:xfrm>
          <a:custGeom>
            <a:avLst/>
            <a:gdLst/>
            <a:ahLst/>
            <a:cxnLst/>
            <a:rect l="l" t="t" r="r" b="b"/>
            <a:pathLst>
              <a:path w="3420586" h="1640840">
                <a:moveTo>
                  <a:pt x="0" y="101600"/>
                </a:moveTo>
                <a:lnTo>
                  <a:pt x="0" y="101600"/>
                </a:lnTo>
                <a:arcTo hR="101600" wR="101600" stAng="10800000" swAng="5400000"/>
                <a:lnTo>
                  <a:pt x="3318986" y="0"/>
                </a:lnTo>
                <a:arcTo hR="101600" wR="101600" stAng="16200000" swAng="5400000"/>
                <a:lnTo>
                  <a:pt x="3420586" y="101600"/>
                </a:lnTo>
                <a:arcTo hR="63500" wR="101600" stAng="0" swAng="-5400000"/>
                <a:lnTo>
                  <a:pt x="101600" y="38100"/>
                </a:lnTo>
                <a:arcTo hR="63500" wR="101600" stAng="16200000" swAng="-5400000"/>
                <a:close/>
              </a:path>
            </a:pathLst>
          </a:custGeom>
          <a:solidFill>
            <a:srgbClr val="FF7932"/>
          </a:solidFill>
          <a:ln/>
        </p:spPr>
      </p:sp>
      <p:sp>
        <p:nvSpPr>
          <p:cNvPr id="10" name="Text 8"/>
          <p:cNvSpPr/>
          <p:nvPr/>
        </p:nvSpPr>
        <p:spPr>
          <a:xfrm>
            <a:off x="4639707" y="2118358"/>
            <a:ext cx="299996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PROPUESTO</a:t>
            </a:r>
            <a:endParaRPr lang="en-US" sz="1200" dirty="0"/>
          </a:p>
        </p:txBody>
      </p:sp>
      <p:sp>
        <p:nvSpPr>
          <p:cNvPr id="11" name="Text 9"/>
          <p:cNvSpPr/>
          <p:nvPr/>
        </p:nvSpPr>
        <p:spPr>
          <a:xfrm>
            <a:off x="4639707" y="2407927"/>
            <a:ext cx="2999964"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39 USD</a:t>
            </a:r>
            <a:endParaRPr lang="en-US" sz="3200" dirty="0"/>
          </a:p>
        </p:txBody>
      </p:sp>
      <p:sp>
        <p:nvSpPr>
          <p:cNvPr id="12" name="Text 10"/>
          <p:cNvSpPr/>
          <p:nvPr/>
        </p:nvSpPr>
        <p:spPr>
          <a:xfrm>
            <a:off x="4639707" y="2931158"/>
            <a:ext cx="299996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74%</a:t>
            </a:r>
            <a:r>
              <a:rPr lang="en-US" sz="1600" dirty="0">
                <a:solidFill>
                  <a:srgbClr val="233441"/>
                </a:solidFill>
                <a:latin typeface="DM Sans" pitchFamily="34" charset="0"/>
                <a:ea typeface="DM Sans" pitchFamily="34" charset="-122"/>
                <a:cs typeface="DM Sans" pitchFamily="34" charset="-120"/>
              </a:rPr>
              <a:t> de margen · 29 USD</a:t>
            </a:r>
            <a:endParaRPr lang="en-US" sz="1600" dirty="0"/>
          </a:p>
        </p:txBody>
      </p:sp>
      <p:sp>
        <p:nvSpPr>
          <p:cNvPr id="13" name="Shape 11"/>
          <p:cNvSpPr/>
          <p:nvPr/>
        </p:nvSpPr>
        <p:spPr>
          <a:xfrm>
            <a:off x="7958693" y="1828800"/>
            <a:ext cx="3420507" cy="1640840"/>
          </a:xfrm>
          <a:prstGeom prst="roundRect">
            <a:avLst>
              <a:gd name="adj" fmla="val 6192"/>
            </a:avLst>
          </a:prstGeom>
          <a:solidFill>
            <a:srgbClr val="F4F6F8"/>
          </a:solidFill>
          <a:ln/>
        </p:spPr>
      </p:sp>
      <p:sp>
        <p:nvSpPr>
          <p:cNvPr id="14" name="Text 12"/>
          <p:cNvSpPr/>
          <p:nvPr/>
        </p:nvSpPr>
        <p:spPr>
          <a:xfrm>
            <a:off x="8212693" y="2082800"/>
            <a:ext cx="299988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PREMIUM</a:t>
            </a:r>
            <a:endParaRPr lang="en-US" sz="1200" dirty="0"/>
          </a:p>
        </p:txBody>
      </p:sp>
      <p:sp>
        <p:nvSpPr>
          <p:cNvPr id="15" name="Text 13"/>
          <p:cNvSpPr/>
          <p:nvPr/>
        </p:nvSpPr>
        <p:spPr>
          <a:xfrm>
            <a:off x="8212693" y="2372358"/>
            <a:ext cx="299988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49 USD</a:t>
            </a:r>
            <a:endParaRPr lang="en-US" sz="3200" dirty="0"/>
          </a:p>
        </p:txBody>
      </p:sp>
      <p:sp>
        <p:nvSpPr>
          <p:cNvPr id="16" name="Text 14"/>
          <p:cNvSpPr/>
          <p:nvPr/>
        </p:nvSpPr>
        <p:spPr>
          <a:xfrm>
            <a:off x="8212693" y="2895600"/>
            <a:ext cx="299988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78%</a:t>
            </a:r>
            <a:r>
              <a:rPr lang="en-US" sz="1600" dirty="0">
                <a:solidFill>
                  <a:srgbClr val="233441"/>
                </a:solidFill>
                <a:latin typeface="DM Sans" pitchFamily="34" charset="0"/>
                <a:ea typeface="DM Sans" pitchFamily="34" charset="-122"/>
                <a:cs typeface="DM Sans" pitchFamily="34" charset="-120"/>
              </a:rPr>
              <a:t> de margen · 38 USD</a:t>
            </a:r>
            <a:endParaRPr lang="en-US" sz="1600" dirty="0"/>
          </a:p>
        </p:txBody>
      </p:sp>
      <p:sp>
        <p:nvSpPr>
          <p:cNvPr id="17" name="Text 15"/>
          <p:cNvSpPr/>
          <p:nvPr/>
        </p:nvSpPr>
        <p:spPr>
          <a:xfrm>
            <a:off x="812800" y="4800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COSTE COMPLETO POR NOVELA</a:t>
            </a:r>
            <a:endParaRPr lang="en-US" sz="1200" dirty="0"/>
          </a:p>
        </p:txBody>
      </p:sp>
      <p:sp>
        <p:nvSpPr>
          <p:cNvPr id="18" name="Shape 16"/>
          <p:cNvSpPr/>
          <p:nvPr/>
        </p:nvSpPr>
        <p:spPr>
          <a:xfrm>
            <a:off x="812800" y="5179058"/>
            <a:ext cx="1726486" cy="0"/>
          </a:xfrm>
          <a:prstGeom prst="line">
            <a:avLst/>
          </a:prstGeom>
          <a:noFill/>
          <a:ln w="25400">
            <a:solidFill>
              <a:srgbClr val="FF7932"/>
            </a:solidFill>
            <a:prstDash val="solid"/>
          </a:ln>
        </p:spPr>
      </p:sp>
      <p:sp>
        <p:nvSpPr>
          <p:cNvPr id="19" name="Text 17"/>
          <p:cNvSpPr/>
          <p:nvPr/>
        </p:nvSpPr>
        <p:spPr>
          <a:xfrm>
            <a:off x="812800" y="5267958"/>
            <a:ext cx="17782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5,80</a:t>
            </a:r>
            <a:endParaRPr lang="en-US" sz="1600" dirty="0"/>
          </a:p>
        </p:txBody>
      </p:sp>
      <p:sp>
        <p:nvSpPr>
          <p:cNvPr id="20" name="Text 18"/>
          <p:cNvSpPr/>
          <p:nvPr/>
        </p:nvSpPr>
        <p:spPr>
          <a:xfrm>
            <a:off x="812800" y="5577842"/>
            <a:ext cx="17782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Tokens · medido</a:t>
            </a:r>
            <a:endParaRPr lang="en-US" sz="1200" dirty="0"/>
          </a:p>
        </p:txBody>
      </p:sp>
      <p:sp>
        <p:nvSpPr>
          <p:cNvPr id="21" name="Text 19"/>
          <p:cNvSpPr/>
          <p:nvPr/>
        </p:nvSpPr>
        <p:spPr>
          <a:xfrm>
            <a:off x="2640886" y="5336542"/>
            <a:ext cx="16851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7932"/>
                </a:solidFill>
                <a:latin typeface="DM Sans" pitchFamily="34" charset="0"/>
                <a:ea typeface="DM Sans" pitchFamily="34" charset="-122"/>
                <a:cs typeface="DM Sans" pitchFamily="34" charset="-120"/>
              </a:rPr>
              <a:t>+</a:t>
            </a:r>
            <a:endParaRPr lang="en-US" sz="1600" dirty="0"/>
          </a:p>
        </p:txBody>
      </p:sp>
      <p:sp>
        <p:nvSpPr>
          <p:cNvPr id="22" name="Shape 20"/>
          <p:cNvSpPr/>
          <p:nvPr/>
        </p:nvSpPr>
        <p:spPr>
          <a:xfrm>
            <a:off x="2860199" y="5179058"/>
            <a:ext cx="1726565" cy="0"/>
          </a:xfrm>
          <a:prstGeom prst="line">
            <a:avLst/>
          </a:prstGeom>
          <a:noFill/>
          <a:ln w="25400">
            <a:solidFill>
              <a:srgbClr val="CBD3DA"/>
            </a:solidFill>
            <a:prstDash val="solid"/>
          </a:ln>
        </p:spPr>
      </p:sp>
      <p:sp>
        <p:nvSpPr>
          <p:cNvPr id="23" name="Text 21"/>
          <p:cNvSpPr/>
          <p:nvPr/>
        </p:nvSpPr>
        <p:spPr>
          <a:xfrm>
            <a:off x="2860199" y="5267958"/>
            <a:ext cx="177836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~1,00</a:t>
            </a:r>
            <a:endParaRPr lang="en-US" sz="1600" dirty="0"/>
          </a:p>
        </p:txBody>
      </p:sp>
      <p:sp>
        <p:nvSpPr>
          <p:cNvPr id="24" name="Text 22"/>
          <p:cNvSpPr/>
          <p:nvPr/>
        </p:nvSpPr>
        <p:spPr>
          <a:xfrm>
            <a:off x="2860199" y="5577842"/>
            <a:ext cx="17783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Infraestructura</a:t>
            </a:r>
            <a:endParaRPr lang="en-US" sz="1200" dirty="0"/>
          </a:p>
        </p:txBody>
      </p:sp>
      <p:sp>
        <p:nvSpPr>
          <p:cNvPr id="25" name="Text 23"/>
          <p:cNvSpPr/>
          <p:nvPr/>
        </p:nvSpPr>
        <p:spPr>
          <a:xfrm>
            <a:off x="4688364" y="5336542"/>
            <a:ext cx="16851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7932"/>
                </a:solidFill>
                <a:latin typeface="DM Sans" pitchFamily="34" charset="0"/>
                <a:ea typeface="DM Sans" pitchFamily="34" charset="-122"/>
                <a:cs typeface="DM Sans" pitchFamily="34" charset="-120"/>
              </a:rPr>
              <a:t>+</a:t>
            </a:r>
            <a:endParaRPr lang="en-US" sz="1600" dirty="0"/>
          </a:p>
        </p:txBody>
      </p:sp>
      <p:sp>
        <p:nvSpPr>
          <p:cNvPr id="26" name="Shape 24"/>
          <p:cNvSpPr/>
          <p:nvPr/>
        </p:nvSpPr>
        <p:spPr>
          <a:xfrm>
            <a:off x="4907677" y="5179058"/>
            <a:ext cx="1726486" cy="0"/>
          </a:xfrm>
          <a:prstGeom prst="line">
            <a:avLst/>
          </a:prstGeom>
          <a:noFill/>
          <a:ln w="25400">
            <a:solidFill>
              <a:srgbClr val="CBD3DA"/>
            </a:solidFill>
            <a:prstDash val="solid"/>
          </a:ln>
        </p:spPr>
      </p:sp>
      <p:sp>
        <p:nvSpPr>
          <p:cNvPr id="27" name="Text 25"/>
          <p:cNvSpPr/>
          <p:nvPr/>
        </p:nvSpPr>
        <p:spPr>
          <a:xfrm>
            <a:off x="4907677" y="5267958"/>
            <a:ext cx="17782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~2,00</a:t>
            </a:r>
            <a:endParaRPr lang="en-US" sz="1600" dirty="0"/>
          </a:p>
        </p:txBody>
      </p:sp>
      <p:sp>
        <p:nvSpPr>
          <p:cNvPr id="28" name="Text 26"/>
          <p:cNvSpPr/>
          <p:nvPr/>
        </p:nvSpPr>
        <p:spPr>
          <a:xfrm>
            <a:off x="4907677" y="5577842"/>
            <a:ext cx="17782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Reserva revisiones</a:t>
            </a:r>
            <a:endParaRPr lang="en-US" sz="1200" dirty="0"/>
          </a:p>
        </p:txBody>
      </p:sp>
      <p:sp>
        <p:nvSpPr>
          <p:cNvPr id="29" name="Text 27"/>
          <p:cNvSpPr/>
          <p:nvPr/>
        </p:nvSpPr>
        <p:spPr>
          <a:xfrm>
            <a:off x="6735763" y="5336542"/>
            <a:ext cx="16851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7932"/>
                </a:solidFill>
                <a:latin typeface="DM Sans" pitchFamily="34" charset="0"/>
                <a:ea typeface="DM Sans" pitchFamily="34" charset="-122"/>
                <a:cs typeface="DM Sans" pitchFamily="34" charset="-120"/>
              </a:rPr>
              <a:t>+</a:t>
            </a:r>
            <a:endParaRPr lang="en-US" sz="1600" dirty="0"/>
          </a:p>
        </p:txBody>
      </p:sp>
      <p:sp>
        <p:nvSpPr>
          <p:cNvPr id="30" name="Shape 28"/>
          <p:cNvSpPr/>
          <p:nvPr/>
        </p:nvSpPr>
        <p:spPr>
          <a:xfrm>
            <a:off x="6955075" y="5179058"/>
            <a:ext cx="1726565" cy="0"/>
          </a:xfrm>
          <a:prstGeom prst="line">
            <a:avLst/>
          </a:prstGeom>
          <a:noFill/>
          <a:ln w="25400">
            <a:solidFill>
              <a:srgbClr val="CBD3DA"/>
            </a:solidFill>
            <a:prstDash val="solid"/>
          </a:ln>
        </p:spPr>
      </p:sp>
      <p:sp>
        <p:nvSpPr>
          <p:cNvPr id="31" name="Text 29"/>
          <p:cNvSpPr/>
          <p:nvPr/>
        </p:nvSpPr>
        <p:spPr>
          <a:xfrm>
            <a:off x="6955075" y="5267958"/>
            <a:ext cx="177836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~1,50</a:t>
            </a:r>
            <a:endParaRPr lang="en-US" sz="1600" dirty="0"/>
          </a:p>
        </p:txBody>
      </p:sp>
      <p:sp>
        <p:nvSpPr>
          <p:cNvPr id="32" name="Text 30"/>
          <p:cNvSpPr/>
          <p:nvPr/>
        </p:nvSpPr>
        <p:spPr>
          <a:xfrm>
            <a:off x="6955075" y="5577842"/>
            <a:ext cx="17783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Pago · 3% + 0,30</a:t>
            </a:r>
            <a:endParaRPr lang="en-US" sz="1200" dirty="0"/>
          </a:p>
        </p:txBody>
      </p:sp>
      <p:sp>
        <p:nvSpPr>
          <p:cNvPr id="33" name="Text 31"/>
          <p:cNvSpPr/>
          <p:nvPr/>
        </p:nvSpPr>
        <p:spPr>
          <a:xfrm>
            <a:off x="8783241" y="5336542"/>
            <a:ext cx="16851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7932"/>
                </a:solidFill>
                <a:latin typeface="DM Sans" pitchFamily="34" charset="0"/>
                <a:ea typeface="DM Sans" pitchFamily="34" charset="-122"/>
                <a:cs typeface="DM Sans" pitchFamily="34" charset="-120"/>
              </a:rPr>
              <a:t>=</a:t>
            </a:r>
            <a:endParaRPr lang="en-US" sz="1600" dirty="0"/>
          </a:p>
        </p:txBody>
      </p:sp>
      <p:sp>
        <p:nvSpPr>
          <p:cNvPr id="34" name="Shape 32"/>
          <p:cNvSpPr/>
          <p:nvPr/>
        </p:nvSpPr>
        <p:spPr>
          <a:xfrm>
            <a:off x="9002554" y="5115558"/>
            <a:ext cx="2376646" cy="726440"/>
          </a:xfrm>
          <a:prstGeom prst="roundRect">
            <a:avLst>
              <a:gd name="adj" fmla="val 10490"/>
            </a:avLst>
          </a:prstGeom>
          <a:solidFill>
            <a:srgbClr val="233441"/>
          </a:solidFill>
          <a:ln/>
        </p:spPr>
      </p:sp>
      <p:sp>
        <p:nvSpPr>
          <p:cNvPr id="35" name="Text 33"/>
          <p:cNvSpPr/>
          <p:nvPr/>
        </p:nvSpPr>
        <p:spPr>
          <a:xfrm>
            <a:off x="9154954" y="5217158"/>
            <a:ext cx="213400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 10,30 USD</a:t>
            </a:r>
            <a:endParaRPr lang="en-US" sz="1600" dirty="0"/>
          </a:p>
        </p:txBody>
      </p:sp>
      <p:sp>
        <p:nvSpPr>
          <p:cNvPr id="36" name="Text 34"/>
          <p:cNvSpPr/>
          <p:nvPr/>
        </p:nvSpPr>
        <p:spPr>
          <a:xfrm>
            <a:off x="9154954" y="5527042"/>
            <a:ext cx="21340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CE2"/>
                </a:solidFill>
                <a:latin typeface="DM Sans" pitchFamily="34" charset="0"/>
                <a:ea typeface="DM Sans" pitchFamily="34" charset="-122"/>
                <a:cs typeface="DM Sans" pitchFamily="34" charset="-120"/>
              </a:rPr>
              <a:t>a 39 USD · ~30 min</a:t>
            </a:r>
            <a:endParaRPr lang="en-US" sz="1200" dirty="0"/>
          </a:p>
        </p:txBody>
      </p:sp>
      <p:sp>
        <p:nvSpPr>
          <p:cNvPr id="37" name="Text 35"/>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Tokens medidos; infraestructura, revisiones y pago estimados · precios a validar · © Qaracter group 2026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07 · COSTE DEL PROYECTO</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40 horas en cuatro fases</a:t>
            </a:r>
            <a:endParaRPr lang="en-US" sz="3200" dirty="0"/>
          </a:p>
        </p:txBody>
      </p:sp>
      <p:sp>
        <p:nvSpPr>
          <p:cNvPr id="4" name="Shape 2"/>
          <p:cNvSpPr/>
          <p:nvPr/>
        </p:nvSpPr>
        <p:spPr>
          <a:xfrm>
            <a:off x="812800" y="1930400"/>
            <a:ext cx="2565400" cy="1087120"/>
          </a:xfrm>
          <a:prstGeom prst="roundRect">
            <a:avLst>
              <a:gd name="adj" fmla="val 7009"/>
            </a:avLst>
          </a:prstGeom>
          <a:solidFill>
            <a:srgbClr val="F4F6F8"/>
          </a:solidFill>
          <a:ln/>
        </p:spPr>
      </p:sp>
      <p:sp>
        <p:nvSpPr>
          <p:cNvPr id="5" name="Shape 3"/>
          <p:cNvSpPr/>
          <p:nvPr/>
        </p:nvSpPr>
        <p:spPr>
          <a:xfrm>
            <a:off x="812800" y="1930400"/>
            <a:ext cx="2565400" cy="1087120"/>
          </a:xfrm>
          <a:custGeom>
            <a:avLst/>
            <a:gdLst/>
            <a:ahLst/>
            <a:cxnLst/>
            <a:rect l="l" t="t" r="r" b="b"/>
            <a:pathLst>
              <a:path w="2565400" h="1087120">
                <a:moveTo>
                  <a:pt x="0" y="76200"/>
                </a:moveTo>
                <a:lnTo>
                  <a:pt x="0" y="76200"/>
                </a:lnTo>
                <a:arcTo hR="76200" wR="76200" stAng="10800000" swAng="5400000"/>
                <a:lnTo>
                  <a:pt x="2489200" y="0"/>
                </a:lnTo>
                <a:arcTo hR="76200" wR="76200" stAng="16200000" swAng="5400000"/>
                <a:lnTo>
                  <a:pt x="2565400" y="76200"/>
                </a:lnTo>
                <a:arcTo hR="38100" wR="76200" stAng="0" swAng="-5400000"/>
                <a:lnTo>
                  <a:pt x="76200" y="38100"/>
                </a:lnTo>
                <a:arcTo hR="38100" wR="76200" stAng="16200000" swAng="-5400000"/>
                <a:close/>
              </a:path>
            </a:pathLst>
          </a:custGeom>
          <a:solidFill>
            <a:srgbClr val="233441"/>
          </a:solidFill>
          <a:ln/>
        </p:spPr>
      </p:sp>
      <p:sp>
        <p:nvSpPr>
          <p:cNvPr id="6" name="Text 4"/>
          <p:cNvSpPr/>
          <p:nvPr/>
        </p:nvSpPr>
        <p:spPr>
          <a:xfrm>
            <a:off x="1016000" y="2169158"/>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782"/>
                </a:solidFill>
                <a:latin typeface="DM Sans" pitchFamily="34" charset="0"/>
                <a:ea typeface="DM Sans" pitchFamily="34" charset="-122"/>
                <a:cs typeface="DM Sans" pitchFamily="34" charset="-120"/>
              </a:rPr>
              <a:t>Diseño</a:t>
            </a:r>
            <a:endParaRPr lang="en-US" sz="1200" dirty="0"/>
          </a:p>
        </p:txBody>
      </p:sp>
      <p:sp>
        <p:nvSpPr>
          <p:cNvPr id="7" name="Text 5"/>
          <p:cNvSpPr/>
          <p:nvPr/>
        </p:nvSpPr>
        <p:spPr>
          <a:xfrm>
            <a:off x="1016000" y="2458727"/>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33441"/>
                </a:solidFill>
                <a:latin typeface="DM Sans" pitchFamily="34" charset="0"/>
                <a:ea typeface="DM Sans" pitchFamily="34" charset="-122"/>
                <a:cs typeface="DM Sans" pitchFamily="34" charset="-120"/>
              </a:rPr>
              <a:t>6 h</a:t>
            </a:r>
            <a:endParaRPr lang="en-US" sz="2000" dirty="0"/>
          </a:p>
        </p:txBody>
      </p:sp>
      <p:sp>
        <p:nvSpPr>
          <p:cNvPr id="8" name="Shape 6"/>
          <p:cNvSpPr/>
          <p:nvPr/>
        </p:nvSpPr>
        <p:spPr>
          <a:xfrm>
            <a:off x="3479800" y="1930400"/>
            <a:ext cx="2565400" cy="1087120"/>
          </a:xfrm>
          <a:prstGeom prst="roundRect">
            <a:avLst>
              <a:gd name="adj" fmla="val 7009"/>
            </a:avLst>
          </a:prstGeom>
          <a:solidFill>
            <a:srgbClr val="FFF1E9"/>
          </a:solidFill>
          <a:ln/>
        </p:spPr>
      </p:sp>
      <p:sp>
        <p:nvSpPr>
          <p:cNvPr id="9" name="Shape 7"/>
          <p:cNvSpPr/>
          <p:nvPr/>
        </p:nvSpPr>
        <p:spPr>
          <a:xfrm>
            <a:off x="3479800" y="1930400"/>
            <a:ext cx="2565400" cy="1087120"/>
          </a:xfrm>
          <a:custGeom>
            <a:avLst/>
            <a:gdLst/>
            <a:ahLst/>
            <a:cxnLst/>
            <a:rect l="l" t="t" r="r" b="b"/>
            <a:pathLst>
              <a:path w="2565400" h="1087120">
                <a:moveTo>
                  <a:pt x="0" y="76200"/>
                </a:moveTo>
                <a:lnTo>
                  <a:pt x="0" y="76200"/>
                </a:lnTo>
                <a:arcTo hR="76200" wR="76200" stAng="10800000" swAng="5400000"/>
                <a:lnTo>
                  <a:pt x="2489200" y="0"/>
                </a:lnTo>
                <a:arcTo hR="76200" wR="76200" stAng="16200000" swAng="5400000"/>
                <a:lnTo>
                  <a:pt x="2565400" y="76200"/>
                </a:lnTo>
                <a:arcTo hR="38100" wR="76200" stAng="0" swAng="-5400000"/>
                <a:lnTo>
                  <a:pt x="76200" y="38100"/>
                </a:lnTo>
                <a:arcTo hR="38100" wR="76200" stAng="16200000" swAng="-5400000"/>
                <a:close/>
              </a:path>
            </a:pathLst>
          </a:custGeom>
          <a:solidFill>
            <a:srgbClr val="FF7932"/>
          </a:solidFill>
          <a:ln/>
        </p:spPr>
      </p:sp>
      <p:sp>
        <p:nvSpPr>
          <p:cNvPr id="10" name="Text 8"/>
          <p:cNvSpPr/>
          <p:nvPr/>
        </p:nvSpPr>
        <p:spPr>
          <a:xfrm>
            <a:off x="3683000" y="2169158"/>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782"/>
                </a:solidFill>
                <a:latin typeface="DM Sans" pitchFamily="34" charset="0"/>
                <a:ea typeface="DM Sans" pitchFamily="34" charset="-122"/>
                <a:cs typeface="DM Sans" pitchFamily="34" charset="-120"/>
              </a:rPr>
              <a:t>Desarrollo</a:t>
            </a:r>
            <a:endParaRPr lang="en-US" sz="1200" dirty="0"/>
          </a:p>
        </p:txBody>
      </p:sp>
      <p:sp>
        <p:nvSpPr>
          <p:cNvPr id="11" name="Text 9"/>
          <p:cNvSpPr/>
          <p:nvPr/>
        </p:nvSpPr>
        <p:spPr>
          <a:xfrm>
            <a:off x="3683000" y="2458727"/>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33441"/>
                </a:solidFill>
                <a:latin typeface="DM Sans" pitchFamily="34" charset="0"/>
                <a:ea typeface="DM Sans" pitchFamily="34" charset="-122"/>
                <a:cs typeface="DM Sans" pitchFamily="34" charset="-120"/>
              </a:rPr>
              <a:t>20 h</a:t>
            </a:r>
            <a:endParaRPr lang="en-US" sz="2000" dirty="0"/>
          </a:p>
        </p:txBody>
      </p:sp>
      <p:sp>
        <p:nvSpPr>
          <p:cNvPr id="12" name="Shape 10"/>
          <p:cNvSpPr/>
          <p:nvPr/>
        </p:nvSpPr>
        <p:spPr>
          <a:xfrm>
            <a:off x="6146800" y="1930400"/>
            <a:ext cx="2565400" cy="1087120"/>
          </a:xfrm>
          <a:prstGeom prst="roundRect">
            <a:avLst>
              <a:gd name="adj" fmla="val 7009"/>
            </a:avLst>
          </a:prstGeom>
          <a:solidFill>
            <a:srgbClr val="F4F6F8"/>
          </a:solidFill>
          <a:ln/>
        </p:spPr>
      </p:sp>
      <p:sp>
        <p:nvSpPr>
          <p:cNvPr id="13" name="Shape 11"/>
          <p:cNvSpPr/>
          <p:nvPr/>
        </p:nvSpPr>
        <p:spPr>
          <a:xfrm>
            <a:off x="6146800" y="1930400"/>
            <a:ext cx="2565400" cy="1087120"/>
          </a:xfrm>
          <a:custGeom>
            <a:avLst/>
            <a:gdLst/>
            <a:ahLst/>
            <a:cxnLst/>
            <a:rect l="l" t="t" r="r" b="b"/>
            <a:pathLst>
              <a:path w="2565400" h="1087120">
                <a:moveTo>
                  <a:pt x="0" y="76200"/>
                </a:moveTo>
                <a:lnTo>
                  <a:pt x="0" y="76200"/>
                </a:lnTo>
                <a:arcTo hR="76200" wR="76200" stAng="10800000" swAng="5400000"/>
                <a:lnTo>
                  <a:pt x="2489200" y="0"/>
                </a:lnTo>
                <a:arcTo hR="76200" wR="76200" stAng="16200000" swAng="5400000"/>
                <a:lnTo>
                  <a:pt x="2565400" y="76200"/>
                </a:lnTo>
                <a:arcTo hR="38100" wR="76200" stAng="0" swAng="-5400000"/>
                <a:lnTo>
                  <a:pt x="76200" y="38100"/>
                </a:lnTo>
                <a:arcTo hR="38100" wR="76200" stAng="16200000" swAng="-5400000"/>
                <a:close/>
              </a:path>
            </a:pathLst>
          </a:custGeom>
          <a:solidFill>
            <a:srgbClr val="233441"/>
          </a:solidFill>
          <a:ln/>
        </p:spPr>
      </p:sp>
      <p:sp>
        <p:nvSpPr>
          <p:cNvPr id="14" name="Text 12"/>
          <p:cNvSpPr/>
          <p:nvPr/>
        </p:nvSpPr>
        <p:spPr>
          <a:xfrm>
            <a:off x="6350000" y="2169158"/>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782"/>
                </a:solidFill>
                <a:latin typeface="DM Sans" pitchFamily="34" charset="0"/>
                <a:ea typeface="DM Sans" pitchFamily="34" charset="-122"/>
                <a:cs typeface="DM Sans" pitchFamily="34" charset="-120"/>
              </a:rPr>
              <a:t>Validación</a:t>
            </a:r>
            <a:endParaRPr lang="en-US" sz="1200" dirty="0"/>
          </a:p>
        </p:txBody>
      </p:sp>
      <p:sp>
        <p:nvSpPr>
          <p:cNvPr id="15" name="Text 13"/>
          <p:cNvSpPr/>
          <p:nvPr/>
        </p:nvSpPr>
        <p:spPr>
          <a:xfrm>
            <a:off x="6350000" y="2458727"/>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33441"/>
                </a:solidFill>
                <a:latin typeface="DM Sans" pitchFamily="34" charset="0"/>
                <a:ea typeface="DM Sans" pitchFamily="34" charset="-122"/>
                <a:cs typeface="DM Sans" pitchFamily="34" charset="-120"/>
              </a:rPr>
              <a:t>10 h</a:t>
            </a:r>
            <a:endParaRPr lang="en-US" sz="2000" dirty="0"/>
          </a:p>
        </p:txBody>
      </p:sp>
      <p:sp>
        <p:nvSpPr>
          <p:cNvPr id="16" name="Shape 14"/>
          <p:cNvSpPr/>
          <p:nvPr/>
        </p:nvSpPr>
        <p:spPr>
          <a:xfrm>
            <a:off x="8813800" y="1930400"/>
            <a:ext cx="2565400" cy="1087120"/>
          </a:xfrm>
          <a:prstGeom prst="roundRect">
            <a:avLst>
              <a:gd name="adj" fmla="val 7009"/>
            </a:avLst>
          </a:prstGeom>
          <a:solidFill>
            <a:srgbClr val="F4F6F8"/>
          </a:solidFill>
          <a:ln/>
        </p:spPr>
      </p:sp>
      <p:sp>
        <p:nvSpPr>
          <p:cNvPr id="17" name="Shape 15"/>
          <p:cNvSpPr/>
          <p:nvPr/>
        </p:nvSpPr>
        <p:spPr>
          <a:xfrm>
            <a:off x="8813800" y="1930400"/>
            <a:ext cx="2565400" cy="1087120"/>
          </a:xfrm>
          <a:custGeom>
            <a:avLst/>
            <a:gdLst/>
            <a:ahLst/>
            <a:cxnLst/>
            <a:rect l="l" t="t" r="r" b="b"/>
            <a:pathLst>
              <a:path w="2565400" h="1087120">
                <a:moveTo>
                  <a:pt x="0" y="76200"/>
                </a:moveTo>
                <a:lnTo>
                  <a:pt x="0" y="76200"/>
                </a:lnTo>
                <a:arcTo hR="76200" wR="76200" stAng="10800000" swAng="5400000"/>
                <a:lnTo>
                  <a:pt x="2489200" y="0"/>
                </a:lnTo>
                <a:arcTo hR="76200" wR="76200" stAng="16200000" swAng="5400000"/>
                <a:lnTo>
                  <a:pt x="2565400" y="76200"/>
                </a:lnTo>
                <a:arcTo hR="38100" wR="76200" stAng="0" swAng="-5400000"/>
                <a:lnTo>
                  <a:pt x="76200" y="38100"/>
                </a:lnTo>
                <a:arcTo hR="38100" wR="76200" stAng="16200000" swAng="-5400000"/>
                <a:close/>
              </a:path>
            </a:pathLst>
          </a:custGeom>
          <a:solidFill>
            <a:srgbClr val="233441"/>
          </a:solidFill>
          <a:ln/>
        </p:spPr>
      </p:sp>
      <p:sp>
        <p:nvSpPr>
          <p:cNvPr id="18" name="Text 16"/>
          <p:cNvSpPr/>
          <p:nvPr/>
        </p:nvSpPr>
        <p:spPr>
          <a:xfrm>
            <a:off x="9017000" y="2169158"/>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782"/>
                </a:solidFill>
                <a:latin typeface="DM Sans" pitchFamily="34" charset="0"/>
                <a:ea typeface="DM Sans" pitchFamily="34" charset="-122"/>
                <a:cs typeface="DM Sans" pitchFamily="34" charset="-120"/>
              </a:rPr>
              <a:t>Despliegue</a:t>
            </a:r>
            <a:endParaRPr lang="en-US" sz="1200" dirty="0"/>
          </a:p>
        </p:txBody>
      </p:sp>
      <p:sp>
        <p:nvSpPr>
          <p:cNvPr id="19" name="Text 17"/>
          <p:cNvSpPr/>
          <p:nvPr/>
        </p:nvSpPr>
        <p:spPr>
          <a:xfrm>
            <a:off x="9017000" y="2458727"/>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33441"/>
                </a:solidFill>
                <a:latin typeface="DM Sans" pitchFamily="34" charset="0"/>
                <a:ea typeface="DM Sans" pitchFamily="34" charset="-122"/>
                <a:cs typeface="DM Sans" pitchFamily="34" charset="-120"/>
              </a:rPr>
              <a:t>4 h</a:t>
            </a:r>
            <a:endParaRPr lang="en-US" sz="2000" dirty="0"/>
          </a:p>
        </p:txBody>
      </p:sp>
      <p:sp>
        <p:nvSpPr>
          <p:cNvPr id="20" name="Text 18"/>
          <p:cNvSpPr/>
          <p:nvPr/>
        </p:nvSpPr>
        <p:spPr>
          <a:xfrm>
            <a:off x="812800" y="4744727"/>
            <a:ext cx="519315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45"/>
                </a:solidFill>
                <a:latin typeface="DM Sans" pitchFamily="34" charset="0"/>
                <a:ea typeface="DM Sans" pitchFamily="34" charset="-122"/>
                <a:cs typeface="DM Sans" pitchFamily="34" charset="-120"/>
              </a:rPr>
              <a:t>40 h × 70 USD/h</a:t>
            </a:r>
            <a:endParaRPr lang="en-US" sz="1600" dirty="0"/>
          </a:p>
        </p:txBody>
      </p:sp>
      <p:sp>
        <p:nvSpPr>
          <p:cNvPr id="21" name="Text 19"/>
          <p:cNvSpPr/>
          <p:nvPr/>
        </p:nvSpPr>
        <p:spPr>
          <a:xfrm>
            <a:off x="812800" y="5080000"/>
            <a:ext cx="5193157"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33441"/>
                </a:solidFill>
                <a:latin typeface="DM Sans" pitchFamily="34" charset="0"/>
                <a:ea typeface="DM Sans" pitchFamily="34" charset="-122"/>
                <a:cs typeface="DM Sans" pitchFamily="34" charset="-120"/>
              </a:rPr>
              <a:t>2.800 USD</a:t>
            </a:r>
            <a:endParaRPr lang="en-US" sz="6000" dirty="0"/>
          </a:p>
        </p:txBody>
      </p:sp>
      <p:sp>
        <p:nvSpPr>
          <p:cNvPr id="22" name="Shape 20"/>
          <p:cNvSpPr/>
          <p:nvPr/>
        </p:nvSpPr>
        <p:spPr>
          <a:xfrm>
            <a:off x="6070600" y="4744727"/>
            <a:ext cx="0" cy="1097280"/>
          </a:xfrm>
          <a:prstGeom prst="line">
            <a:avLst/>
          </a:prstGeom>
          <a:noFill/>
          <a:ln w="25400">
            <a:solidFill>
              <a:srgbClr val="FF7932"/>
            </a:solidFill>
            <a:prstDash val="solid"/>
          </a:ln>
        </p:spPr>
      </p:sp>
      <p:sp>
        <p:nvSpPr>
          <p:cNvPr id="23" name="Text 21"/>
          <p:cNvSpPr/>
          <p:nvPr/>
        </p:nvSpPr>
        <p:spPr>
          <a:xfrm>
            <a:off x="6337300" y="4744727"/>
            <a:ext cx="519315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45"/>
                </a:solidFill>
                <a:latin typeface="DM Sans" pitchFamily="34" charset="0"/>
                <a:ea typeface="DM Sans" pitchFamily="34" charset="-122"/>
                <a:cs typeface="DM Sans" pitchFamily="34" charset="-120"/>
              </a:rPr>
              <a:t>Se recupera con</a:t>
            </a:r>
            <a:endParaRPr lang="en-US" sz="1600" dirty="0"/>
          </a:p>
        </p:txBody>
      </p:sp>
      <p:sp>
        <p:nvSpPr>
          <p:cNvPr id="24" name="Text 22"/>
          <p:cNvSpPr/>
          <p:nvPr/>
        </p:nvSpPr>
        <p:spPr>
          <a:xfrm>
            <a:off x="6337300" y="5080000"/>
            <a:ext cx="5193157"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FF7932"/>
                </a:solidFill>
                <a:latin typeface="DM Sans" pitchFamily="34" charset="0"/>
                <a:ea typeface="DM Sans" pitchFamily="34" charset="-122"/>
                <a:cs typeface="DM Sans" pitchFamily="34" charset="-120"/>
              </a:rPr>
              <a:t>≈ 98 novelas</a:t>
            </a:r>
            <a:endParaRPr lang="en-US" sz="6000" dirty="0"/>
          </a:p>
        </p:txBody>
      </p:sp>
      <p:sp>
        <p:nvSpPr>
          <p:cNvPr id="25" name="Text 23"/>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Tarifa: estimación a validar · recuperación a 39 USD por novela · © Qaracter group 2026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07 · ESCENARIOS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Margen mensual, a tres volúmenes</a:t>
            </a:r>
            <a:endParaRPr lang="en-US" sz="3200" dirty="0"/>
          </a:p>
        </p:txBody>
      </p:sp>
      <p:sp>
        <p:nvSpPr>
          <p:cNvPr id="4" name="Shape 2"/>
          <p:cNvSpPr/>
          <p:nvPr/>
        </p:nvSpPr>
        <p:spPr>
          <a:xfrm>
            <a:off x="812800" y="1930400"/>
            <a:ext cx="3420507" cy="3911600"/>
          </a:xfrm>
          <a:prstGeom prst="roundRect">
            <a:avLst>
              <a:gd name="adj" fmla="val 2970"/>
            </a:avLst>
          </a:prstGeom>
          <a:solidFill>
            <a:srgbClr val="F4F6F8"/>
          </a:solidFill>
          <a:ln/>
        </p:spPr>
      </p:sp>
      <p:sp>
        <p:nvSpPr>
          <p:cNvPr id="5" name="Text 3"/>
          <p:cNvSpPr/>
          <p:nvPr/>
        </p:nvSpPr>
        <p:spPr>
          <a:xfrm>
            <a:off x="1117600" y="2235200"/>
            <a:ext cx="289523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33441"/>
                </a:solidFill>
                <a:latin typeface="DM Sans" pitchFamily="34" charset="0"/>
                <a:ea typeface="DM Sans" pitchFamily="34" charset="-122"/>
                <a:cs typeface="DM Sans" pitchFamily="34" charset="-120"/>
              </a:rPr>
              <a:t>50 novelas/mes</a:t>
            </a:r>
            <a:endParaRPr lang="en-US" sz="2000" dirty="0"/>
          </a:p>
        </p:txBody>
      </p:sp>
      <p:sp>
        <p:nvSpPr>
          <p:cNvPr id="6" name="Text 4"/>
          <p:cNvSpPr/>
          <p:nvPr/>
        </p:nvSpPr>
        <p:spPr>
          <a:xfrm>
            <a:off x="1117600" y="3576327"/>
            <a:ext cx="2895234"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 1.440 USD</a:t>
            </a:r>
            <a:endParaRPr lang="en-US" sz="3200" dirty="0"/>
          </a:p>
        </p:txBody>
      </p:sp>
      <p:sp>
        <p:nvSpPr>
          <p:cNvPr id="7" name="Text 5"/>
          <p:cNvSpPr/>
          <p:nvPr/>
        </p:nvSpPr>
        <p:spPr>
          <a:xfrm>
            <a:off x="1117600" y="5008885"/>
            <a:ext cx="2895234"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de margen · ingresos 1.950, coste ≈ 515</a:t>
            </a:r>
            <a:endParaRPr lang="en-US" sz="1600" dirty="0"/>
          </a:p>
        </p:txBody>
      </p:sp>
      <p:sp>
        <p:nvSpPr>
          <p:cNvPr id="8" name="Shape 6"/>
          <p:cNvSpPr/>
          <p:nvPr/>
        </p:nvSpPr>
        <p:spPr>
          <a:xfrm>
            <a:off x="4385707" y="1930400"/>
            <a:ext cx="3420586" cy="3911600"/>
          </a:xfrm>
          <a:prstGeom prst="roundRect">
            <a:avLst>
              <a:gd name="adj" fmla="val 2970"/>
            </a:avLst>
          </a:prstGeom>
          <a:solidFill>
            <a:srgbClr val="FFF1E9"/>
          </a:solidFill>
          <a:ln/>
        </p:spPr>
      </p:sp>
      <p:sp>
        <p:nvSpPr>
          <p:cNvPr id="9" name="Shape 7"/>
          <p:cNvSpPr/>
          <p:nvPr/>
        </p:nvSpPr>
        <p:spPr>
          <a:xfrm>
            <a:off x="4385707" y="1930400"/>
            <a:ext cx="3420586" cy="3911600"/>
          </a:xfrm>
          <a:custGeom>
            <a:avLst/>
            <a:gdLst/>
            <a:ahLst/>
            <a:cxnLst/>
            <a:rect l="l" t="t" r="r" b="b"/>
            <a:pathLst>
              <a:path w="3420586" h="3911600">
                <a:moveTo>
                  <a:pt x="0" y="101600"/>
                </a:moveTo>
                <a:lnTo>
                  <a:pt x="0" y="101600"/>
                </a:lnTo>
                <a:arcTo hR="101600" wR="101600" stAng="10800000" swAng="5400000"/>
                <a:lnTo>
                  <a:pt x="3318986" y="0"/>
                </a:lnTo>
                <a:arcTo hR="101600" wR="101600" stAng="16200000" swAng="5400000"/>
                <a:lnTo>
                  <a:pt x="3420586" y="101600"/>
                </a:lnTo>
                <a:arcTo hR="63500" wR="101600" stAng="0" swAng="-5400000"/>
                <a:lnTo>
                  <a:pt x="101600" y="38100"/>
                </a:lnTo>
                <a:arcTo hR="63500" wR="101600" stAng="16200000" swAng="-5400000"/>
                <a:close/>
              </a:path>
            </a:pathLst>
          </a:custGeom>
          <a:solidFill>
            <a:srgbClr val="FF7932"/>
          </a:solidFill>
          <a:ln/>
        </p:spPr>
      </p:sp>
      <p:sp>
        <p:nvSpPr>
          <p:cNvPr id="10" name="Text 8"/>
          <p:cNvSpPr/>
          <p:nvPr/>
        </p:nvSpPr>
        <p:spPr>
          <a:xfrm>
            <a:off x="4690507" y="2270758"/>
            <a:ext cx="289531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33441"/>
                </a:solidFill>
                <a:latin typeface="DM Sans" pitchFamily="34" charset="0"/>
                <a:ea typeface="DM Sans" pitchFamily="34" charset="-122"/>
                <a:cs typeface="DM Sans" pitchFamily="34" charset="-120"/>
              </a:rPr>
              <a:t>200 novelas/mes</a:t>
            </a:r>
            <a:endParaRPr lang="en-US" sz="2000" dirty="0"/>
          </a:p>
        </p:txBody>
      </p:sp>
      <p:sp>
        <p:nvSpPr>
          <p:cNvPr id="11" name="Text 9"/>
          <p:cNvSpPr/>
          <p:nvPr/>
        </p:nvSpPr>
        <p:spPr>
          <a:xfrm>
            <a:off x="4690507" y="3594100"/>
            <a:ext cx="2895316"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FF7932"/>
                </a:solidFill>
                <a:latin typeface="DM Sans" pitchFamily="34" charset="0"/>
                <a:ea typeface="DM Sans" pitchFamily="34" charset="-122"/>
                <a:cs typeface="DM Sans" pitchFamily="34" charset="-120"/>
              </a:rPr>
              <a:t>≈ 5.750 </a:t>
            </a:r>
            <a:r>
              <a:rPr lang="en-US" sz="3200" b="1" spc="-75" kern="0" dirty="0">
                <a:solidFill>
                  <a:srgbClr val="233441"/>
                </a:solidFill>
                <a:latin typeface="DM Sans" pitchFamily="34" charset="0"/>
                <a:ea typeface="DM Sans" pitchFamily="34" charset="-122"/>
                <a:cs typeface="DM Sans" pitchFamily="34" charset="-120"/>
              </a:rPr>
              <a:t>USD</a:t>
            </a:r>
            <a:endParaRPr lang="en-US" sz="3200" dirty="0"/>
          </a:p>
        </p:txBody>
      </p:sp>
      <p:sp>
        <p:nvSpPr>
          <p:cNvPr id="12" name="Text 10"/>
          <p:cNvSpPr/>
          <p:nvPr/>
        </p:nvSpPr>
        <p:spPr>
          <a:xfrm>
            <a:off x="4690507" y="5008885"/>
            <a:ext cx="2895316"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de margen · ingresos 7.800, coste ≈ 2.055</a:t>
            </a:r>
            <a:endParaRPr lang="en-US" sz="1600" dirty="0"/>
          </a:p>
        </p:txBody>
      </p:sp>
      <p:sp>
        <p:nvSpPr>
          <p:cNvPr id="13" name="Shape 11"/>
          <p:cNvSpPr/>
          <p:nvPr/>
        </p:nvSpPr>
        <p:spPr>
          <a:xfrm>
            <a:off x="7958693" y="1930400"/>
            <a:ext cx="3420507" cy="3911600"/>
          </a:xfrm>
          <a:prstGeom prst="roundRect">
            <a:avLst>
              <a:gd name="adj" fmla="val 2970"/>
            </a:avLst>
          </a:prstGeom>
          <a:solidFill>
            <a:srgbClr val="F4F6F8"/>
          </a:solidFill>
          <a:ln/>
        </p:spPr>
      </p:sp>
      <p:sp>
        <p:nvSpPr>
          <p:cNvPr id="14" name="Text 12"/>
          <p:cNvSpPr/>
          <p:nvPr/>
        </p:nvSpPr>
        <p:spPr>
          <a:xfrm>
            <a:off x="8263493" y="2235200"/>
            <a:ext cx="289523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33441"/>
                </a:solidFill>
                <a:latin typeface="DM Sans" pitchFamily="34" charset="0"/>
                <a:ea typeface="DM Sans" pitchFamily="34" charset="-122"/>
                <a:cs typeface="DM Sans" pitchFamily="34" charset="-120"/>
              </a:rPr>
              <a:t>1.000 novelas/mes</a:t>
            </a:r>
            <a:endParaRPr lang="en-US" sz="2000" dirty="0"/>
          </a:p>
        </p:txBody>
      </p:sp>
      <p:sp>
        <p:nvSpPr>
          <p:cNvPr id="15" name="Text 13"/>
          <p:cNvSpPr/>
          <p:nvPr/>
        </p:nvSpPr>
        <p:spPr>
          <a:xfrm>
            <a:off x="8263493" y="3576327"/>
            <a:ext cx="2895234"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 28.730 USD</a:t>
            </a:r>
            <a:endParaRPr lang="en-US" sz="3200" dirty="0"/>
          </a:p>
        </p:txBody>
      </p:sp>
      <p:sp>
        <p:nvSpPr>
          <p:cNvPr id="16" name="Text 14"/>
          <p:cNvSpPr/>
          <p:nvPr/>
        </p:nvSpPr>
        <p:spPr>
          <a:xfrm>
            <a:off x="8263493" y="5008885"/>
            <a:ext cx="2895234"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C4645"/>
                </a:solidFill>
                <a:latin typeface="DM Sans" pitchFamily="34" charset="0"/>
                <a:ea typeface="DM Sans" pitchFamily="34" charset="-122"/>
                <a:cs typeface="DM Sans" pitchFamily="34" charset="-120"/>
              </a:rPr>
              <a:t>de margen · ingresos 39.000, coste ≈ 10.270</a:t>
            </a:r>
            <a:endParaRPr lang="en-US" sz="1600" dirty="0"/>
          </a:p>
        </p:txBody>
      </p:sp>
      <p:sp>
        <p:nvSpPr>
          <p:cNvPr id="17" name="Text 15"/>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Precio 39 USD · coste completo ≈ 10,30 USD por novela · © Qaracter group 2026</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07 · SENSIBILIDAD</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El margen aguanta los dos riesgos</a:t>
            </a:r>
            <a:endParaRPr lang="en-US" sz="3200" dirty="0"/>
          </a:p>
        </p:txBody>
      </p:sp>
      <p:sp>
        <p:nvSpPr>
          <p:cNvPr id="4" name="Shape 2"/>
          <p:cNvSpPr/>
          <p:nvPr/>
        </p:nvSpPr>
        <p:spPr>
          <a:xfrm>
            <a:off x="812800" y="1930400"/>
            <a:ext cx="5181600" cy="3911600"/>
          </a:xfrm>
          <a:prstGeom prst="roundRect">
            <a:avLst>
              <a:gd name="adj" fmla="val 2597"/>
            </a:avLst>
          </a:prstGeom>
          <a:solidFill>
            <a:srgbClr val="F4F6F8"/>
          </a:solidFill>
          <a:ln/>
        </p:spPr>
      </p:sp>
      <p:sp>
        <p:nvSpPr>
          <p:cNvPr id="5" name="Shape 3"/>
          <p:cNvSpPr/>
          <p:nvPr/>
        </p:nvSpPr>
        <p:spPr>
          <a:xfrm>
            <a:off x="812800" y="1930400"/>
            <a:ext cx="5181600" cy="3911600"/>
          </a:xfrm>
          <a:custGeom>
            <a:avLst/>
            <a:gdLst/>
            <a:ahLst/>
            <a:cxnLst/>
            <a:rect l="l" t="t" r="r" b="b"/>
            <a:pathLst>
              <a:path w="5181600" h="3911600">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233441"/>
          </a:solidFill>
          <a:ln/>
        </p:spPr>
      </p:sp>
      <p:sp>
        <p:nvSpPr>
          <p:cNvPr id="6" name="Text 4"/>
          <p:cNvSpPr/>
          <p:nvPr/>
        </p:nvSpPr>
        <p:spPr>
          <a:xfrm>
            <a:off x="1117600" y="2270758"/>
            <a:ext cx="470916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SI LOS TOKENS SUBEN UN 50%</a:t>
            </a:r>
            <a:endParaRPr lang="en-US" sz="1200" dirty="0"/>
          </a:p>
        </p:txBody>
      </p:sp>
      <p:sp>
        <p:nvSpPr>
          <p:cNvPr id="7" name="Text 5"/>
          <p:cNvSpPr/>
          <p:nvPr/>
        </p:nvSpPr>
        <p:spPr>
          <a:xfrm>
            <a:off x="1117600" y="2636527"/>
            <a:ext cx="4709160"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33441"/>
                </a:solidFill>
                <a:latin typeface="DM Sans" pitchFamily="34" charset="0"/>
                <a:ea typeface="DM Sans" pitchFamily="34" charset="-122"/>
                <a:cs typeface="DM Sans" pitchFamily="34" charset="-120"/>
              </a:rPr>
              <a:t>74% → 66%</a:t>
            </a:r>
            <a:endParaRPr lang="en-US" sz="6000" dirty="0"/>
          </a:p>
        </p:txBody>
      </p:sp>
      <p:sp>
        <p:nvSpPr>
          <p:cNvPr id="8" name="Text 6"/>
          <p:cNvSpPr/>
          <p:nvPr/>
        </p:nvSpPr>
        <p:spPr>
          <a:xfrm>
            <a:off x="1117600" y="3550927"/>
            <a:ext cx="4709160"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233441"/>
                </a:solidFill>
                <a:latin typeface="DM Sans" pitchFamily="34" charset="0"/>
                <a:ea typeface="DM Sans" pitchFamily="34" charset="-122"/>
                <a:cs typeface="DM Sans" pitchFamily="34" charset="-120"/>
              </a:rPr>
              <a:t>de margen · los tokens pasan de 5,80 a 8,70 USD por novela</a:t>
            </a:r>
            <a:endParaRPr lang="en-US" sz="1600" dirty="0"/>
          </a:p>
        </p:txBody>
      </p:sp>
      <p:sp>
        <p:nvSpPr>
          <p:cNvPr id="9" name="Shape 7"/>
          <p:cNvSpPr/>
          <p:nvPr/>
        </p:nvSpPr>
        <p:spPr>
          <a:xfrm>
            <a:off x="6197600" y="1930400"/>
            <a:ext cx="5181600" cy="3911600"/>
          </a:xfrm>
          <a:prstGeom prst="roundRect">
            <a:avLst>
              <a:gd name="adj" fmla="val 2597"/>
            </a:avLst>
          </a:prstGeom>
          <a:solidFill>
            <a:srgbClr val="FFF1E9"/>
          </a:solidFill>
          <a:ln/>
        </p:spPr>
      </p:sp>
      <p:sp>
        <p:nvSpPr>
          <p:cNvPr id="10" name="Shape 8"/>
          <p:cNvSpPr/>
          <p:nvPr/>
        </p:nvSpPr>
        <p:spPr>
          <a:xfrm>
            <a:off x="6197600" y="1930400"/>
            <a:ext cx="5181600" cy="3911600"/>
          </a:xfrm>
          <a:custGeom>
            <a:avLst/>
            <a:gdLst/>
            <a:ahLst/>
            <a:cxnLst/>
            <a:rect l="l" t="t" r="r" b="b"/>
            <a:pathLst>
              <a:path w="5181600" h="3911600">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FF7932"/>
          </a:solidFill>
          <a:ln/>
        </p:spPr>
      </p:sp>
      <p:sp>
        <p:nvSpPr>
          <p:cNvPr id="11" name="Text 9"/>
          <p:cNvSpPr/>
          <p:nvPr/>
        </p:nvSpPr>
        <p:spPr>
          <a:xfrm>
            <a:off x="6502400" y="2270758"/>
            <a:ext cx="470916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SI PIDE MÁS DE 3 REVISIONES</a:t>
            </a:r>
            <a:endParaRPr lang="en-US" sz="1200" dirty="0"/>
          </a:p>
        </p:txBody>
      </p:sp>
      <p:sp>
        <p:nvSpPr>
          <p:cNvPr id="12" name="Text 10"/>
          <p:cNvSpPr/>
          <p:nvPr/>
        </p:nvSpPr>
        <p:spPr>
          <a:xfrm>
            <a:off x="6502400" y="2636527"/>
            <a:ext cx="4709160"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33441"/>
                </a:solidFill>
                <a:latin typeface="DM Sans" pitchFamily="34" charset="0"/>
                <a:ea typeface="DM Sans" pitchFamily="34" charset="-122"/>
                <a:cs typeface="DM Sans" pitchFamily="34" charset="-120"/>
              </a:rPr>
              <a:t>≥ 59%</a:t>
            </a:r>
            <a:endParaRPr lang="en-US" sz="6000" dirty="0"/>
          </a:p>
        </p:txBody>
      </p:sp>
      <p:sp>
        <p:nvSpPr>
          <p:cNvPr id="13" name="Text 11"/>
          <p:cNvSpPr/>
          <p:nvPr/>
        </p:nvSpPr>
        <p:spPr>
          <a:xfrm>
            <a:off x="6502400" y="3550927"/>
            <a:ext cx="4709160"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233441"/>
                </a:solidFill>
                <a:latin typeface="DM Sans" pitchFamily="34" charset="0"/>
                <a:ea typeface="DM Sans" pitchFamily="34" charset="-122"/>
                <a:cs typeface="DM Sans" pitchFamily="34" charset="-120"/>
              </a:rPr>
              <a:t>de margen con una revisión extra · cada una cuesta como máximo 5,80 USD</a:t>
            </a:r>
            <a:endParaRPr lang="en-US" sz="1600" dirty="0"/>
          </a:p>
        </p:txBody>
      </p:sp>
      <p:sp>
        <p:nvSpPr>
          <p:cNvPr id="14" name="Text 12"/>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Precio 39 USD · coste completo ≈ 10,30 USD por novela · © Qaracter group 2026</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08 · DEMO</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Un cambio del lector, propagado</a:t>
            </a:r>
            <a:endParaRPr lang="en-US" sz="3200" dirty="0"/>
          </a:p>
        </p:txBody>
      </p:sp>
      <p:sp>
        <p:nvSpPr>
          <p:cNvPr id="4" name="Text 2"/>
          <p:cNvSpPr/>
          <p:nvPr/>
        </p:nvSpPr>
        <p:spPr>
          <a:xfrm>
            <a:off x="812800" y="19304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45"/>
                </a:solidFill>
                <a:latin typeface="DM Sans" pitchFamily="34" charset="0"/>
                <a:ea typeface="DM Sans" pitchFamily="34" charset="-122"/>
                <a:cs typeface="DM Sans" pitchFamily="34" charset="-120"/>
              </a:rPr>
              <a:t>Petición: </a:t>
            </a:r>
            <a:r>
              <a:rPr lang="en-US" sz="1600" b="1" dirty="0">
                <a:solidFill>
                  <a:srgbClr val="3C4645"/>
                </a:solidFill>
                <a:latin typeface="DM Sans" pitchFamily="34" charset="0"/>
                <a:ea typeface="DM Sans" pitchFamily="34" charset="-122"/>
                <a:cs typeface="DM Sans" pitchFamily="34" charset="-120"/>
              </a:rPr>
              <a:t>renombrar a un personaje secundario</a:t>
            </a:r>
            <a:r>
              <a:rPr lang="en-US" sz="1600" dirty="0">
                <a:solidFill>
                  <a:srgbClr val="3C4645"/>
                </a:solidFill>
                <a:latin typeface="DM Sans" pitchFamily="34" charset="0"/>
                <a:ea typeface="DM Sans" pitchFamily="34" charset="-122"/>
                <a:cs typeface="DM Sans" pitchFamily="34" charset="-120"/>
              </a:rPr>
              <a:t>. Aparece por primera vez en el capítulo 4.</a:t>
            </a:r>
            <a:endParaRPr lang="en-US" sz="1600" dirty="0"/>
          </a:p>
        </p:txBody>
      </p:sp>
      <p:sp>
        <p:nvSpPr>
          <p:cNvPr id="5" name="Shape 3"/>
          <p:cNvSpPr/>
          <p:nvPr/>
        </p:nvSpPr>
        <p:spPr>
          <a:xfrm>
            <a:off x="819150" y="3044192"/>
            <a:ext cx="975360" cy="698500"/>
          </a:xfrm>
          <a:prstGeom prst="roundRect">
            <a:avLst>
              <a:gd name="adj" fmla="val 10000"/>
            </a:avLst>
          </a:prstGeom>
          <a:solidFill>
            <a:srgbClr val="F4F6F8"/>
          </a:solidFill>
          <a:ln w="12700">
            <a:solidFill>
              <a:srgbClr val="CBD3DA"/>
            </a:solidFill>
            <a:prstDash val="solid"/>
          </a:ln>
        </p:spPr>
      </p:sp>
      <p:sp>
        <p:nvSpPr>
          <p:cNvPr id="6" name="Text 4"/>
          <p:cNvSpPr/>
          <p:nvPr/>
        </p:nvSpPr>
        <p:spPr>
          <a:xfrm>
            <a:off x="848360" y="3251202"/>
            <a:ext cx="91694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6B7782"/>
                </a:solidFill>
                <a:latin typeface="DM Sans" pitchFamily="34" charset="0"/>
                <a:ea typeface="DM Sans" pitchFamily="34" charset="-122"/>
                <a:cs typeface="DM Sans" pitchFamily="34" charset="-120"/>
              </a:rPr>
              <a:t>1</a:t>
            </a:r>
            <a:endParaRPr lang="en-US" sz="1600" dirty="0"/>
          </a:p>
        </p:txBody>
      </p:sp>
      <p:sp>
        <p:nvSpPr>
          <p:cNvPr id="7" name="Shape 5"/>
          <p:cNvSpPr/>
          <p:nvPr/>
        </p:nvSpPr>
        <p:spPr>
          <a:xfrm>
            <a:off x="1883410" y="3044192"/>
            <a:ext cx="975360" cy="698500"/>
          </a:xfrm>
          <a:prstGeom prst="roundRect">
            <a:avLst>
              <a:gd name="adj" fmla="val 10000"/>
            </a:avLst>
          </a:prstGeom>
          <a:solidFill>
            <a:srgbClr val="F4F6F8"/>
          </a:solidFill>
          <a:ln w="12700">
            <a:solidFill>
              <a:srgbClr val="CBD3DA"/>
            </a:solidFill>
            <a:prstDash val="solid"/>
          </a:ln>
        </p:spPr>
      </p:sp>
      <p:sp>
        <p:nvSpPr>
          <p:cNvPr id="8" name="Text 6"/>
          <p:cNvSpPr/>
          <p:nvPr/>
        </p:nvSpPr>
        <p:spPr>
          <a:xfrm>
            <a:off x="1912620" y="3251202"/>
            <a:ext cx="91694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6B7782"/>
                </a:solidFill>
                <a:latin typeface="DM Sans" pitchFamily="34" charset="0"/>
                <a:ea typeface="DM Sans" pitchFamily="34" charset="-122"/>
                <a:cs typeface="DM Sans" pitchFamily="34" charset="-120"/>
              </a:rPr>
              <a:t>2</a:t>
            </a:r>
            <a:endParaRPr lang="en-US" sz="1600" dirty="0"/>
          </a:p>
        </p:txBody>
      </p:sp>
      <p:sp>
        <p:nvSpPr>
          <p:cNvPr id="9" name="Shape 7"/>
          <p:cNvSpPr/>
          <p:nvPr/>
        </p:nvSpPr>
        <p:spPr>
          <a:xfrm>
            <a:off x="2947670" y="3044192"/>
            <a:ext cx="975360" cy="698500"/>
          </a:xfrm>
          <a:prstGeom prst="roundRect">
            <a:avLst>
              <a:gd name="adj" fmla="val 10000"/>
            </a:avLst>
          </a:prstGeom>
          <a:solidFill>
            <a:srgbClr val="F4F6F8"/>
          </a:solidFill>
          <a:ln w="12700">
            <a:solidFill>
              <a:srgbClr val="CBD3DA"/>
            </a:solidFill>
            <a:prstDash val="solid"/>
          </a:ln>
        </p:spPr>
      </p:sp>
      <p:sp>
        <p:nvSpPr>
          <p:cNvPr id="10" name="Text 8"/>
          <p:cNvSpPr/>
          <p:nvPr/>
        </p:nvSpPr>
        <p:spPr>
          <a:xfrm>
            <a:off x="2976880" y="3251202"/>
            <a:ext cx="91694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6B7782"/>
                </a:solidFill>
                <a:latin typeface="DM Sans" pitchFamily="34" charset="0"/>
                <a:ea typeface="DM Sans" pitchFamily="34" charset="-122"/>
                <a:cs typeface="DM Sans" pitchFamily="34" charset="-120"/>
              </a:rPr>
              <a:t>3</a:t>
            </a:r>
            <a:endParaRPr lang="en-US" sz="1600" dirty="0"/>
          </a:p>
        </p:txBody>
      </p:sp>
      <p:sp>
        <p:nvSpPr>
          <p:cNvPr id="11" name="Shape 9"/>
          <p:cNvSpPr/>
          <p:nvPr/>
        </p:nvSpPr>
        <p:spPr>
          <a:xfrm>
            <a:off x="4011930" y="3044192"/>
            <a:ext cx="975360" cy="698500"/>
          </a:xfrm>
          <a:prstGeom prst="roundRect">
            <a:avLst>
              <a:gd name="adj" fmla="val 10000"/>
            </a:avLst>
          </a:prstGeom>
          <a:solidFill>
            <a:srgbClr val="FF7932"/>
          </a:solidFill>
          <a:ln w="12700">
            <a:solidFill>
              <a:srgbClr val="FF7932"/>
            </a:solidFill>
            <a:prstDash val="solid"/>
          </a:ln>
        </p:spPr>
      </p:sp>
      <p:sp>
        <p:nvSpPr>
          <p:cNvPr id="12" name="Text 10"/>
          <p:cNvSpPr/>
          <p:nvPr/>
        </p:nvSpPr>
        <p:spPr>
          <a:xfrm>
            <a:off x="4041140" y="3251202"/>
            <a:ext cx="91694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33441"/>
                </a:solidFill>
                <a:latin typeface="DM Sans" pitchFamily="34" charset="0"/>
                <a:ea typeface="DM Sans" pitchFamily="34" charset="-122"/>
                <a:cs typeface="DM Sans" pitchFamily="34" charset="-120"/>
              </a:rPr>
              <a:t>4</a:t>
            </a:r>
            <a:endParaRPr lang="en-US" sz="1600" dirty="0"/>
          </a:p>
        </p:txBody>
      </p:sp>
      <p:sp>
        <p:nvSpPr>
          <p:cNvPr id="13" name="Shape 11"/>
          <p:cNvSpPr/>
          <p:nvPr/>
        </p:nvSpPr>
        <p:spPr>
          <a:xfrm>
            <a:off x="5076190" y="3044192"/>
            <a:ext cx="975360" cy="698500"/>
          </a:xfrm>
          <a:prstGeom prst="roundRect">
            <a:avLst>
              <a:gd name="adj" fmla="val 10000"/>
            </a:avLst>
          </a:prstGeom>
          <a:solidFill>
            <a:srgbClr val="FFF1E9"/>
          </a:solidFill>
          <a:ln w="12700">
            <a:solidFill>
              <a:srgbClr val="FF7932"/>
            </a:solidFill>
            <a:prstDash val="solid"/>
          </a:ln>
        </p:spPr>
      </p:sp>
      <p:sp>
        <p:nvSpPr>
          <p:cNvPr id="14" name="Text 12"/>
          <p:cNvSpPr/>
          <p:nvPr/>
        </p:nvSpPr>
        <p:spPr>
          <a:xfrm>
            <a:off x="5105400" y="3251202"/>
            <a:ext cx="91694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33441"/>
                </a:solidFill>
                <a:latin typeface="DM Sans" pitchFamily="34" charset="0"/>
                <a:ea typeface="DM Sans" pitchFamily="34" charset="-122"/>
                <a:cs typeface="DM Sans" pitchFamily="34" charset="-120"/>
              </a:rPr>
              <a:t>5</a:t>
            </a:r>
            <a:endParaRPr lang="en-US" sz="1600" dirty="0"/>
          </a:p>
        </p:txBody>
      </p:sp>
      <p:sp>
        <p:nvSpPr>
          <p:cNvPr id="15" name="Shape 13"/>
          <p:cNvSpPr/>
          <p:nvPr/>
        </p:nvSpPr>
        <p:spPr>
          <a:xfrm>
            <a:off x="6140450" y="3044192"/>
            <a:ext cx="975360" cy="698500"/>
          </a:xfrm>
          <a:prstGeom prst="roundRect">
            <a:avLst>
              <a:gd name="adj" fmla="val 10000"/>
            </a:avLst>
          </a:prstGeom>
          <a:solidFill>
            <a:srgbClr val="FFF1E9"/>
          </a:solidFill>
          <a:ln w="12700">
            <a:solidFill>
              <a:srgbClr val="FF7932"/>
            </a:solidFill>
            <a:prstDash val="solid"/>
          </a:ln>
        </p:spPr>
      </p:sp>
      <p:sp>
        <p:nvSpPr>
          <p:cNvPr id="16" name="Text 14"/>
          <p:cNvSpPr/>
          <p:nvPr/>
        </p:nvSpPr>
        <p:spPr>
          <a:xfrm>
            <a:off x="6169660" y="3251202"/>
            <a:ext cx="91694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33441"/>
                </a:solidFill>
                <a:latin typeface="DM Sans" pitchFamily="34" charset="0"/>
                <a:ea typeface="DM Sans" pitchFamily="34" charset="-122"/>
                <a:cs typeface="DM Sans" pitchFamily="34" charset="-120"/>
              </a:rPr>
              <a:t>6</a:t>
            </a:r>
            <a:endParaRPr lang="en-US" sz="1600" dirty="0"/>
          </a:p>
        </p:txBody>
      </p:sp>
      <p:sp>
        <p:nvSpPr>
          <p:cNvPr id="17" name="Shape 15"/>
          <p:cNvSpPr/>
          <p:nvPr/>
        </p:nvSpPr>
        <p:spPr>
          <a:xfrm>
            <a:off x="7204710" y="3044192"/>
            <a:ext cx="975360" cy="698500"/>
          </a:xfrm>
          <a:prstGeom prst="roundRect">
            <a:avLst>
              <a:gd name="adj" fmla="val 10000"/>
            </a:avLst>
          </a:prstGeom>
          <a:solidFill>
            <a:srgbClr val="FFF1E9"/>
          </a:solidFill>
          <a:ln w="12700">
            <a:solidFill>
              <a:srgbClr val="FF7932"/>
            </a:solidFill>
            <a:prstDash val="solid"/>
          </a:ln>
        </p:spPr>
      </p:sp>
      <p:sp>
        <p:nvSpPr>
          <p:cNvPr id="18" name="Text 16"/>
          <p:cNvSpPr/>
          <p:nvPr/>
        </p:nvSpPr>
        <p:spPr>
          <a:xfrm>
            <a:off x="7233920" y="3251202"/>
            <a:ext cx="91694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33441"/>
                </a:solidFill>
                <a:latin typeface="DM Sans" pitchFamily="34" charset="0"/>
                <a:ea typeface="DM Sans" pitchFamily="34" charset="-122"/>
                <a:cs typeface="DM Sans" pitchFamily="34" charset="-120"/>
              </a:rPr>
              <a:t>7</a:t>
            </a:r>
            <a:endParaRPr lang="en-US" sz="1600" dirty="0"/>
          </a:p>
        </p:txBody>
      </p:sp>
      <p:sp>
        <p:nvSpPr>
          <p:cNvPr id="19" name="Shape 17"/>
          <p:cNvSpPr/>
          <p:nvPr/>
        </p:nvSpPr>
        <p:spPr>
          <a:xfrm>
            <a:off x="8268970" y="3044192"/>
            <a:ext cx="975360" cy="698500"/>
          </a:xfrm>
          <a:prstGeom prst="roundRect">
            <a:avLst>
              <a:gd name="adj" fmla="val 10000"/>
            </a:avLst>
          </a:prstGeom>
          <a:solidFill>
            <a:srgbClr val="FFF1E9"/>
          </a:solidFill>
          <a:ln w="12700">
            <a:solidFill>
              <a:srgbClr val="FF7932"/>
            </a:solidFill>
            <a:prstDash val="solid"/>
          </a:ln>
        </p:spPr>
      </p:sp>
      <p:sp>
        <p:nvSpPr>
          <p:cNvPr id="20" name="Text 18"/>
          <p:cNvSpPr/>
          <p:nvPr/>
        </p:nvSpPr>
        <p:spPr>
          <a:xfrm>
            <a:off x="8298180" y="3251202"/>
            <a:ext cx="91694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33441"/>
                </a:solidFill>
                <a:latin typeface="DM Sans" pitchFamily="34" charset="0"/>
                <a:ea typeface="DM Sans" pitchFamily="34" charset="-122"/>
                <a:cs typeface="DM Sans" pitchFamily="34" charset="-120"/>
              </a:rPr>
              <a:t>8</a:t>
            </a:r>
            <a:endParaRPr lang="en-US" sz="1600" dirty="0"/>
          </a:p>
        </p:txBody>
      </p:sp>
      <p:sp>
        <p:nvSpPr>
          <p:cNvPr id="21" name="Shape 19"/>
          <p:cNvSpPr/>
          <p:nvPr/>
        </p:nvSpPr>
        <p:spPr>
          <a:xfrm>
            <a:off x="9333230" y="3044192"/>
            <a:ext cx="975360" cy="698500"/>
          </a:xfrm>
          <a:prstGeom prst="roundRect">
            <a:avLst>
              <a:gd name="adj" fmla="val 10000"/>
            </a:avLst>
          </a:prstGeom>
          <a:solidFill>
            <a:srgbClr val="FFF1E9"/>
          </a:solidFill>
          <a:ln w="12700">
            <a:solidFill>
              <a:srgbClr val="FF7932"/>
            </a:solidFill>
            <a:prstDash val="solid"/>
          </a:ln>
        </p:spPr>
      </p:sp>
      <p:sp>
        <p:nvSpPr>
          <p:cNvPr id="22" name="Text 20"/>
          <p:cNvSpPr/>
          <p:nvPr/>
        </p:nvSpPr>
        <p:spPr>
          <a:xfrm>
            <a:off x="9362440" y="3251202"/>
            <a:ext cx="91694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33441"/>
                </a:solidFill>
                <a:latin typeface="DM Sans" pitchFamily="34" charset="0"/>
                <a:ea typeface="DM Sans" pitchFamily="34" charset="-122"/>
                <a:cs typeface="DM Sans" pitchFamily="34" charset="-120"/>
              </a:rPr>
              <a:t>9</a:t>
            </a:r>
            <a:endParaRPr lang="en-US" sz="1600" dirty="0"/>
          </a:p>
        </p:txBody>
      </p:sp>
      <p:sp>
        <p:nvSpPr>
          <p:cNvPr id="23" name="Shape 21"/>
          <p:cNvSpPr/>
          <p:nvPr/>
        </p:nvSpPr>
        <p:spPr>
          <a:xfrm>
            <a:off x="10397490" y="3044192"/>
            <a:ext cx="975360" cy="698500"/>
          </a:xfrm>
          <a:prstGeom prst="roundRect">
            <a:avLst>
              <a:gd name="adj" fmla="val 10000"/>
            </a:avLst>
          </a:prstGeom>
          <a:solidFill>
            <a:srgbClr val="FFF1E9"/>
          </a:solidFill>
          <a:ln w="12700">
            <a:solidFill>
              <a:srgbClr val="FF7932"/>
            </a:solidFill>
            <a:prstDash val="solid"/>
          </a:ln>
        </p:spPr>
      </p:sp>
      <p:sp>
        <p:nvSpPr>
          <p:cNvPr id="24" name="Text 22"/>
          <p:cNvSpPr/>
          <p:nvPr/>
        </p:nvSpPr>
        <p:spPr>
          <a:xfrm>
            <a:off x="10426700" y="3251202"/>
            <a:ext cx="91694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33441"/>
                </a:solidFill>
                <a:latin typeface="DM Sans" pitchFamily="34" charset="0"/>
                <a:ea typeface="DM Sans" pitchFamily="34" charset="-122"/>
                <a:cs typeface="DM Sans" pitchFamily="34" charset="-120"/>
              </a:rPr>
              <a:t>10</a:t>
            </a:r>
            <a:endParaRPr lang="en-US" sz="1600" dirty="0"/>
          </a:p>
        </p:txBody>
      </p:sp>
      <p:sp>
        <p:nvSpPr>
          <p:cNvPr id="25" name="Text 23"/>
          <p:cNvSpPr/>
          <p:nvPr/>
        </p:nvSpPr>
        <p:spPr>
          <a:xfrm>
            <a:off x="812800" y="3850642"/>
            <a:ext cx="324147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782"/>
                </a:solidFill>
                <a:latin typeface="DM Sans" pitchFamily="34" charset="0"/>
                <a:ea typeface="DM Sans" pitchFamily="34" charset="-122"/>
                <a:cs typeface="DM Sans" pitchFamily="34" charset="-120"/>
              </a:rPr>
              <a:t>Capítulos 1–3 · conservados</a:t>
            </a:r>
            <a:endParaRPr lang="en-US" sz="1200" dirty="0"/>
          </a:p>
        </p:txBody>
      </p:sp>
      <p:sp>
        <p:nvSpPr>
          <p:cNvPr id="26" name="Text 24"/>
          <p:cNvSpPr/>
          <p:nvPr/>
        </p:nvSpPr>
        <p:spPr>
          <a:xfrm>
            <a:off x="4036060" y="3850642"/>
            <a:ext cx="756343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7932"/>
                </a:solidFill>
                <a:latin typeface="DM Sans" pitchFamily="34" charset="0"/>
                <a:ea typeface="DM Sans" pitchFamily="34" charset="-122"/>
                <a:cs typeface="DM Sans" pitchFamily="34" charset="-120"/>
              </a:rPr>
              <a:t>Capítulos 4–10 · regenerados y validados</a:t>
            </a:r>
            <a:endParaRPr lang="en-US" sz="1200" dirty="0"/>
          </a:p>
        </p:txBody>
      </p:sp>
      <p:sp>
        <p:nvSpPr>
          <p:cNvPr id="27" name="Shape 25"/>
          <p:cNvSpPr/>
          <p:nvPr/>
        </p:nvSpPr>
        <p:spPr>
          <a:xfrm>
            <a:off x="812800" y="4886958"/>
            <a:ext cx="4927600" cy="955040"/>
          </a:xfrm>
          <a:prstGeom prst="roundRect">
            <a:avLst>
              <a:gd name="adj" fmla="val 10638"/>
            </a:avLst>
          </a:prstGeom>
          <a:solidFill>
            <a:srgbClr val="233441"/>
          </a:solidFill>
          <a:ln/>
        </p:spPr>
      </p:sp>
      <p:sp>
        <p:nvSpPr>
          <p:cNvPr id="28" name="Text 26"/>
          <p:cNvSpPr/>
          <p:nvPr/>
        </p:nvSpPr>
        <p:spPr>
          <a:xfrm>
            <a:off x="1066800" y="5090158"/>
            <a:ext cx="455218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BAA80"/>
                </a:solidFill>
                <a:latin typeface="DM Sans" pitchFamily="34" charset="0"/>
                <a:ea typeface="DM Sans" pitchFamily="34" charset="-122"/>
                <a:cs typeface="DM Sans" pitchFamily="34" charset="-120"/>
              </a:rPr>
              <a:t>VERSIÓN ANTERIOR</a:t>
            </a:r>
            <a:endParaRPr lang="en-US" sz="1200" dirty="0"/>
          </a:p>
        </p:txBody>
      </p:sp>
      <p:sp>
        <p:nvSpPr>
          <p:cNvPr id="29" name="Text 27"/>
          <p:cNvSpPr/>
          <p:nvPr/>
        </p:nvSpPr>
        <p:spPr>
          <a:xfrm>
            <a:off x="1066800" y="5354327"/>
            <a:ext cx="455218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Es la que ve el lector mientras tanto</a:t>
            </a:r>
            <a:endParaRPr lang="en-US" sz="1600" dirty="0"/>
          </a:p>
        </p:txBody>
      </p:sp>
      <p:pic>
        <p:nvPicPr>
          <p:cNvPr id="30" name="Image 0" descr="arrow-right">    </p:cNvPr>
          <p:cNvPicPr>
            <a:picLocks noChangeAspect="1"/>
          </p:cNvPicPr>
          <p:nvPr/>
        </p:nvPicPr>
        <p:blipFill>
          <a:blip r:embed="rId1"/>
          <a:srcRect l="0" r="0" t="0" b="0"/>
          <a:stretch/>
        </p:blipFill>
        <p:spPr>
          <a:xfrm>
            <a:off x="5892800" y="5262885"/>
            <a:ext cx="406400" cy="203200"/>
          </a:xfrm>
          <a:prstGeom prst="rect">
            <a:avLst/>
          </a:prstGeom>
        </p:spPr>
      </p:pic>
      <p:sp>
        <p:nvSpPr>
          <p:cNvPr id="31" name="Shape 28"/>
          <p:cNvSpPr/>
          <p:nvPr/>
        </p:nvSpPr>
        <p:spPr>
          <a:xfrm>
            <a:off x="6451600" y="4886958"/>
            <a:ext cx="4927600" cy="955040"/>
          </a:xfrm>
          <a:prstGeom prst="roundRect">
            <a:avLst>
              <a:gd name="adj" fmla="val 10638"/>
            </a:avLst>
          </a:prstGeom>
          <a:solidFill>
            <a:srgbClr val="F4F6F8"/>
          </a:solidFill>
          <a:ln/>
        </p:spPr>
      </p:sp>
      <p:sp>
        <p:nvSpPr>
          <p:cNvPr id="32" name="Text 29"/>
          <p:cNvSpPr/>
          <p:nvPr/>
        </p:nvSpPr>
        <p:spPr>
          <a:xfrm>
            <a:off x="6705600" y="5090158"/>
            <a:ext cx="455218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VERSIÓN NUEVA</a:t>
            </a:r>
            <a:endParaRPr lang="en-US" sz="1200" dirty="0"/>
          </a:p>
        </p:txBody>
      </p:sp>
      <p:sp>
        <p:nvSpPr>
          <p:cNvPr id="33" name="Text 30"/>
          <p:cNvSpPr/>
          <p:nvPr/>
        </p:nvSpPr>
        <p:spPr>
          <a:xfrm>
            <a:off x="6705600" y="5354327"/>
            <a:ext cx="455218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Solo se ve al publicarse, ya validada</a:t>
            </a:r>
            <a:endParaRPr lang="en-US" sz="1600" dirty="0"/>
          </a:p>
        </p:txBody>
      </p:sp>
      <p:sp>
        <p:nvSpPr>
          <p:cNvPr id="34" name="Text 31"/>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932"/>
                </a:solidFill>
                <a:latin typeface="DM Sans" pitchFamily="34" charset="0"/>
                <a:ea typeface="DM Sans" pitchFamily="34" charset="-122"/>
                <a:cs typeface="DM Sans" pitchFamily="34" charset="-120"/>
              </a:rPr>
              <a:t>08 · CIERRE</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75" kern="0" dirty="0">
                <a:solidFill>
                  <a:srgbClr val="233441"/>
                </a:solidFill>
                <a:latin typeface="DM Sans" pitchFamily="34" charset="0"/>
                <a:ea typeface="DM Sans" pitchFamily="34" charset="-122"/>
                <a:cs typeface="DM Sans" pitchFamily="34" charset="-120"/>
              </a:rPr>
              <a:t>Lo que declaramos y lo que proponemos</a:t>
            </a:r>
            <a:endParaRPr lang="en-US" sz="3200" dirty="0"/>
          </a:p>
        </p:txBody>
      </p:sp>
      <p:sp>
        <p:nvSpPr>
          <p:cNvPr id="4" name="Shape 2"/>
          <p:cNvSpPr/>
          <p:nvPr/>
        </p:nvSpPr>
        <p:spPr>
          <a:xfrm>
            <a:off x="812800" y="1930400"/>
            <a:ext cx="5181600" cy="3911600"/>
          </a:xfrm>
          <a:prstGeom prst="roundRect">
            <a:avLst>
              <a:gd name="adj" fmla="val 2597"/>
            </a:avLst>
          </a:prstGeom>
          <a:solidFill>
            <a:srgbClr val="F4F6F8"/>
          </a:solidFill>
          <a:ln/>
        </p:spPr>
      </p:sp>
      <p:sp>
        <p:nvSpPr>
          <p:cNvPr id="5" name="Shape 3"/>
          <p:cNvSpPr/>
          <p:nvPr/>
        </p:nvSpPr>
        <p:spPr>
          <a:xfrm>
            <a:off x="812800" y="1930400"/>
            <a:ext cx="5181600" cy="3911600"/>
          </a:xfrm>
          <a:custGeom>
            <a:avLst/>
            <a:gdLst/>
            <a:ahLst/>
            <a:cxnLst/>
            <a:rect l="l" t="t" r="r" b="b"/>
            <a:pathLst>
              <a:path w="5181600" h="3911600">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233441"/>
          </a:solidFill>
          <a:ln/>
        </p:spPr>
      </p:sp>
      <p:sp>
        <p:nvSpPr>
          <p:cNvPr id="6" name="Text 4"/>
          <p:cNvSpPr/>
          <p:nvPr/>
        </p:nvSpPr>
        <p:spPr>
          <a:xfrm>
            <a:off x="1117600" y="2270758"/>
            <a:ext cx="470916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LIMITACIONES DECLARADAS</a:t>
            </a:r>
            <a:endParaRPr lang="en-US" sz="1200" dirty="0"/>
          </a:p>
        </p:txBody>
      </p:sp>
      <p:sp>
        <p:nvSpPr>
          <p:cNvPr id="7" name="Text 5"/>
          <p:cNvSpPr/>
          <p:nvPr/>
        </p:nvSpPr>
        <p:spPr>
          <a:xfrm>
            <a:off x="1117600" y="2687327"/>
            <a:ext cx="4709160"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33441"/>
                </a:solidFill>
                <a:latin typeface="DM Sans" pitchFamily="34" charset="0"/>
                <a:ea typeface="DM Sans" pitchFamily="34" charset="-122"/>
                <a:cs typeface="DM Sans" pitchFamily="34" charset="-120"/>
              </a:rPr>
              <a:t>Una novela entregada no se puede regenerar</a:t>
            </a:r>
            <a:endParaRPr lang="en-US" sz="1600" dirty="0"/>
          </a:p>
        </p:txBody>
      </p:sp>
      <p:sp>
        <p:nvSpPr>
          <p:cNvPr id="8" name="Text 6"/>
          <p:cNvSpPr/>
          <p:nvPr/>
        </p:nvSpPr>
        <p:spPr>
          <a:xfrm>
            <a:off x="1117600" y="3027685"/>
            <a:ext cx="47091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La política de privacidad borra la ficha al entregar.</a:t>
            </a:r>
            <a:endParaRPr lang="en-US" sz="1200" dirty="0"/>
          </a:p>
        </p:txBody>
      </p:sp>
      <p:sp>
        <p:nvSpPr>
          <p:cNvPr id="9" name="Text 7"/>
          <p:cNvSpPr/>
          <p:nvPr/>
        </p:nvSpPr>
        <p:spPr>
          <a:xfrm>
            <a:off x="1117600" y="3444242"/>
            <a:ext cx="4709160"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33441"/>
                </a:solidFill>
                <a:latin typeface="DM Sans" pitchFamily="34" charset="0"/>
                <a:ea typeface="DM Sans" pitchFamily="34" charset="-122"/>
                <a:cs typeface="DM Sans" pitchFamily="34" charset="-120"/>
              </a:rPr>
              <a:t>El tuning no llegó a completarse</a:t>
            </a:r>
            <a:endParaRPr lang="en-US" sz="1600" dirty="0"/>
          </a:p>
        </p:txBody>
      </p:sp>
      <p:sp>
        <p:nvSpPr>
          <p:cNvPr id="10" name="Text 8"/>
          <p:cNvSpPr/>
          <p:nvPr/>
        </p:nvSpPr>
        <p:spPr>
          <a:xfrm>
            <a:off x="1117600" y="3784600"/>
            <a:ext cx="47091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645"/>
                </a:solidFill>
                <a:latin typeface="DM Sans" pitchFamily="34" charset="0"/>
                <a:ea typeface="DM Sans" pitchFamily="34" charset="-122"/>
                <a:cs typeface="DM Sans" pitchFamily="34" charset="-120"/>
              </a:rPr>
              <a:t>Es la primera tarea de la siguiente fase.</a:t>
            </a:r>
            <a:endParaRPr lang="en-US" sz="1200" dirty="0"/>
          </a:p>
        </p:txBody>
      </p:sp>
      <p:sp>
        <p:nvSpPr>
          <p:cNvPr id="11" name="Shape 9"/>
          <p:cNvSpPr/>
          <p:nvPr/>
        </p:nvSpPr>
        <p:spPr>
          <a:xfrm>
            <a:off x="6197600" y="1930400"/>
            <a:ext cx="5181600" cy="3911600"/>
          </a:xfrm>
          <a:prstGeom prst="roundRect">
            <a:avLst>
              <a:gd name="adj" fmla="val 2597"/>
            </a:avLst>
          </a:prstGeom>
          <a:solidFill>
            <a:srgbClr val="FFF1E9"/>
          </a:solidFill>
          <a:ln/>
        </p:spPr>
      </p:sp>
      <p:sp>
        <p:nvSpPr>
          <p:cNvPr id="12" name="Shape 10"/>
          <p:cNvSpPr/>
          <p:nvPr/>
        </p:nvSpPr>
        <p:spPr>
          <a:xfrm>
            <a:off x="6197600" y="1930400"/>
            <a:ext cx="5181600" cy="3911600"/>
          </a:xfrm>
          <a:custGeom>
            <a:avLst/>
            <a:gdLst/>
            <a:ahLst/>
            <a:cxnLst/>
            <a:rect l="l" t="t" r="r" b="b"/>
            <a:pathLst>
              <a:path w="5181600" h="3911600">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FF7932"/>
          </a:solidFill>
          <a:ln/>
        </p:spPr>
      </p:sp>
      <p:sp>
        <p:nvSpPr>
          <p:cNvPr id="13" name="Text 11"/>
          <p:cNvSpPr/>
          <p:nvPr/>
        </p:nvSpPr>
        <p:spPr>
          <a:xfrm>
            <a:off x="6502400" y="2270758"/>
            <a:ext cx="470916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7782"/>
                </a:solidFill>
                <a:latin typeface="DM Sans" pitchFamily="34" charset="0"/>
                <a:ea typeface="DM Sans" pitchFamily="34" charset="-122"/>
                <a:cs typeface="DM Sans" pitchFamily="34" charset="-120"/>
              </a:rPr>
              <a:t>SIGUIENTES PASOS</a:t>
            </a:r>
            <a:endParaRPr lang="en-US" sz="1200" dirty="0"/>
          </a:p>
        </p:txBody>
      </p:sp>
      <p:sp>
        <p:nvSpPr>
          <p:cNvPr id="14" name="Text 12"/>
          <p:cNvSpPr/>
          <p:nvPr/>
        </p:nvSpPr>
        <p:spPr>
          <a:xfrm>
            <a:off x="6502400" y="2687327"/>
            <a:ext cx="14327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1</a:t>
            </a:r>
            <a:endParaRPr lang="en-US" sz="2000" dirty="0"/>
          </a:p>
        </p:txBody>
      </p:sp>
      <p:sp>
        <p:nvSpPr>
          <p:cNvPr id="15" name="Text 13"/>
          <p:cNvSpPr/>
          <p:nvPr/>
        </p:nvSpPr>
        <p:spPr>
          <a:xfrm>
            <a:off x="6747272" y="2748285"/>
            <a:ext cx="2035894"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33441"/>
                </a:solidFill>
                <a:latin typeface="DM Sans" pitchFamily="34" charset="0"/>
                <a:ea typeface="DM Sans" pitchFamily="34" charset="-122"/>
                <a:cs typeface="DM Sans" pitchFamily="34" charset="-120"/>
              </a:rPr>
              <a:t>Completar el tuning</a:t>
            </a:r>
            <a:endParaRPr lang="en-US" sz="1600" dirty="0"/>
          </a:p>
        </p:txBody>
      </p:sp>
      <p:sp>
        <p:nvSpPr>
          <p:cNvPr id="16" name="Text 14"/>
          <p:cNvSpPr/>
          <p:nvPr/>
        </p:nvSpPr>
        <p:spPr>
          <a:xfrm>
            <a:off x="6502400" y="3246127"/>
            <a:ext cx="19740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2</a:t>
            </a:r>
            <a:endParaRPr lang="en-US" sz="2000" dirty="0"/>
          </a:p>
        </p:txBody>
      </p:sp>
      <p:sp>
        <p:nvSpPr>
          <p:cNvPr id="17" name="Text 15"/>
          <p:cNvSpPr/>
          <p:nvPr/>
        </p:nvSpPr>
        <p:spPr>
          <a:xfrm>
            <a:off x="6801406" y="3307085"/>
            <a:ext cx="2705151"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33441"/>
                </a:solidFill>
                <a:latin typeface="DM Sans" pitchFamily="34" charset="0"/>
                <a:ea typeface="DM Sans" pitchFamily="34" charset="-122"/>
                <a:cs typeface="DM Sans" pitchFamily="34" charset="-120"/>
              </a:rPr>
              <a:t>Piloto con 4 novelas reales</a:t>
            </a:r>
            <a:endParaRPr lang="en-US" sz="1600" dirty="0"/>
          </a:p>
        </p:txBody>
      </p:sp>
      <p:sp>
        <p:nvSpPr>
          <p:cNvPr id="18" name="Text 16"/>
          <p:cNvSpPr/>
          <p:nvPr/>
        </p:nvSpPr>
        <p:spPr>
          <a:xfrm>
            <a:off x="6502400" y="3804927"/>
            <a:ext cx="20399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7932"/>
                </a:solidFill>
                <a:latin typeface="DM Sans" pitchFamily="34" charset="0"/>
                <a:ea typeface="DM Sans" pitchFamily="34" charset="-122"/>
                <a:cs typeface="DM Sans" pitchFamily="34" charset="-120"/>
              </a:rPr>
              <a:t>3</a:t>
            </a:r>
            <a:endParaRPr lang="en-US" sz="2000" dirty="0"/>
          </a:p>
        </p:txBody>
      </p:sp>
      <p:sp>
        <p:nvSpPr>
          <p:cNvPr id="19" name="Text 17"/>
          <p:cNvSpPr/>
          <p:nvPr/>
        </p:nvSpPr>
        <p:spPr>
          <a:xfrm>
            <a:off x="6807994" y="3865885"/>
            <a:ext cx="3773296"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33441"/>
                </a:solidFill>
                <a:latin typeface="DM Sans" pitchFamily="34" charset="0"/>
                <a:ea typeface="DM Sans" pitchFamily="34" charset="-122"/>
                <a:cs typeface="DM Sans" pitchFamily="34" charset="-120"/>
              </a:rPr>
              <a:t>Cerrar precio y política de revisiones</a:t>
            </a:r>
            <a:endParaRPr lang="en-US" sz="1600" dirty="0"/>
          </a:p>
        </p:txBody>
      </p:sp>
      <p:sp>
        <p:nvSpPr>
          <p:cNvPr id="20" name="Text 18"/>
          <p:cNvSpPr/>
          <p:nvPr/>
        </p:nvSpPr>
        <p:spPr>
          <a:xfrm>
            <a:off x="654304" y="62382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6B7782"/>
                </a:solidFill>
                <a:latin typeface="DM Sans" pitchFamily="34" charset="0"/>
                <a:ea typeface="DM Sans" pitchFamily="34" charset="-122"/>
                <a:cs typeface="DM Sans" pitchFamily="34" charset="-120"/>
              </a:rPr>
              <a:t>© Qaracter group, all rights reserved 2026</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7932"/>
        </a:solidFill>
      </p:bgPr>
    </p:bg>
    <p:spTree>
      <p:nvGrpSpPr>
        <p:cNvPr id="1" name=""/>
        <p:cNvGrpSpPr/>
        <p:nvPr/>
      </p:nvGrpSpPr>
      <p:grpSpPr>
        <a:xfrm>
          <a:off x="0" y="0"/>
          <a:ext cx="0" cy="0"/>
          <a:chOff x="0" y="0"/>
          <a:chExt cx="0" cy="0"/>
        </a:xfrm>
      </p:grpSpPr>
      <p:sp>
        <p:nvSpPr>
          <p:cNvPr id="2" name="Shape 0"/>
          <p:cNvSpPr/>
          <p:nvPr/>
        </p:nvSpPr>
        <p:spPr>
          <a:xfrm>
            <a:off x="7343775" y="485775"/>
            <a:ext cx="5886450" cy="5886450"/>
          </a:xfrm>
          <a:prstGeom prst="roundRect">
            <a:avLst>
              <a:gd name="adj" fmla="val 27454"/>
            </a:avLst>
          </a:prstGeom>
          <a:noFill/>
          <a:ln w="19050">
            <a:solidFill>
              <a:srgbClr val="FBAA80"/>
            </a:solidFill>
            <a:prstDash val="solid"/>
          </a:ln>
        </p:spPr>
      </p:sp>
      <p:sp>
        <p:nvSpPr>
          <p:cNvPr id="3" name="Shape 1"/>
          <p:cNvSpPr/>
          <p:nvPr/>
        </p:nvSpPr>
        <p:spPr>
          <a:xfrm>
            <a:off x="8105775" y="1247775"/>
            <a:ext cx="4362450" cy="4362450"/>
          </a:xfrm>
          <a:prstGeom prst="roundRect">
            <a:avLst>
              <a:gd name="adj" fmla="val 37045"/>
            </a:avLst>
          </a:prstGeom>
          <a:noFill/>
          <a:ln w="19050">
            <a:solidFill>
              <a:srgbClr val="FBAA80"/>
            </a:solidFill>
            <a:prstDash val="solid"/>
          </a:ln>
        </p:spPr>
      </p:sp>
      <p:sp>
        <p:nvSpPr>
          <p:cNvPr id="4" name="Shape 2"/>
          <p:cNvSpPr/>
          <p:nvPr/>
        </p:nvSpPr>
        <p:spPr>
          <a:xfrm>
            <a:off x="8867775" y="2009775"/>
            <a:ext cx="2838450" cy="2838450"/>
          </a:xfrm>
          <a:prstGeom prst="roundRect">
            <a:avLst>
              <a:gd name="adj" fmla="val 50000"/>
            </a:avLst>
          </a:prstGeom>
          <a:noFill/>
          <a:ln w="19050">
            <a:solidFill>
              <a:srgbClr val="FBAA80"/>
            </a:solidFill>
            <a:prstDash val="solid"/>
          </a:ln>
        </p:spPr>
      </p:sp>
      <p:sp>
        <p:nvSpPr>
          <p:cNvPr id="5" name="Text 3"/>
          <p:cNvSpPr/>
          <p:nvPr/>
        </p:nvSpPr>
        <p:spPr>
          <a:xfrm>
            <a:off x="812800" y="2016758"/>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33441"/>
                </a:solidFill>
                <a:latin typeface="DM Sans" pitchFamily="34" charset="0"/>
                <a:ea typeface="DM Sans" pitchFamily="34" charset="-122"/>
                <a:cs typeface="DM Sans" pitchFamily="34" charset="-120"/>
              </a:rPr>
              <a:t>Qaracter</a:t>
            </a:r>
            <a:endParaRPr lang="en-US" sz="6000" dirty="0"/>
          </a:p>
        </p:txBody>
      </p:sp>
      <p:sp>
        <p:nvSpPr>
          <p:cNvPr id="6" name="Text 4"/>
          <p:cNvSpPr/>
          <p:nvPr/>
        </p:nvSpPr>
        <p:spPr>
          <a:xfrm>
            <a:off x="812800" y="29819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spc="-50" kern="0" dirty="0">
                <a:solidFill>
                  <a:srgbClr val="FFFFFF"/>
                </a:solidFill>
                <a:latin typeface="DM Sans" pitchFamily="34" charset="0"/>
                <a:ea typeface="DM Sans" pitchFamily="34" charset="-122"/>
                <a:cs typeface="DM Sans" pitchFamily="34" charset="-120"/>
              </a:rPr>
              <a:t>Beyond your challenge</a:t>
            </a:r>
            <a:endParaRPr lang="en-US" sz="3200" dirty="0"/>
          </a:p>
        </p:txBody>
      </p:sp>
      <p:sp>
        <p:nvSpPr>
          <p:cNvPr id="7" name="Text 5"/>
          <p:cNvSpPr/>
          <p:nvPr/>
        </p:nvSpPr>
        <p:spPr>
          <a:xfrm>
            <a:off x="812800" y="39370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3441"/>
                </a:solidFill>
                <a:latin typeface="DM Sans" pitchFamily="34" charset="0"/>
                <a:ea typeface="DM Sans" pitchFamily="34" charset="-122"/>
                <a:cs typeface="DM Sans" pitchFamily="34" charset="-120"/>
              </a:rPr>
              <a:t>Santiago Espinosa</a:t>
            </a:r>
            <a:endParaRPr lang="en-US" sz="1600" dirty="0"/>
          </a:p>
        </p:txBody>
      </p:sp>
      <p:sp>
        <p:nvSpPr>
          <p:cNvPr id="8" name="Text 6"/>
          <p:cNvSpPr/>
          <p:nvPr/>
        </p:nvSpPr>
        <p:spPr>
          <a:xfrm>
            <a:off x="812800" y="4272285"/>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santiago.espinosa@qaracter.com </a:t>
            </a:r>
            <a:endParaRPr lang="en-US" sz="1600" dirty="0"/>
          </a:p>
          <a:p>
            <a:pPr algn="l" indent="0" marL="0">
              <a:lnSpc>
                <a:spcPts val="2240"/>
              </a:lnSpc>
              <a:buNone/>
            </a:pPr>
            <a:r>
              <a:rPr lang="en-US" sz="1600" dirty="0">
                <a:solidFill>
                  <a:srgbClr val="233441"/>
                </a:solidFill>
                <a:latin typeface="DM Sans" pitchFamily="34" charset="0"/>
                <a:ea typeface="DM Sans" pitchFamily="34" charset="-122"/>
                <a:cs typeface="DM Sans" pitchFamily="34" charset="-120"/>
              </a:rPr>
              <a:t>5585707740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Novelas que se reconocen · Propuesta</dc:title>
  <dc:subject>PptxGenJS Presentation</dc:subject>
  <dc:creator>PptxGenJS</dc:creator>
  <cp:lastModifiedBy>PptxGenJS</cp:lastModifiedBy>
  <cp:revision>1</cp:revision>
  <dcterms:created xsi:type="dcterms:W3CDTF">2026-09-25T16:33:44Z</dcterms:created>
  <dcterms:modified xsi:type="dcterms:W3CDTF">2026-09-25T16:33:44Z</dcterms:modified>
</cp:coreProperties>
</file>